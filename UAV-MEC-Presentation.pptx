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14" d="100"/>
          <a:sy n="214" d="100"/>
        </p:scale>
        <p:origin x="91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7"/>
            <a:ext cx="36664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6384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53536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5988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6623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5988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535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D6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53536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5988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91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CCD6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535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84016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5752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53536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36664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6877" y="851489"/>
            <a:ext cx="5272405" cy="1202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79632" y="3151037"/>
            <a:ext cx="517537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-12700" y="3151037"/>
            <a:ext cx="1957082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08774" y="3151037"/>
            <a:ext cx="208217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slide" Target="slide1.xml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slide" Target="slide1.xml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slide" Target="slide1.xml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slide" Target="slide1.xml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slide" Target="slide1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slide" Target="slide1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slide" Target="slide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0.png"/><Relationship Id="rId7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slide" Target="slide1.xml"/><Relationship Id="rId4" Type="http://schemas.openxmlformats.org/officeDocument/2006/relationships/image" Target="../media/image31.png"/><Relationship Id="rId9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slide" Target="slide1.xml"/><Relationship Id="rId5" Type="http://schemas.openxmlformats.org/officeDocument/2006/relationships/image" Target="../media/image32.png"/><Relationship Id="rId10" Type="http://schemas.openxmlformats.org/officeDocument/2006/relationships/image" Target="../media/image15.png"/><Relationship Id="rId4" Type="http://schemas.openxmlformats.org/officeDocument/2006/relationships/image" Target="../media/image31.png"/><Relationship Id="rId9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slide" Target="slide1.xml"/><Relationship Id="rId5" Type="http://schemas.openxmlformats.org/officeDocument/2006/relationships/image" Target="../media/image32.png"/><Relationship Id="rId10" Type="http://schemas.openxmlformats.org/officeDocument/2006/relationships/image" Target="../media/image15.png"/><Relationship Id="rId4" Type="http://schemas.openxmlformats.org/officeDocument/2006/relationships/image" Target="../media/image31.png"/><Relationship Id="rId9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15.png"/><Relationship Id="rId4" Type="http://schemas.openxmlformats.org/officeDocument/2006/relationships/image" Target="../media/image31.png"/><Relationship Id="rId9" Type="http://schemas.openxmlformats.org/officeDocument/2006/relationships/image" Target="../media/image29.png"/><Relationship Id="rId14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4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slide" Target="slide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slide" Target="slide1.xml"/><Relationship Id="rId5" Type="http://schemas.openxmlformats.org/officeDocument/2006/relationships/image" Target="../media/image62.png"/><Relationship Id="rId10" Type="http://schemas.openxmlformats.org/officeDocument/2006/relationships/image" Target="../media/image15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0.png"/><Relationship Id="rId7" Type="http://schemas.openxmlformats.org/officeDocument/2006/relationships/image" Target="../media/image67.png"/><Relationship Id="rId12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15.png"/><Relationship Id="rId5" Type="http://schemas.openxmlformats.org/officeDocument/2006/relationships/image" Target="../media/image62.png"/><Relationship Id="rId10" Type="http://schemas.openxmlformats.org/officeDocument/2006/relationships/image" Target="../media/image69.png"/><Relationship Id="rId4" Type="http://schemas.openxmlformats.org/officeDocument/2006/relationships/image" Target="../media/image61.png"/><Relationship Id="rId9" Type="http://schemas.openxmlformats.org/officeDocument/2006/relationships/image" Target="../media/image6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12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15.png"/><Relationship Id="rId5" Type="http://schemas.openxmlformats.org/officeDocument/2006/relationships/image" Target="../media/image62.png"/><Relationship Id="rId10" Type="http://schemas.openxmlformats.org/officeDocument/2006/relationships/image" Target="../media/image72.png"/><Relationship Id="rId4" Type="http://schemas.openxmlformats.org/officeDocument/2006/relationships/image" Target="../media/image61.png"/><Relationship Id="rId9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7.png"/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12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6.png"/><Relationship Id="rId5" Type="http://schemas.openxmlformats.org/officeDocument/2006/relationships/image" Target="../media/image62.png"/><Relationship Id="rId15" Type="http://schemas.openxmlformats.org/officeDocument/2006/relationships/slide" Target="slide1.xml"/><Relationship Id="rId10" Type="http://schemas.openxmlformats.org/officeDocument/2006/relationships/image" Target="../media/image75.png"/><Relationship Id="rId4" Type="http://schemas.openxmlformats.org/officeDocument/2006/relationships/image" Target="../media/image61.png"/><Relationship Id="rId9" Type="http://schemas.openxmlformats.org/officeDocument/2006/relationships/image" Target="../media/image74.png"/><Relationship Id="rId14" Type="http://schemas.openxmlformats.org/officeDocument/2006/relationships/image" Target="../media/image1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81.png"/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12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29.png"/><Relationship Id="rId5" Type="http://schemas.openxmlformats.org/officeDocument/2006/relationships/image" Target="../media/image62.png"/><Relationship Id="rId15" Type="http://schemas.openxmlformats.org/officeDocument/2006/relationships/slide" Target="slide1.xml"/><Relationship Id="rId10" Type="http://schemas.openxmlformats.org/officeDocument/2006/relationships/image" Target="../media/image79.png"/><Relationship Id="rId4" Type="http://schemas.openxmlformats.org/officeDocument/2006/relationships/image" Target="../media/image61.png"/><Relationship Id="rId9" Type="http://schemas.openxmlformats.org/officeDocument/2006/relationships/image" Target="../media/image78.png"/><Relationship Id="rId14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slide" Target="slide1.xml"/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29.png"/><Relationship Id="rId5" Type="http://schemas.openxmlformats.org/officeDocument/2006/relationships/image" Target="../media/image62.png"/><Relationship Id="rId10" Type="http://schemas.openxmlformats.org/officeDocument/2006/relationships/image" Target="../media/image82.png"/><Relationship Id="rId4" Type="http://schemas.openxmlformats.org/officeDocument/2006/relationships/image" Target="../media/image61.png"/><Relationship Id="rId9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15.png"/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12" Type="http://schemas.openxmlformats.org/officeDocument/2006/relationships/image" Target="../media/image8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29.png"/><Relationship Id="rId5" Type="http://schemas.openxmlformats.org/officeDocument/2006/relationships/image" Target="../media/image62.png"/><Relationship Id="rId10" Type="http://schemas.openxmlformats.org/officeDocument/2006/relationships/image" Target="../media/image83.png"/><Relationship Id="rId4" Type="http://schemas.openxmlformats.org/officeDocument/2006/relationships/image" Target="../media/image61.png"/><Relationship Id="rId9" Type="http://schemas.openxmlformats.org/officeDocument/2006/relationships/image" Target="../media/image78.png"/><Relationship Id="rId14" Type="http://schemas.openxmlformats.org/officeDocument/2006/relationships/slide" Target="slide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8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slide" Target="slide1.xm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slide" Target="slide1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slide" Target="slide1.xml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slide" Target="slide1.xml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slide" Target="slide1.xm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slide" Target="slide1.xml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slide" Target="slide1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slide" Target="slide1.xml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slide" Target="slide1.xml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slide" Target="slide1.xml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slide" Target="slide1.xml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21" Type="http://schemas.openxmlformats.org/officeDocument/2006/relationships/slide" Target="slide1.xml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slide" Target="slide1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slide" Target="slide1.xml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slide" Target="slide1.xml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slide" Target="slide1.xml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slide" Target="slide1.xml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slide" Target="slide1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slide" Target="slide1.xml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slide" Target="slide1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slide" Target="slide1.xml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slide" Target="slide1.xml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slide" Target="slide1.xml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8" Type="http://schemas.openxmlformats.org/officeDocument/2006/relationships/image" Target="../media/image91.png"/></Relationships>
</file>

<file path=ppt/slides/_rels/slide9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34" Type="http://schemas.openxmlformats.org/officeDocument/2006/relationships/slide" Target="slide1.xml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8" Type="http://schemas.openxmlformats.org/officeDocument/2006/relationships/image" Target="../media/image9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19.png"/><Relationship Id="rId7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slide" Target="slide1.xml"/><Relationship Id="rId5" Type="http://schemas.openxmlformats.org/officeDocument/2006/relationships/image" Target="../media/image121.png"/><Relationship Id="rId10" Type="http://schemas.openxmlformats.org/officeDocument/2006/relationships/image" Target="../media/image118.png"/><Relationship Id="rId4" Type="http://schemas.openxmlformats.org/officeDocument/2006/relationships/image" Target="../media/image120.png"/><Relationship Id="rId9" Type="http://schemas.openxmlformats.org/officeDocument/2006/relationships/image" Target="../media/image47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124.png"/><Relationship Id="rId3" Type="http://schemas.openxmlformats.org/officeDocument/2006/relationships/image" Target="../media/image123.png"/><Relationship Id="rId7" Type="http://schemas.openxmlformats.org/officeDocument/2006/relationships/image" Target="../media/image46.png"/><Relationship Id="rId12" Type="http://schemas.openxmlformats.org/officeDocument/2006/relationships/image" Target="../media/image1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1.png"/><Relationship Id="rId5" Type="http://schemas.openxmlformats.org/officeDocument/2006/relationships/image" Target="../media/image119.png"/><Relationship Id="rId10" Type="http://schemas.openxmlformats.org/officeDocument/2006/relationships/image" Target="../media/image120.png"/><Relationship Id="rId4" Type="http://schemas.openxmlformats.org/officeDocument/2006/relationships/image" Target="../media/image1.png"/><Relationship Id="rId9" Type="http://schemas.openxmlformats.org/officeDocument/2006/relationships/image" Target="../media/image118.png"/><Relationship Id="rId14" Type="http://schemas.openxmlformats.org/officeDocument/2006/relationships/slide" Target="slide1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9" Type="http://schemas.openxmlformats.org/officeDocument/2006/relationships/slide" Target="slide1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4.png"/><Relationship Id="rId3" Type="http://schemas.openxmlformats.org/officeDocument/2006/relationships/image" Target="../media/image131.png"/><Relationship Id="rId7" Type="http://schemas.openxmlformats.org/officeDocument/2006/relationships/image" Target="../media/image127.png"/><Relationship Id="rId12" Type="http://schemas.openxmlformats.org/officeDocument/2006/relationships/image" Target="../media/image1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2.png"/><Relationship Id="rId5" Type="http://schemas.openxmlformats.org/officeDocument/2006/relationships/image" Target="../media/image125.png"/><Relationship Id="rId15" Type="http://schemas.openxmlformats.org/officeDocument/2006/relationships/slide" Target="slide1.xml"/><Relationship Id="rId10" Type="http://schemas.openxmlformats.org/officeDocument/2006/relationships/image" Target="../media/image130.png"/><Relationship Id="rId4" Type="http://schemas.openxmlformats.org/officeDocument/2006/relationships/image" Target="../media/image1.png"/><Relationship Id="rId9" Type="http://schemas.openxmlformats.org/officeDocument/2006/relationships/image" Target="../media/image129.png"/><Relationship Id="rId14" Type="http://schemas.openxmlformats.org/officeDocument/2006/relationships/image" Target="../media/image135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60.png"/><Relationship Id="rId7" Type="http://schemas.openxmlformats.org/officeDocument/2006/relationships/image" Target="../media/image1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6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3" Type="http://schemas.openxmlformats.org/officeDocument/2006/relationships/image" Target="../media/image60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61.png"/><Relationship Id="rId9" Type="http://schemas.openxmlformats.org/officeDocument/2006/relationships/image" Target="../media/image140.png"/><Relationship Id="rId14" Type="http://schemas.openxmlformats.org/officeDocument/2006/relationships/slide" Target="slide1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3" Type="http://schemas.openxmlformats.org/officeDocument/2006/relationships/image" Target="../media/image60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slide" Target="slide1.xml"/><Relationship Id="rId2" Type="http://schemas.openxmlformats.org/officeDocument/2006/relationships/image" Target="../media/image7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4" Type="http://schemas.openxmlformats.org/officeDocument/2006/relationships/image" Target="../media/image61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18" Type="http://schemas.openxmlformats.org/officeDocument/2006/relationships/image" Target="../media/image164.png"/><Relationship Id="rId3" Type="http://schemas.openxmlformats.org/officeDocument/2006/relationships/image" Target="../media/image149.png"/><Relationship Id="rId21" Type="http://schemas.openxmlformats.org/officeDocument/2006/relationships/slide" Target="slide1.xml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" Type="http://schemas.openxmlformats.org/officeDocument/2006/relationships/image" Target="../media/image148.png"/><Relationship Id="rId16" Type="http://schemas.openxmlformats.org/officeDocument/2006/relationships/image" Target="../media/image162.png"/><Relationship Id="rId20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5" Type="http://schemas.openxmlformats.org/officeDocument/2006/relationships/image" Target="../media/image161.png"/><Relationship Id="rId10" Type="http://schemas.openxmlformats.org/officeDocument/2006/relationships/image" Target="../media/image156.png"/><Relationship Id="rId19" Type="http://schemas.openxmlformats.org/officeDocument/2006/relationships/image" Target="../media/image165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6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71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77.png"/><Relationship Id="rId7" Type="http://schemas.openxmlformats.org/officeDocument/2006/relationships/image" Target="../media/image172.png"/><Relationship Id="rId12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176.png"/><Relationship Id="rId5" Type="http://schemas.openxmlformats.org/officeDocument/2006/relationships/image" Target="../media/image179.png"/><Relationship Id="rId10" Type="http://schemas.openxmlformats.org/officeDocument/2006/relationships/image" Target="../media/image175.png"/><Relationship Id="rId4" Type="http://schemas.openxmlformats.org/officeDocument/2006/relationships/image" Target="../media/image178.png"/><Relationship Id="rId9" Type="http://schemas.openxmlformats.org/officeDocument/2006/relationships/image" Target="../media/image174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81.png"/><Relationship Id="rId3" Type="http://schemas.openxmlformats.org/officeDocument/2006/relationships/image" Target="../media/image177.png"/><Relationship Id="rId7" Type="http://schemas.openxmlformats.org/officeDocument/2006/relationships/image" Target="../media/image172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176.png"/><Relationship Id="rId5" Type="http://schemas.openxmlformats.org/officeDocument/2006/relationships/image" Target="../media/image179.png"/><Relationship Id="rId10" Type="http://schemas.openxmlformats.org/officeDocument/2006/relationships/image" Target="../media/image175.png"/><Relationship Id="rId4" Type="http://schemas.openxmlformats.org/officeDocument/2006/relationships/image" Target="../media/image178.png"/><Relationship Id="rId9" Type="http://schemas.openxmlformats.org/officeDocument/2006/relationships/image" Target="../media/image174.png"/><Relationship Id="rId14" Type="http://schemas.openxmlformats.org/officeDocument/2006/relationships/slide" Target="slide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4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7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4.png"/><Relationship Id="rId7" Type="http://schemas.openxmlformats.org/officeDocument/2006/relationships/image" Target="../media/image198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10" Type="http://schemas.openxmlformats.org/officeDocument/2006/relationships/slide" Target="slide1.xml"/><Relationship Id="rId4" Type="http://schemas.openxmlformats.org/officeDocument/2006/relationships/image" Target="../media/image195.png"/><Relationship Id="rId9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729" y="259244"/>
            <a:ext cx="5659755" cy="942975"/>
            <a:chOff x="75729" y="259244"/>
            <a:chExt cx="5659755" cy="942975"/>
          </a:xfrm>
        </p:grpSpPr>
        <p:sp>
          <p:nvSpPr>
            <p:cNvPr id="3" name="object 3"/>
            <p:cNvSpPr/>
            <p:nvPr/>
          </p:nvSpPr>
          <p:spPr>
            <a:xfrm>
              <a:off x="75729" y="259244"/>
              <a:ext cx="5608955" cy="82550"/>
            </a:xfrm>
            <a:custGeom>
              <a:avLst/>
              <a:gdLst/>
              <a:ahLst/>
              <a:cxnLst/>
              <a:rect l="l" t="t" r="r" b="b"/>
              <a:pathLst>
                <a:path w="5608955" h="82550">
                  <a:moveTo>
                    <a:pt x="555781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608620" y="82384"/>
                  </a:lnTo>
                  <a:lnTo>
                    <a:pt x="5608620" y="50800"/>
                  </a:lnTo>
                  <a:lnTo>
                    <a:pt x="5604611" y="31075"/>
                  </a:lnTo>
                  <a:lnTo>
                    <a:pt x="5593697" y="14922"/>
                  </a:lnTo>
                  <a:lnTo>
                    <a:pt x="5577544" y="4008"/>
                  </a:lnTo>
                  <a:lnTo>
                    <a:pt x="5557819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530" y="322503"/>
              <a:ext cx="5608955" cy="879475"/>
            </a:xfrm>
            <a:custGeom>
              <a:avLst/>
              <a:gdLst/>
              <a:ahLst/>
              <a:cxnLst/>
              <a:rect l="l" t="t" r="r" b="b"/>
              <a:pathLst>
                <a:path w="5608955" h="879475">
                  <a:moveTo>
                    <a:pt x="5608620" y="0"/>
                  </a:moveTo>
                  <a:lnTo>
                    <a:pt x="0" y="0"/>
                  </a:lnTo>
                  <a:lnTo>
                    <a:pt x="0" y="879450"/>
                  </a:lnTo>
                  <a:lnTo>
                    <a:pt x="5608620" y="87945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9" y="303667"/>
              <a:ext cx="5608955" cy="847725"/>
            </a:xfrm>
            <a:custGeom>
              <a:avLst/>
              <a:gdLst/>
              <a:ahLst/>
              <a:cxnLst/>
              <a:rect l="l" t="t" r="r" b="b"/>
              <a:pathLst>
                <a:path w="5608955" h="847725">
                  <a:moveTo>
                    <a:pt x="5608620" y="0"/>
                  </a:moveTo>
                  <a:lnTo>
                    <a:pt x="0" y="0"/>
                  </a:lnTo>
                  <a:lnTo>
                    <a:pt x="0" y="796686"/>
                  </a:lnTo>
                  <a:lnTo>
                    <a:pt x="4008" y="816410"/>
                  </a:lnTo>
                  <a:lnTo>
                    <a:pt x="14922" y="832563"/>
                  </a:lnTo>
                  <a:lnTo>
                    <a:pt x="31075" y="843478"/>
                  </a:lnTo>
                  <a:lnTo>
                    <a:pt x="50800" y="847486"/>
                  </a:lnTo>
                  <a:lnTo>
                    <a:pt x="5557819" y="847486"/>
                  </a:lnTo>
                  <a:lnTo>
                    <a:pt x="5577544" y="843478"/>
                  </a:lnTo>
                  <a:lnTo>
                    <a:pt x="5593697" y="832563"/>
                  </a:lnTo>
                  <a:lnTo>
                    <a:pt x="5604611" y="816410"/>
                  </a:lnTo>
                  <a:lnTo>
                    <a:pt x="5608620" y="79668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2127" y="361820"/>
            <a:ext cx="5135245" cy="65722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6700"/>
              </a:lnSpc>
              <a:spcBef>
                <a:spcPts val="20"/>
              </a:spcBef>
            </a:pPr>
            <a:r>
              <a:rPr dirty="0"/>
              <a:t>UAV-</a:t>
            </a:r>
            <a:r>
              <a:rPr spc="-35" dirty="0"/>
              <a:t>Assisted </a:t>
            </a:r>
            <a:r>
              <a:rPr spc="75" dirty="0"/>
              <a:t>MEC</a:t>
            </a:r>
            <a:r>
              <a:rPr spc="-40" dirty="0"/>
              <a:t> </a:t>
            </a:r>
            <a:r>
              <a:rPr spc="-20" dirty="0"/>
              <a:t>Architecture</a:t>
            </a:r>
            <a:r>
              <a:rPr spc="-35" dirty="0"/>
              <a:t> </a:t>
            </a:r>
            <a:r>
              <a:rPr spc="-10" dirty="0"/>
              <a:t>for</a:t>
            </a:r>
            <a:r>
              <a:rPr spc="-35" dirty="0"/>
              <a:t> </a:t>
            </a:r>
            <a:r>
              <a:rPr spc="-30" dirty="0"/>
              <a:t>Collaborative</a:t>
            </a:r>
            <a:r>
              <a:rPr spc="-35" dirty="0"/>
              <a:t> </a:t>
            </a:r>
            <a:r>
              <a:rPr spc="-10" dirty="0"/>
              <a:t>Task</a:t>
            </a:r>
            <a:r>
              <a:rPr spc="-35" dirty="0"/>
              <a:t> </a:t>
            </a:r>
            <a:r>
              <a:rPr spc="-30" dirty="0"/>
              <a:t>Offloading</a:t>
            </a:r>
            <a:r>
              <a:rPr spc="-35" dirty="0"/>
              <a:t> </a:t>
            </a:r>
            <a:r>
              <a:rPr spc="-25" dirty="0"/>
              <a:t>in </a:t>
            </a:r>
            <a:r>
              <a:rPr spc="-20" dirty="0"/>
              <a:t>Urban</a:t>
            </a:r>
            <a:r>
              <a:rPr spc="-45" dirty="0"/>
              <a:t> </a:t>
            </a:r>
            <a:r>
              <a:rPr dirty="0"/>
              <a:t>IoT</a:t>
            </a:r>
            <a:r>
              <a:rPr spc="-45" dirty="0"/>
              <a:t> </a:t>
            </a:r>
            <a:r>
              <a:rPr spc="-10" dirty="0"/>
              <a:t>Environment</a:t>
            </a:r>
          </a:p>
          <a:p>
            <a:pPr marL="635" algn="ctr">
              <a:lnSpc>
                <a:spcPct val="100000"/>
              </a:lnSpc>
              <a:spcBef>
                <a:spcPts val="265"/>
              </a:spcBef>
            </a:pPr>
            <a:r>
              <a:rPr sz="1000" spc="-10" dirty="0"/>
              <a:t>Maximizing</a:t>
            </a:r>
            <a:r>
              <a:rPr sz="1000" spc="-30" dirty="0"/>
              <a:t> </a:t>
            </a:r>
            <a:r>
              <a:rPr sz="1000" spc="-25" dirty="0"/>
              <a:t>User</a:t>
            </a:r>
            <a:r>
              <a:rPr sz="1000" spc="-20" dirty="0"/>
              <a:t> Satisfaction</a:t>
            </a:r>
            <a:r>
              <a:rPr sz="1000" spc="-25" dirty="0"/>
              <a:t> and</a:t>
            </a:r>
            <a:r>
              <a:rPr sz="1000" spc="-20" dirty="0"/>
              <a:t> </a:t>
            </a:r>
            <a:r>
              <a:rPr sz="1000" spc="-30" dirty="0"/>
              <a:t>Service</a:t>
            </a:r>
            <a:r>
              <a:rPr sz="1000" spc="-25" dirty="0"/>
              <a:t> </a:t>
            </a:r>
            <a:r>
              <a:rPr sz="1000" spc="-20" dirty="0"/>
              <a:t>Provider </a:t>
            </a:r>
            <a:r>
              <a:rPr sz="1000" spc="-10" dirty="0"/>
              <a:t>Profit</a:t>
            </a: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1771014" y="1352885"/>
            <a:ext cx="2249805" cy="90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3495" algn="ctr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Subhrajit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Barick</a:t>
            </a:r>
            <a:r>
              <a:rPr sz="1000" spc="-25" dirty="0">
                <a:latin typeface="Tahoma"/>
                <a:cs typeface="Tahoma"/>
              </a:rPr>
              <a:t> and Chetna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Singhal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000" dirty="0">
              <a:latin typeface="Tahoma"/>
              <a:cs typeface="Tahoma"/>
            </a:endParaRPr>
          </a:p>
          <a:p>
            <a:pPr marL="12700" marR="5080" algn="ctr">
              <a:lnSpc>
                <a:spcPts val="800"/>
              </a:lnSpc>
            </a:pPr>
            <a:r>
              <a:rPr sz="700" dirty="0">
                <a:latin typeface="Tahoma"/>
                <a:cs typeface="Tahoma"/>
              </a:rPr>
              <a:t>IEEE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Transactions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on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Network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Service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Management </a:t>
            </a:r>
            <a:r>
              <a:rPr sz="700" dirty="0">
                <a:latin typeface="Tahoma"/>
                <a:cs typeface="Tahoma"/>
              </a:rPr>
              <a:t>Vol.</a:t>
            </a:r>
            <a:r>
              <a:rPr sz="700" spc="10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22,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No.</a:t>
            </a:r>
            <a:r>
              <a:rPr sz="700" spc="10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1,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February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spc="-20" dirty="0">
                <a:latin typeface="Tahoma"/>
                <a:cs typeface="Tahoma"/>
              </a:rPr>
              <a:t>2025</a:t>
            </a:r>
            <a:endParaRPr sz="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700" dirty="0">
              <a:latin typeface="Tahoma"/>
              <a:cs typeface="Tahoma"/>
            </a:endParaRPr>
          </a:p>
          <a:p>
            <a:pPr marR="22860" algn="ctr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latin typeface="Tahoma"/>
                <a:cs typeface="Tahoma"/>
              </a:rPr>
              <a:t>October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30,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2025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18204" y="2405878"/>
            <a:ext cx="723900" cy="543560"/>
            <a:chOff x="2518204" y="2405878"/>
            <a:chExt cx="723900" cy="543560"/>
          </a:xfrm>
        </p:grpSpPr>
        <p:sp>
          <p:nvSpPr>
            <p:cNvPr id="9" name="object 9"/>
            <p:cNvSpPr/>
            <p:nvPr/>
          </p:nvSpPr>
          <p:spPr>
            <a:xfrm>
              <a:off x="2519997" y="2407671"/>
              <a:ext cx="720090" cy="540385"/>
            </a:xfrm>
            <a:custGeom>
              <a:avLst/>
              <a:gdLst/>
              <a:ahLst/>
              <a:cxnLst/>
              <a:rect l="l" t="t" r="r" b="b"/>
              <a:pathLst>
                <a:path w="720089" h="540385">
                  <a:moveTo>
                    <a:pt x="0" y="539960"/>
                  </a:moveTo>
                  <a:lnTo>
                    <a:pt x="0" y="0"/>
                  </a:lnTo>
                  <a:lnTo>
                    <a:pt x="719946" y="0"/>
                  </a:lnTo>
                  <a:lnTo>
                    <a:pt x="719946" y="539960"/>
                  </a:lnTo>
                  <a:lnTo>
                    <a:pt x="0" y="53996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19997" y="2407671"/>
              <a:ext cx="720090" cy="540385"/>
            </a:xfrm>
            <a:custGeom>
              <a:avLst/>
              <a:gdLst/>
              <a:ahLst/>
              <a:cxnLst/>
              <a:rect l="l" t="t" r="r" b="b"/>
              <a:pathLst>
                <a:path w="720089" h="540385">
                  <a:moveTo>
                    <a:pt x="0" y="539960"/>
                  </a:moveTo>
                  <a:lnTo>
                    <a:pt x="719946" y="0"/>
                  </a:lnTo>
                </a:path>
                <a:path w="720089" h="540385">
                  <a:moveTo>
                    <a:pt x="719946" y="539960"/>
                  </a:moveTo>
                  <a:lnTo>
                    <a:pt x="0" y="0"/>
                  </a:lnTo>
                </a:path>
                <a:path w="720089" h="540385">
                  <a:moveTo>
                    <a:pt x="359973" y="539960"/>
                  </a:moveTo>
                  <a:lnTo>
                    <a:pt x="359973" y="0"/>
                  </a:lnTo>
                </a:path>
                <a:path w="720089" h="540385">
                  <a:moveTo>
                    <a:pt x="0" y="269980"/>
                  </a:moveTo>
                  <a:lnTo>
                    <a:pt x="719946" y="26998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9997" y="2407671"/>
              <a:ext cx="720090" cy="540385"/>
            </a:xfrm>
            <a:custGeom>
              <a:avLst/>
              <a:gdLst/>
              <a:ahLst/>
              <a:cxnLst/>
              <a:rect l="l" t="t" r="r" b="b"/>
              <a:pathLst>
                <a:path w="720089" h="540385">
                  <a:moveTo>
                    <a:pt x="0" y="539960"/>
                  </a:moveTo>
                  <a:lnTo>
                    <a:pt x="0" y="0"/>
                  </a:lnTo>
                  <a:lnTo>
                    <a:pt x="719946" y="0"/>
                  </a:lnTo>
                  <a:lnTo>
                    <a:pt x="719946" y="539960"/>
                  </a:lnTo>
                  <a:lnTo>
                    <a:pt x="0" y="539960"/>
                  </a:lnTo>
                  <a:close/>
                </a:path>
              </a:pathLst>
            </a:custGeom>
            <a:ln w="3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54870" y="2431823"/>
            <a:ext cx="25082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-50" dirty="0"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10533" y="318053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30916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08719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26140" y="3167693"/>
            <a:ext cx="203200" cy="55880"/>
            <a:chOff x="4326140" y="3167693"/>
            <a:chExt cx="203200" cy="55880"/>
          </a:xfrm>
        </p:grpSpPr>
        <p:sp>
          <p:nvSpPr>
            <p:cNvPr id="17" name="object 17"/>
            <p:cNvSpPr/>
            <p:nvPr/>
          </p:nvSpPr>
          <p:spPr>
            <a:xfrm>
              <a:off x="4389309" y="317022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26140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621365" y="3166428"/>
            <a:ext cx="203200" cy="58419"/>
            <a:chOff x="4621365" y="3166428"/>
            <a:chExt cx="203200" cy="58419"/>
          </a:xfrm>
        </p:grpSpPr>
        <p:sp>
          <p:nvSpPr>
            <p:cNvPr id="20" name="object 20"/>
            <p:cNvSpPr/>
            <p:nvPr/>
          </p:nvSpPr>
          <p:spPr>
            <a:xfrm>
              <a:off x="4710266" y="3182924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21365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97566" y="3170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CCD6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916589" y="3166428"/>
            <a:ext cx="203200" cy="58419"/>
            <a:chOff x="4916589" y="3166428"/>
            <a:chExt cx="203200" cy="58419"/>
          </a:xfrm>
        </p:grpSpPr>
        <p:sp>
          <p:nvSpPr>
            <p:cNvPr id="24" name="object 24"/>
            <p:cNvSpPr/>
            <p:nvPr/>
          </p:nvSpPr>
          <p:spPr>
            <a:xfrm>
              <a:off x="4992790" y="317022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16589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2790" y="320832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CCD6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5288014" y="31702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5489266" y="3167693"/>
            <a:ext cx="238760" cy="57150"/>
            <a:chOff x="5489266" y="3167693"/>
            <a:chExt cx="238760" cy="57150"/>
          </a:xfrm>
        </p:grpSpPr>
        <p:sp>
          <p:nvSpPr>
            <p:cNvPr id="29" name="object 29"/>
            <p:cNvSpPr/>
            <p:nvPr/>
          </p:nvSpPr>
          <p:spPr>
            <a:xfrm>
              <a:off x="5613718" y="320070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86654" y="31742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91797" y="317022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" name="object 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2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5111" y="676009"/>
            <a:ext cx="5659755" cy="1431290"/>
            <a:chOff x="75729" y="704470"/>
            <a:chExt cx="5659755" cy="1431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3325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04470"/>
              <a:ext cx="5608955" cy="1431290"/>
            </a:xfrm>
            <a:custGeom>
              <a:avLst/>
              <a:gdLst/>
              <a:ahLst/>
              <a:cxnLst/>
              <a:rect l="l" t="t" r="r" b="b"/>
              <a:pathLst>
                <a:path w="5608955" h="1431289">
                  <a:moveTo>
                    <a:pt x="5608620" y="0"/>
                  </a:moveTo>
                  <a:lnTo>
                    <a:pt x="0" y="0"/>
                  </a:lnTo>
                  <a:lnTo>
                    <a:pt x="0" y="1430933"/>
                  </a:lnTo>
                  <a:lnTo>
                    <a:pt x="5608620" y="143093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77533"/>
              <a:ext cx="5608955" cy="1207135"/>
            </a:xfrm>
            <a:custGeom>
              <a:avLst/>
              <a:gdLst/>
              <a:ahLst/>
              <a:cxnLst/>
              <a:rect l="l" t="t" r="r" b="b"/>
              <a:pathLst>
                <a:path w="5608955" h="1207135">
                  <a:moveTo>
                    <a:pt x="5608620" y="0"/>
                  </a:moveTo>
                  <a:lnTo>
                    <a:pt x="0" y="0"/>
                  </a:lnTo>
                  <a:lnTo>
                    <a:pt x="0" y="1156270"/>
                  </a:lnTo>
                  <a:lnTo>
                    <a:pt x="4008" y="1175994"/>
                  </a:lnTo>
                  <a:lnTo>
                    <a:pt x="14922" y="1192147"/>
                  </a:lnTo>
                  <a:lnTo>
                    <a:pt x="31075" y="1203062"/>
                  </a:lnTo>
                  <a:lnTo>
                    <a:pt x="50800" y="1207070"/>
                  </a:lnTo>
                  <a:lnTo>
                    <a:pt x="5557819" y="1207070"/>
                  </a:lnTo>
                  <a:lnTo>
                    <a:pt x="5577544" y="1203062"/>
                  </a:lnTo>
                  <a:lnTo>
                    <a:pt x="5593697" y="1192147"/>
                  </a:lnTo>
                  <a:lnTo>
                    <a:pt x="5604611" y="1175994"/>
                  </a:lnTo>
                  <a:lnTo>
                    <a:pt x="5608620" y="115627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928585"/>
              <a:ext cx="59601" cy="596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20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65911" y="62406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75995"/>
            <a:ext cx="869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668" y="854543"/>
            <a:ext cx="5608955" cy="143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52729" marR="747395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Maximize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User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Satisfaction: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devices </a:t>
            </a:r>
            <a:r>
              <a:rPr sz="1000" spc="-35" dirty="0">
                <a:latin typeface="Tahoma"/>
                <a:cs typeface="Tahoma"/>
              </a:rPr>
              <a:t>meet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strict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latency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for </a:t>
            </a:r>
            <a:r>
              <a:rPr sz="1000" spc="-40" dirty="0">
                <a:latin typeface="Tahoma"/>
                <a:cs typeface="Tahoma"/>
              </a:rPr>
              <a:t>computation-</a:t>
            </a:r>
            <a:r>
              <a:rPr sz="1000" spc="-30" dirty="0">
                <a:latin typeface="Tahoma"/>
                <a:cs typeface="Tahoma"/>
              </a:rPr>
              <a:t>intensive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tasks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20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4754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75995"/>
            <a:ext cx="869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29" y="842365"/>
            <a:ext cx="5659755" cy="1431290"/>
            <a:chOff x="75729" y="704470"/>
            <a:chExt cx="5659755" cy="1431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3325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04470"/>
              <a:ext cx="5608955" cy="1431290"/>
            </a:xfrm>
            <a:custGeom>
              <a:avLst/>
              <a:gdLst/>
              <a:ahLst/>
              <a:cxnLst/>
              <a:rect l="l" t="t" r="r" b="b"/>
              <a:pathLst>
                <a:path w="5608955" h="1431289">
                  <a:moveTo>
                    <a:pt x="5608620" y="0"/>
                  </a:moveTo>
                  <a:lnTo>
                    <a:pt x="0" y="0"/>
                  </a:lnTo>
                  <a:lnTo>
                    <a:pt x="0" y="1430933"/>
                  </a:lnTo>
                  <a:lnTo>
                    <a:pt x="5608620" y="143093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77533"/>
              <a:ext cx="5608955" cy="1207135"/>
            </a:xfrm>
            <a:custGeom>
              <a:avLst/>
              <a:gdLst/>
              <a:ahLst/>
              <a:cxnLst/>
              <a:rect l="l" t="t" r="r" b="b"/>
              <a:pathLst>
                <a:path w="5608955" h="1207135">
                  <a:moveTo>
                    <a:pt x="5608620" y="0"/>
                  </a:moveTo>
                  <a:lnTo>
                    <a:pt x="0" y="0"/>
                  </a:lnTo>
                  <a:lnTo>
                    <a:pt x="0" y="1156270"/>
                  </a:lnTo>
                  <a:lnTo>
                    <a:pt x="4008" y="1175994"/>
                  </a:lnTo>
                  <a:lnTo>
                    <a:pt x="14922" y="1192147"/>
                  </a:lnTo>
                  <a:lnTo>
                    <a:pt x="31075" y="1203062"/>
                  </a:lnTo>
                  <a:lnTo>
                    <a:pt x="50800" y="1207070"/>
                  </a:lnTo>
                  <a:lnTo>
                    <a:pt x="5557819" y="1207070"/>
                  </a:lnTo>
                  <a:lnTo>
                    <a:pt x="5577544" y="1203062"/>
                  </a:lnTo>
                  <a:lnTo>
                    <a:pt x="5593697" y="1192147"/>
                  </a:lnTo>
                  <a:lnTo>
                    <a:pt x="5604611" y="1175994"/>
                  </a:lnTo>
                  <a:lnTo>
                    <a:pt x="5608620" y="115627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928585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270203"/>
              <a:ext cx="59601" cy="5960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5395" y="855065"/>
            <a:ext cx="5608955" cy="143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52729" marR="747395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Maximize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User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Satisfaction: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devices </a:t>
            </a:r>
            <a:r>
              <a:rPr sz="1000" spc="-35" dirty="0">
                <a:latin typeface="Tahoma"/>
                <a:cs typeface="Tahoma"/>
              </a:rPr>
              <a:t>meet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strict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latency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for </a:t>
            </a:r>
            <a:r>
              <a:rPr sz="1000" spc="-40" dirty="0">
                <a:latin typeface="Tahoma"/>
                <a:cs typeface="Tahoma"/>
              </a:rPr>
              <a:t>computation-</a:t>
            </a:r>
            <a:r>
              <a:rPr sz="1000" spc="-30" dirty="0">
                <a:latin typeface="Tahoma"/>
                <a:cs typeface="Tahoma"/>
              </a:rPr>
              <a:t>intensive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tasks</a:t>
            </a:r>
            <a:endParaRPr sz="1000" dirty="0">
              <a:latin typeface="Tahoma"/>
              <a:cs typeface="Tahoma"/>
            </a:endParaRPr>
          </a:p>
          <a:p>
            <a:pPr marL="252729" marR="153035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Maximize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Service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Provider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(SP)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Profit:</a:t>
            </a:r>
            <a:r>
              <a:rPr sz="1000" b="1" spc="10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Balance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revenue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offloading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operational costs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20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4754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75995"/>
            <a:ext cx="869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29" y="858113"/>
            <a:ext cx="5659755" cy="1431290"/>
            <a:chOff x="75729" y="704470"/>
            <a:chExt cx="5659755" cy="1431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3325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04470"/>
              <a:ext cx="5608955" cy="1431290"/>
            </a:xfrm>
            <a:custGeom>
              <a:avLst/>
              <a:gdLst/>
              <a:ahLst/>
              <a:cxnLst/>
              <a:rect l="l" t="t" r="r" b="b"/>
              <a:pathLst>
                <a:path w="5608955" h="1431289">
                  <a:moveTo>
                    <a:pt x="5608620" y="0"/>
                  </a:moveTo>
                  <a:lnTo>
                    <a:pt x="0" y="0"/>
                  </a:lnTo>
                  <a:lnTo>
                    <a:pt x="0" y="1430933"/>
                  </a:lnTo>
                  <a:lnTo>
                    <a:pt x="5608620" y="143093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77533"/>
              <a:ext cx="5608955" cy="1207135"/>
            </a:xfrm>
            <a:custGeom>
              <a:avLst/>
              <a:gdLst/>
              <a:ahLst/>
              <a:cxnLst/>
              <a:rect l="l" t="t" r="r" b="b"/>
              <a:pathLst>
                <a:path w="5608955" h="1207135">
                  <a:moveTo>
                    <a:pt x="5608620" y="0"/>
                  </a:moveTo>
                  <a:lnTo>
                    <a:pt x="0" y="0"/>
                  </a:lnTo>
                  <a:lnTo>
                    <a:pt x="0" y="1156270"/>
                  </a:lnTo>
                  <a:lnTo>
                    <a:pt x="4008" y="1175994"/>
                  </a:lnTo>
                  <a:lnTo>
                    <a:pt x="14922" y="1192147"/>
                  </a:lnTo>
                  <a:lnTo>
                    <a:pt x="31075" y="1203062"/>
                  </a:lnTo>
                  <a:lnTo>
                    <a:pt x="50800" y="1207070"/>
                  </a:lnTo>
                  <a:lnTo>
                    <a:pt x="5557819" y="1207070"/>
                  </a:lnTo>
                  <a:lnTo>
                    <a:pt x="5577544" y="1203062"/>
                  </a:lnTo>
                  <a:lnTo>
                    <a:pt x="5593697" y="1192147"/>
                  </a:lnTo>
                  <a:lnTo>
                    <a:pt x="5604611" y="1175994"/>
                  </a:lnTo>
                  <a:lnTo>
                    <a:pt x="5608620" y="115627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928585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270203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611820"/>
              <a:ext cx="59601" cy="596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9700" y="876935"/>
            <a:ext cx="5608955" cy="143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52729" marR="747395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Maximize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User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Satisfaction: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devices </a:t>
            </a:r>
            <a:r>
              <a:rPr sz="1000" spc="-35" dirty="0">
                <a:latin typeface="Tahoma"/>
                <a:cs typeface="Tahoma"/>
              </a:rPr>
              <a:t>meet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strict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latency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for </a:t>
            </a:r>
            <a:r>
              <a:rPr sz="1000" spc="-40" dirty="0">
                <a:latin typeface="Tahoma"/>
                <a:cs typeface="Tahoma"/>
              </a:rPr>
              <a:t>computation-</a:t>
            </a:r>
            <a:r>
              <a:rPr sz="1000" spc="-30" dirty="0">
                <a:latin typeface="Tahoma"/>
                <a:cs typeface="Tahoma"/>
              </a:rPr>
              <a:t>intensive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tasks</a:t>
            </a:r>
            <a:endParaRPr sz="1000" dirty="0">
              <a:latin typeface="Tahoma"/>
              <a:cs typeface="Tahoma"/>
            </a:endParaRPr>
          </a:p>
          <a:p>
            <a:pPr marL="252729" marR="153035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Maximize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Service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Provider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(SP)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Profit:</a:t>
            </a:r>
            <a:r>
              <a:rPr sz="1000" b="1" spc="10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Balance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revenue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offloading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operational costs</a:t>
            </a:r>
            <a:endParaRPr sz="1000" dirty="0">
              <a:latin typeface="Tahoma"/>
              <a:cs typeface="Tahoma"/>
            </a:endParaRPr>
          </a:p>
          <a:p>
            <a:pPr marL="252729" marR="126364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Arial"/>
                <a:cs typeface="Arial"/>
              </a:rPr>
              <a:t>Optimize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Resource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Utilization:</a:t>
            </a:r>
            <a:r>
              <a:rPr sz="1000" b="1" spc="14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Joint </a:t>
            </a:r>
            <a:r>
              <a:rPr sz="1000" spc="-20" dirty="0">
                <a:latin typeface="Tahoma"/>
                <a:cs typeface="Tahoma"/>
              </a:rPr>
              <a:t>optimization</a:t>
            </a:r>
            <a:r>
              <a:rPr sz="1000" dirty="0">
                <a:latin typeface="Tahoma"/>
                <a:cs typeface="Tahoma"/>
              </a:rPr>
              <a:t> of </a:t>
            </a:r>
            <a:r>
              <a:rPr sz="1000" spc="-10" dirty="0">
                <a:latin typeface="Tahoma"/>
                <a:cs typeface="Tahoma"/>
              </a:rPr>
              <a:t>IoT-UAV-</a:t>
            </a:r>
            <a:r>
              <a:rPr sz="1000" dirty="0">
                <a:latin typeface="Tahoma"/>
                <a:cs typeface="Tahoma"/>
              </a:rPr>
              <a:t>ES </a:t>
            </a:r>
            <a:r>
              <a:rPr sz="1000" spc="-30" dirty="0">
                <a:latin typeface="Tahoma"/>
                <a:cs typeface="Tahoma"/>
              </a:rPr>
              <a:t>association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 </a:t>
            </a:r>
            <a:r>
              <a:rPr sz="1000" spc="-25" dirty="0">
                <a:latin typeface="Tahoma"/>
                <a:cs typeface="Tahoma"/>
              </a:rPr>
              <a:t>network </a:t>
            </a:r>
            <a:r>
              <a:rPr sz="1000" spc="-10" dirty="0">
                <a:latin typeface="Tahoma"/>
                <a:cs typeface="Tahoma"/>
              </a:rPr>
              <a:t>topology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708025"/>
            <a:ext cx="5659755" cy="1431290"/>
            <a:chOff x="75729" y="704470"/>
            <a:chExt cx="5659755" cy="1431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3325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04470"/>
              <a:ext cx="5608955" cy="1431290"/>
            </a:xfrm>
            <a:custGeom>
              <a:avLst/>
              <a:gdLst/>
              <a:ahLst/>
              <a:cxnLst/>
              <a:rect l="l" t="t" r="r" b="b"/>
              <a:pathLst>
                <a:path w="5608955" h="1431289">
                  <a:moveTo>
                    <a:pt x="5608620" y="0"/>
                  </a:moveTo>
                  <a:lnTo>
                    <a:pt x="0" y="0"/>
                  </a:lnTo>
                  <a:lnTo>
                    <a:pt x="0" y="1430933"/>
                  </a:lnTo>
                  <a:lnTo>
                    <a:pt x="5608620" y="143093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77533"/>
              <a:ext cx="5608955" cy="1207135"/>
            </a:xfrm>
            <a:custGeom>
              <a:avLst/>
              <a:gdLst/>
              <a:ahLst/>
              <a:cxnLst/>
              <a:rect l="l" t="t" r="r" b="b"/>
              <a:pathLst>
                <a:path w="5608955" h="1207135">
                  <a:moveTo>
                    <a:pt x="5608620" y="0"/>
                  </a:moveTo>
                  <a:lnTo>
                    <a:pt x="0" y="0"/>
                  </a:lnTo>
                  <a:lnTo>
                    <a:pt x="0" y="1156270"/>
                  </a:lnTo>
                  <a:lnTo>
                    <a:pt x="4008" y="1175994"/>
                  </a:lnTo>
                  <a:lnTo>
                    <a:pt x="14922" y="1192147"/>
                  </a:lnTo>
                  <a:lnTo>
                    <a:pt x="31075" y="1203062"/>
                  </a:lnTo>
                  <a:lnTo>
                    <a:pt x="50800" y="1207070"/>
                  </a:lnTo>
                  <a:lnTo>
                    <a:pt x="5557819" y="1207070"/>
                  </a:lnTo>
                  <a:lnTo>
                    <a:pt x="5577544" y="1203062"/>
                  </a:lnTo>
                  <a:lnTo>
                    <a:pt x="5593697" y="1192147"/>
                  </a:lnTo>
                  <a:lnTo>
                    <a:pt x="5604611" y="1175994"/>
                  </a:lnTo>
                  <a:lnTo>
                    <a:pt x="5608620" y="115627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928585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270203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611820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1953437"/>
              <a:ext cx="59601" cy="596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20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4754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75995"/>
            <a:ext cx="869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50875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Maximize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User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Satisfaction: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spc="-30" dirty="0"/>
              <a:t>Ensure</a:t>
            </a:r>
            <a:r>
              <a:rPr spc="-40" dirty="0"/>
              <a:t> </a:t>
            </a:r>
            <a:r>
              <a:rPr dirty="0"/>
              <a:t>IoT</a:t>
            </a:r>
            <a:r>
              <a:rPr spc="-30" dirty="0"/>
              <a:t> </a:t>
            </a:r>
            <a:r>
              <a:rPr spc="-40" dirty="0"/>
              <a:t>devices </a:t>
            </a:r>
            <a:r>
              <a:rPr spc="-35" dirty="0"/>
              <a:t>meet</a:t>
            </a:r>
            <a:r>
              <a:rPr spc="-30" dirty="0"/>
              <a:t> </a:t>
            </a:r>
            <a:r>
              <a:rPr dirty="0"/>
              <a:t>strict</a:t>
            </a:r>
            <a:r>
              <a:rPr spc="-40" dirty="0"/>
              <a:t> </a:t>
            </a:r>
            <a:r>
              <a:rPr spc="-25" dirty="0"/>
              <a:t>latency</a:t>
            </a:r>
            <a:r>
              <a:rPr spc="-35" dirty="0"/>
              <a:t> </a:t>
            </a:r>
            <a:r>
              <a:rPr spc="-45" dirty="0"/>
              <a:t>requirements</a:t>
            </a:r>
            <a:r>
              <a:rPr spc="-35" dirty="0"/>
              <a:t> </a:t>
            </a:r>
            <a:r>
              <a:rPr spc="-25" dirty="0"/>
              <a:t>for </a:t>
            </a:r>
            <a:r>
              <a:rPr spc="-40" dirty="0"/>
              <a:t>computation-</a:t>
            </a:r>
            <a:r>
              <a:rPr spc="-30" dirty="0"/>
              <a:t>intensive</a:t>
            </a:r>
            <a:r>
              <a:rPr spc="80" dirty="0"/>
              <a:t> </a:t>
            </a:r>
            <a:r>
              <a:rPr spc="-10" dirty="0"/>
              <a:t>tasks</a:t>
            </a:r>
          </a:p>
          <a:p>
            <a:pPr marL="12700" marR="56515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Maximize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5" dirty="0">
                <a:latin typeface="Arial"/>
                <a:cs typeface="Arial"/>
              </a:rPr>
              <a:t>Service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Provider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(SP)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Profit: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spc="-20" dirty="0"/>
              <a:t>Balance</a:t>
            </a:r>
            <a:r>
              <a:rPr spc="-25" dirty="0"/>
              <a:t> </a:t>
            </a:r>
            <a:r>
              <a:rPr spc="-55" dirty="0"/>
              <a:t>revenue</a:t>
            </a:r>
            <a:r>
              <a:rPr spc="-20" dirty="0"/>
              <a:t> </a:t>
            </a:r>
            <a:r>
              <a:rPr spc="-10" dirty="0"/>
              <a:t>from</a:t>
            </a:r>
            <a:r>
              <a:rPr spc="-20" dirty="0"/>
              <a:t> </a:t>
            </a:r>
            <a:r>
              <a:rPr spc="-10" dirty="0"/>
              <a:t>task</a:t>
            </a:r>
            <a:r>
              <a:rPr spc="-20" dirty="0"/>
              <a:t> </a:t>
            </a:r>
            <a:r>
              <a:rPr spc="-30" dirty="0"/>
              <a:t>offloading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operational costs</a:t>
            </a:r>
          </a:p>
          <a:p>
            <a:pPr marL="12700" marR="29845">
              <a:lnSpc>
                <a:spcPct val="100000"/>
              </a:lnSpc>
              <a:spcBef>
                <a:spcPts val="290"/>
              </a:spcBef>
            </a:pPr>
            <a:r>
              <a:rPr b="1" spc="-10" dirty="0">
                <a:latin typeface="Arial"/>
                <a:cs typeface="Arial"/>
              </a:rPr>
              <a:t>Optimize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Resource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Utilization:</a:t>
            </a:r>
            <a:r>
              <a:rPr b="1" spc="140" dirty="0">
                <a:latin typeface="Arial"/>
                <a:cs typeface="Arial"/>
              </a:rPr>
              <a:t> </a:t>
            </a:r>
            <a:r>
              <a:rPr dirty="0"/>
              <a:t>Joint </a:t>
            </a:r>
            <a:r>
              <a:rPr spc="-20" dirty="0"/>
              <a:t>optimization</a:t>
            </a:r>
            <a:r>
              <a:rPr dirty="0"/>
              <a:t> of </a:t>
            </a:r>
            <a:r>
              <a:rPr spc="-10" dirty="0"/>
              <a:t>IoT-UAV-</a:t>
            </a:r>
            <a:r>
              <a:rPr dirty="0"/>
              <a:t>ES </a:t>
            </a:r>
            <a:r>
              <a:rPr spc="-30" dirty="0"/>
              <a:t>association</a:t>
            </a:r>
            <a:r>
              <a:rPr dirty="0"/>
              <a:t> </a:t>
            </a:r>
            <a:r>
              <a:rPr spc="-25" dirty="0"/>
              <a:t>and</a:t>
            </a:r>
            <a:r>
              <a:rPr spc="5" dirty="0"/>
              <a:t> </a:t>
            </a:r>
            <a:r>
              <a:rPr dirty="0"/>
              <a:t>UAV </a:t>
            </a:r>
            <a:r>
              <a:rPr spc="-25" dirty="0"/>
              <a:t>network </a:t>
            </a:r>
            <a:r>
              <a:rPr spc="-10" dirty="0"/>
              <a:t>topology</a:t>
            </a: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Minimize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Infrastructure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Cost: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spc="-20" dirty="0"/>
              <a:t>Use</a:t>
            </a:r>
            <a:r>
              <a:rPr spc="-35" dirty="0"/>
              <a:t> </a:t>
            </a:r>
            <a:r>
              <a:rPr spc="-30" dirty="0"/>
              <a:t>minimum </a:t>
            </a:r>
            <a:r>
              <a:rPr spc="-40" dirty="0"/>
              <a:t>number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UAVs</a:t>
            </a:r>
            <a:r>
              <a:rPr spc="-35" dirty="0"/>
              <a:t> </a:t>
            </a:r>
            <a:r>
              <a:rPr spc="-25" dirty="0"/>
              <a:t>while</a:t>
            </a:r>
            <a:r>
              <a:rPr spc="-30" dirty="0"/>
              <a:t> maximizing</a:t>
            </a:r>
            <a:r>
              <a:rPr spc="-35" dirty="0"/>
              <a:t> </a:t>
            </a:r>
            <a:r>
              <a:rPr spc="-40" dirty="0"/>
              <a:t>service</a:t>
            </a:r>
            <a:r>
              <a:rPr spc="-30" dirty="0"/>
              <a:t> </a:t>
            </a:r>
            <a:r>
              <a:rPr spc="-10" dirty="0"/>
              <a:t>coverage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5" name="object 15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704470"/>
            <a:ext cx="5659755" cy="1431290"/>
            <a:chOff x="75729" y="704470"/>
            <a:chExt cx="5659755" cy="1431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3325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04470"/>
              <a:ext cx="5608955" cy="1431290"/>
            </a:xfrm>
            <a:custGeom>
              <a:avLst/>
              <a:gdLst/>
              <a:ahLst/>
              <a:cxnLst/>
              <a:rect l="l" t="t" r="r" b="b"/>
              <a:pathLst>
                <a:path w="5608955" h="1431289">
                  <a:moveTo>
                    <a:pt x="5608620" y="0"/>
                  </a:moveTo>
                  <a:lnTo>
                    <a:pt x="0" y="0"/>
                  </a:lnTo>
                  <a:lnTo>
                    <a:pt x="0" y="1430933"/>
                  </a:lnTo>
                  <a:lnTo>
                    <a:pt x="5608620" y="143093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77533"/>
              <a:ext cx="5608955" cy="1207135"/>
            </a:xfrm>
            <a:custGeom>
              <a:avLst/>
              <a:gdLst/>
              <a:ahLst/>
              <a:cxnLst/>
              <a:rect l="l" t="t" r="r" b="b"/>
              <a:pathLst>
                <a:path w="5608955" h="1207135">
                  <a:moveTo>
                    <a:pt x="5608620" y="0"/>
                  </a:moveTo>
                  <a:lnTo>
                    <a:pt x="0" y="0"/>
                  </a:lnTo>
                  <a:lnTo>
                    <a:pt x="0" y="1156270"/>
                  </a:lnTo>
                  <a:lnTo>
                    <a:pt x="4008" y="1175994"/>
                  </a:lnTo>
                  <a:lnTo>
                    <a:pt x="14922" y="1192147"/>
                  </a:lnTo>
                  <a:lnTo>
                    <a:pt x="31075" y="1203062"/>
                  </a:lnTo>
                  <a:lnTo>
                    <a:pt x="50800" y="1207070"/>
                  </a:lnTo>
                  <a:lnTo>
                    <a:pt x="5557819" y="1207070"/>
                  </a:lnTo>
                  <a:lnTo>
                    <a:pt x="5577544" y="1203062"/>
                  </a:lnTo>
                  <a:lnTo>
                    <a:pt x="5593697" y="1192147"/>
                  </a:lnTo>
                  <a:lnTo>
                    <a:pt x="5604611" y="1175994"/>
                  </a:lnTo>
                  <a:lnTo>
                    <a:pt x="5608620" y="115627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928585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270203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611820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1953437"/>
              <a:ext cx="59601" cy="596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20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4754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75995"/>
            <a:ext cx="869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50875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Maximize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User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Satisfaction: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spc="-30" dirty="0"/>
              <a:t>Ensure</a:t>
            </a:r>
            <a:r>
              <a:rPr spc="-40" dirty="0"/>
              <a:t> </a:t>
            </a:r>
            <a:r>
              <a:rPr dirty="0"/>
              <a:t>IoT</a:t>
            </a:r>
            <a:r>
              <a:rPr spc="-30" dirty="0"/>
              <a:t> </a:t>
            </a:r>
            <a:r>
              <a:rPr spc="-40" dirty="0"/>
              <a:t>devices </a:t>
            </a:r>
            <a:r>
              <a:rPr spc="-35" dirty="0"/>
              <a:t>meet</a:t>
            </a:r>
            <a:r>
              <a:rPr spc="-30" dirty="0"/>
              <a:t> </a:t>
            </a:r>
            <a:r>
              <a:rPr dirty="0"/>
              <a:t>strict</a:t>
            </a:r>
            <a:r>
              <a:rPr spc="-40" dirty="0"/>
              <a:t> </a:t>
            </a:r>
            <a:r>
              <a:rPr spc="-25" dirty="0"/>
              <a:t>latency</a:t>
            </a:r>
            <a:r>
              <a:rPr spc="-35" dirty="0"/>
              <a:t> </a:t>
            </a:r>
            <a:r>
              <a:rPr spc="-45" dirty="0"/>
              <a:t>requirements</a:t>
            </a:r>
            <a:r>
              <a:rPr spc="-35" dirty="0"/>
              <a:t> </a:t>
            </a:r>
            <a:r>
              <a:rPr spc="-25" dirty="0"/>
              <a:t>for </a:t>
            </a:r>
            <a:r>
              <a:rPr spc="-40" dirty="0"/>
              <a:t>computation-</a:t>
            </a:r>
            <a:r>
              <a:rPr spc="-30" dirty="0"/>
              <a:t>intensive</a:t>
            </a:r>
            <a:r>
              <a:rPr spc="80" dirty="0"/>
              <a:t> </a:t>
            </a:r>
            <a:r>
              <a:rPr spc="-10" dirty="0"/>
              <a:t>tasks</a:t>
            </a:r>
          </a:p>
          <a:p>
            <a:pPr marL="12700" marR="56515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Maximize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5" dirty="0">
                <a:latin typeface="Arial"/>
                <a:cs typeface="Arial"/>
              </a:rPr>
              <a:t>Service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Provider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(SP)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Profit: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spc="-20" dirty="0"/>
              <a:t>Balance</a:t>
            </a:r>
            <a:r>
              <a:rPr spc="-25" dirty="0"/>
              <a:t> </a:t>
            </a:r>
            <a:r>
              <a:rPr spc="-55" dirty="0"/>
              <a:t>revenue</a:t>
            </a:r>
            <a:r>
              <a:rPr spc="-20" dirty="0"/>
              <a:t> </a:t>
            </a:r>
            <a:r>
              <a:rPr spc="-10" dirty="0"/>
              <a:t>from</a:t>
            </a:r>
            <a:r>
              <a:rPr spc="-20" dirty="0"/>
              <a:t> </a:t>
            </a:r>
            <a:r>
              <a:rPr spc="-10" dirty="0"/>
              <a:t>task</a:t>
            </a:r>
            <a:r>
              <a:rPr spc="-20" dirty="0"/>
              <a:t> </a:t>
            </a:r>
            <a:r>
              <a:rPr spc="-30" dirty="0"/>
              <a:t>offloading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operational costs</a:t>
            </a:r>
          </a:p>
          <a:p>
            <a:pPr marL="12700" marR="29845">
              <a:lnSpc>
                <a:spcPct val="100000"/>
              </a:lnSpc>
              <a:spcBef>
                <a:spcPts val="290"/>
              </a:spcBef>
            </a:pPr>
            <a:r>
              <a:rPr b="1" spc="-10" dirty="0">
                <a:latin typeface="Arial"/>
                <a:cs typeface="Arial"/>
              </a:rPr>
              <a:t>Optimize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Resource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Utilization:</a:t>
            </a:r>
            <a:r>
              <a:rPr b="1" spc="140" dirty="0">
                <a:latin typeface="Arial"/>
                <a:cs typeface="Arial"/>
              </a:rPr>
              <a:t> </a:t>
            </a:r>
            <a:r>
              <a:rPr dirty="0"/>
              <a:t>Joint </a:t>
            </a:r>
            <a:r>
              <a:rPr spc="-20" dirty="0"/>
              <a:t>optimization</a:t>
            </a:r>
            <a:r>
              <a:rPr dirty="0"/>
              <a:t> of </a:t>
            </a:r>
            <a:r>
              <a:rPr spc="-10" dirty="0"/>
              <a:t>IoT-UAV-</a:t>
            </a:r>
            <a:r>
              <a:rPr dirty="0"/>
              <a:t>ES </a:t>
            </a:r>
            <a:r>
              <a:rPr spc="-30" dirty="0"/>
              <a:t>association</a:t>
            </a:r>
            <a:r>
              <a:rPr dirty="0"/>
              <a:t> </a:t>
            </a:r>
            <a:r>
              <a:rPr spc="-25" dirty="0"/>
              <a:t>and</a:t>
            </a:r>
            <a:r>
              <a:rPr spc="5" dirty="0"/>
              <a:t> </a:t>
            </a:r>
            <a:r>
              <a:rPr dirty="0"/>
              <a:t>UAV </a:t>
            </a:r>
            <a:r>
              <a:rPr spc="-25" dirty="0"/>
              <a:t>network </a:t>
            </a:r>
            <a:r>
              <a:rPr spc="-10" dirty="0"/>
              <a:t>topology</a:t>
            </a: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Minimize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Infrastructure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Cost: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spc="-20" dirty="0"/>
              <a:t>Use</a:t>
            </a:r>
            <a:r>
              <a:rPr spc="-35" dirty="0"/>
              <a:t> </a:t>
            </a:r>
            <a:r>
              <a:rPr spc="-30" dirty="0"/>
              <a:t>minimum </a:t>
            </a:r>
            <a:r>
              <a:rPr spc="-40" dirty="0"/>
              <a:t>number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UAVs</a:t>
            </a:r>
            <a:r>
              <a:rPr spc="-35" dirty="0"/>
              <a:t> </a:t>
            </a:r>
            <a:r>
              <a:rPr spc="-25" dirty="0"/>
              <a:t>while</a:t>
            </a:r>
            <a:r>
              <a:rPr spc="-30" dirty="0"/>
              <a:t> maximizing</a:t>
            </a:r>
            <a:r>
              <a:rPr spc="-35" dirty="0"/>
              <a:t> </a:t>
            </a:r>
            <a:r>
              <a:rPr spc="-40" dirty="0"/>
              <a:t>service</a:t>
            </a:r>
            <a:r>
              <a:rPr spc="-30" dirty="0"/>
              <a:t> </a:t>
            </a:r>
            <a:r>
              <a:rPr spc="-10" dirty="0"/>
              <a:t>coverage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5" name="object 15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867" y="663591"/>
            <a:ext cx="5659755" cy="1431290"/>
            <a:chOff x="75729" y="704470"/>
            <a:chExt cx="5659755" cy="1431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3325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04470"/>
              <a:ext cx="5608955" cy="1431290"/>
            </a:xfrm>
            <a:custGeom>
              <a:avLst/>
              <a:gdLst/>
              <a:ahLst/>
              <a:cxnLst/>
              <a:rect l="l" t="t" r="r" b="b"/>
              <a:pathLst>
                <a:path w="5608955" h="1431289">
                  <a:moveTo>
                    <a:pt x="5608620" y="0"/>
                  </a:moveTo>
                  <a:lnTo>
                    <a:pt x="0" y="0"/>
                  </a:lnTo>
                  <a:lnTo>
                    <a:pt x="0" y="1430933"/>
                  </a:lnTo>
                  <a:lnTo>
                    <a:pt x="5608620" y="143093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77533"/>
              <a:ext cx="5608955" cy="1207135"/>
            </a:xfrm>
            <a:custGeom>
              <a:avLst/>
              <a:gdLst/>
              <a:ahLst/>
              <a:cxnLst/>
              <a:rect l="l" t="t" r="r" b="b"/>
              <a:pathLst>
                <a:path w="5608955" h="1207135">
                  <a:moveTo>
                    <a:pt x="5608620" y="0"/>
                  </a:moveTo>
                  <a:lnTo>
                    <a:pt x="0" y="0"/>
                  </a:lnTo>
                  <a:lnTo>
                    <a:pt x="0" y="1156270"/>
                  </a:lnTo>
                  <a:lnTo>
                    <a:pt x="4008" y="1175994"/>
                  </a:lnTo>
                  <a:lnTo>
                    <a:pt x="14922" y="1192147"/>
                  </a:lnTo>
                  <a:lnTo>
                    <a:pt x="31075" y="1203062"/>
                  </a:lnTo>
                  <a:lnTo>
                    <a:pt x="50800" y="1207070"/>
                  </a:lnTo>
                  <a:lnTo>
                    <a:pt x="5557819" y="1207070"/>
                  </a:lnTo>
                  <a:lnTo>
                    <a:pt x="5577544" y="1203062"/>
                  </a:lnTo>
                  <a:lnTo>
                    <a:pt x="5593697" y="1192147"/>
                  </a:lnTo>
                  <a:lnTo>
                    <a:pt x="5604611" y="1175994"/>
                  </a:lnTo>
                  <a:lnTo>
                    <a:pt x="5608620" y="115627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928585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270203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611820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1953437"/>
              <a:ext cx="59601" cy="596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20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9093" y="638064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75995"/>
            <a:ext cx="869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50875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Maximize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User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Satisfaction: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spc="-30" dirty="0"/>
              <a:t>Ensure</a:t>
            </a:r>
            <a:r>
              <a:rPr spc="-40" dirty="0"/>
              <a:t> </a:t>
            </a:r>
            <a:r>
              <a:rPr dirty="0"/>
              <a:t>IoT</a:t>
            </a:r>
            <a:r>
              <a:rPr spc="-30" dirty="0"/>
              <a:t> </a:t>
            </a:r>
            <a:r>
              <a:rPr spc="-40" dirty="0"/>
              <a:t>devices </a:t>
            </a:r>
            <a:r>
              <a:rPr spc="-35" dirty="0"/>
              <a:t>meet</a:t>
            </a:r>
            <a:r>
              <a:rPr spc="-30" dirty="0"/>
              <a:t> </a:t>
            </a:r>
            <a:r>
              <a:rPr dirty="0"/>
              <a:t>strict</a:t>
            </a:r>
            <a:r>
              <a:rPr spc="-40" dirty="0"/>
              <a:t> </a:t>
            </a:r>
            <a:r>
              <a:rPr spc="-25" dirty="0"/>
              <a:t>latency</a:t>
            </a:r>
            <a:r>
              <a:rPr spc="-35" dirty="0"/>
              <a:t> </a:t>
            </a:r>
            <a:r>
              <a:rPr spc="-45" dirty="0"/>
              <a:t>requirements</a:t>
            </a:r>
            <a:r>
              <a:rPr spc="-35" dirty="0"/>
              <a:t> </a:t>
            </a:r>
            <a:r>
              <a:rPr spc="-25" dirty="0"/>
              <a:t>for </a:t>
            </a:r>
            <a:r>
              <a:rPr spc="-40" dirty="0"/>
              <a:t>computation-</a:t>
            </a:r>
            <a:r>
              <a:rPr spc="-30" dirty="0"/>
              <a:t>intensive</a:t>
            </a:r>
            <a:r>
              <a:rPr spc="80" dirty="0"/>
              <a:t> </a:t>
            </a:r>
            <a:r>
              <a:rPr spc="-10" dirty="0"/>
              <a:t>tasks</a:t>
            </a:r>
          </a:p>
          <a:p>
            <a:pPr marL="12700" marR="56515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Maximize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5" dirty="0">
                <a:latin typeface="Arial"/>
                <a:cs typeface="Arial"/>
              </a:rPr>
              <a:t>Service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Provider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(SP)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Profit: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spc="-20" dirty="0"/>
              <a:t>Balance</a:t>
            </a:r>
            <a:r>
              <a:rPr spc="-25" dirty="0"/>
              <a:t> </a:t>
            </a:r>
            <a:r>
              <a:rPr spc="-55" dirty="0"/>
              <a:t>revenue</a:t>
            </a:r>
            <a:r>
              <a:rPr spc="-20" dirty="0"/>
              <a:t> </a:t>
            </a:r>
            <a:r>
              <a:rPr spc="-10" dirty="0"/>
              <a:t>from</a:t>
            </a:r>
            <a:r>
              <a:rPr spc="-20" dirty="0"/>
              <a:t> </a:t>
            </a:r>
            <a:r>
              <a:rPr spc="-10" dirty="0"/>
              <a:t>task</a:t>
            </a:r>
            <a:r>
              <a:rPr spc="-20" dirty="0"/>
              <a:t> </a:t>
            </a:r>
            <a:r>
              <a:rPr spc="-30" dirty="0"/>
              <a:t>offloading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operational costs</a:t>
            </a:r>
          </a:p>
          <a:p>
            <a:pPr marL="12700" marR="29845">
              <a:lnSpc>
                <a:spcPct val="100000"/>
              </a:lnSpc>
              <a:spcBef>
                <a:spcPts val="290"/>
              </a:spcBef>
            </a:pPr>
            <a:r>
              <a:rPr b="1" spc="-10" dirty="0">
                <a:latin typeface="Arial"/>
                <a:cs typeface="Arial"/>
              </a:rPr>
              <a:t>Optimize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Resource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Utilization:</a:t>
            </a:r>
            <a:r>
              <a:rPr b="1" spc="140" dirty="0">
                <a:latin typeface="Arial"/>
                <a:cs typeface="Arial"/>
              </a:rPr>
              <a:t> </a:t>
            </a:r>
            <a:r>
              <a:rPr dirty="0"/>
              <a:t>Joint </a:t>
            </a:r>
            <a:r>
              <a:rPr spc="-20" dirty="0"/>
              <a:t>optimization</a:t>
            </a:r>
            <a:r>
              <a:rPr dirty="0"/>
              <a:t> of </a:t>
            </a:r>
            <a:r>
              <a:rPr spc="-10" dirty="0"/>
              <a:t>IoT-UAV-</a:t>
            </a:r>
            <a:r>
              <a:rPr dirty="0"/>
              <a:t>ES </a:t>
            </a:r>
            <a:r>
              <a:rPr spc="-30" dirty="0"/>
              <a:t>association</a:t>
            </a:r>
            <a:r>
              <a:rPr dirty="0"/>
              <a:t> </a:t>
            </a:r>
            <a:r>
              <a:rPr spc="-25" dirty="0"/>
              <a:t>and</a:t>
            </a:r>
            <a:r>
              <a:rPr spc="5" dirty="0"/>
              <a:t> </a:t>
            </a:r>
            <a:r>
              <a:rPr dirty="0"/>
              <a:t>UAV </a:t>
            </a:r>
            <a:r>
              <a:rPr spc="-25" dirty="0"/>
              <a:t>network </a:t>
            </a:r>
            <a:r>
              <a:rPr spc="-10" dirty="0"/>
              <a:t>topology</a:t>
            </a: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Minimize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Infrastructure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Cost: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spc="-20" dirty="0"/>
              <a:t>Use</a:t>
            </a:r>
            <a:r>
              <a:rPr spc="-35" dirty="0"/>
              <a:t> </a:t>
            </a:r>
            <a:r>
              <a:rPr spc="-30" dirty="0"/>
              <a:t>minimum </a:t>
            </a:r>
            <a:r>
              <a:rPr spc="-40" dirty="0"/>
              <a:t>number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UAVs</a:t>
            </a:r>
            <a:r>
              <a:rPr spc="-35" dirty="0"/>
              <a:t> </a:t>
            </a:r>
            <a:r>
              <a:rPr spc="-25" dirty="0"/>
              <a:t>while</a:t>
            </a:r>
            <a:r>
              <a:rPr spc="-30" dirty="0"/>
              <a:t> maximizing</a:t>
            </a:r>
            <a:r>
              <a:rPr spc="-35" dirty="0"/>
              <a:t> </a:t>
            </a:r>
            <a:r>
              <a:rPr spc="-40" dirty="0"/>
              <a:t>service</a:t>
            </a:r>
            <a:r>
              <a:rPr spc="-30" dirty="0"/>
              <a:t> </a:t>
            </a:r>
            <a:r>
              <a:rPr spc="-10" dirty="0"/>
              <a:t>coverage</a:t>
            </a:r>
          </a:p>
        </p:txBody>
      </p:sp>
      <p:sp>
        <p:nvSpPr>
          <p:cNvPr id="14" name="object 14"/>
          <p:cNvSpPr/>
          <p:nvPr/>
        </p:nvSpPr>
        <p:spPr>
          <a:xfrm>
            <a:off x="75729" y="223653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6530" y="2264980"/>
            <a:ext cx="9321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Innovation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410" y="2431350"/>
            <a:ext cx="5618747" cy="559487"/>
            <a:chOff x="65937" y="2422245"/>
            <a:chExt cx="5618747" cy="559487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729" y="2422245"/>
              <a:ext cx="5608620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937" y="2423567"/>
              <a:ext cx="5608955" cy="558165"/>
            </a:xfrm>
            <a:custGeom>
              <a:avLst/>
              <a:gdLst/>
              <a:ahLst/>
              <a:cxnLst/>
              <a:rect l="l" t="t" r="r" b="b"/>
              <a:pathLst>
                <a:path w="5608955" h="558164">
                  <a:moveTo>
                    <a:pt x="5608620" y="0"/>
                  </a:moveTo>
                  <a:lnTo>
                    <a:pt x="0" y="0"/>
                  </a:lnTo>
                  <a:lnTo>
                    <a:pt x="0" y="557896"/>
                  </a:lnTo>
                  <a:lnTo>
                    <a:pt x="5608620" y="55789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5729" y="2466520"/>
              <a:ext cx="5608955" cy="334645"/>
            </a:xfrm>
            <a:custGeom>
              <a:avLst/>
              <a:gdLst/>
              <a:ahLst/>
              <a:cxnLst/>
              <a:rect l="l" t="t" r="r" b="b"/>
              <a:pathLst>
                <a:path w="5608955" h="334644">
                  <a:moveTo>
                    <a:pt x="5608620" y="0"/>
                  </a:moveTo>
                  <a:lnTo>
                    <a:pt x="0" y="0"/>
                  </a:lnTo>
                  <a:lnTo>
                    <a:pt x="0" y="283232"/>
                  </a:lnTo>
                  <a:lnTo>
                    <a:pt x="4008" y="302957"/>
                  </a:lnTo>
                  <a:lnTo>
                    <a:pt x="14922" y="319110"/>
                  </a:lnTo>
                  <a:lnTo>
                    <a:pt x="31075" y="330024"/>
                  </a:lnTo>
                  <a:lnTo>
                    <a:pt x="50800" y="334033"/>
                  </a:lnTo>
                  <a:lnTo>
                    <a:pt x="5557819" y="334033"/>
                  </a:lnTo>
                  <a:lnTo>
                    <a:pt x="5577544" y="330024"/>
                  </a:lnTo>
                  <a:lnTo>
                    <a:pt x="5593697" y="319110"/>
                  </a:lnTo>
                  <a:lnTo>
                    <a:pt x="5604611" y="302957"/>
                  </a:lnTo>
                  <a:lnTo>
                    <a:pt x="5608620" y="283232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5520" y="2321472"/>
            <a:ext cx="5608955" cy="55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R="178435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First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address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6600"/>
                </a:solidFill>
                <a:latin typeface="Tahoma"/>
                <a:cs typeface="Tahoma"/>
              </a:rPr>
              <a:t>three-</a:t>
            </a:r>
            <a:r>
              <a:rPr sz="1000" spc="-70" dirty="0">
                <a:solidFill>
                  <a:srgbClr val="FF6600"/>
                </a:solidFill>
                <a:latin typeface="Tahoma"/>
                <a:cs typeface="Tahoma"/>
              </a:rPr>
              <a:t>way</a:t>
            </a:r>
            <a:r>
              <a:rPr sz="1000" spc="-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6600"/>
                </a:solidFill>
                <a:latin typeface="Tahoma"/>
                <a:cs typeface="Tahoma"/>
              </a:rPr>
              <a:t>collaboration</a:t>
            </a:r>
            <a:r>
              <a:rPr sz="1000" spc="-10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between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IoTs,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Edge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Servers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while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considering </a:t>
            </a:r>
            <a:r>
              <a:rPr sz="1000" dirty="0">
                <a:solidFill>
                  <a:srgbClr val="FF6600"/>
                </a:solidFill>
                <a:latin typeface="Tahoma"/>
                <a:cs typeface="Tahoma"/>
              </a:rPr>
              <a:t>both</a:t>
            </a:r>
            <a:r>
              <a:rPr sz="1000" spc="-10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6600"/>
                </a:solidFill>
                <a:latin typeface="Tahoma"/>
                <a:cs typeface="Tahoma"/>
              </a:rPr>
              <a:t>user</a:t>
            </a:r>
            <a:r>
              <a:rPr sz="1000" spc="-10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6600"/>
                </a:solidFill>
                <a:latin typeface="Tahoma"/>
                <a:cs typeface="Tahoma"/>
              </a:rPr>
              <a:t>and</a:t>
            </a:r>
            <a:r>
              <a:rPr sz="1000" spc="-10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6600"/>
                </a:solidFill>
                <a:latin typeface="Tahoma"/>
                <a:cs typeface="Tahoma"/>
              </a:rPr>
              <a:t>SP</a:t>
            </a:r>
            <a:r>
              <a:rPr sz="1000" spc="-10" dirty="0">
                <a:solidFill>
                  <a:srgbClr val="FF6600"/>
                </a:solidFill>
                <a:latin typeface="Tahoma"/>
                <a:cs typeface="Tahoma"/>
              </a:rPr>
              <a:t> perspectives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2" name="object 2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653" y="388029"/>
            <a:ext cx="2665095" cy="5568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9481" y="425988"/>
            <a:ext cx="1009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7" name="object 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653" y="388029"/>
            <a:ext cx="2665095" cy="8985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9481" y="425988"/>
            <a:ext cx="1009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8" name="object 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653" y="388029"/>
            <a:ext cx="2665095" cy="12401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9481" y="425988"/>
            <a:ext cx="1009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717725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388029"/>
            <a:ext cx="266509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  <a:p>
            <a:pPr marL="265430" marR="20447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infrastructure: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Costly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inflexible </a:t>
            </a:r>
            <a:r>
              <a:rPr sz="1000" spc="-10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9481" y="425988"/>
            <a:ext cx="1009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0" name="object 1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717725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388029"/>
            <a:ext cx="266509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  <a:p>
            <a:pPr marL="265430" marR="20447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infrastructure: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Costly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inflexible </a:t>
            </a:r>
            <a:r>
              <a:rPr sz="1000" spc="-10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356" y="692873"/>
            <a:ext cx="59601" cy="596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09481" y="388029"/>
            <a:ext cx="236220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dirty="0">
                <a:latin typeface="Tahoma"/>
                <a:cs typeface="Tahoma"/>
              </a:rPr>
              <a:t>Mobility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on-</a:t>
            </a:r>
            <a:r>
              <a:rPr sz="1000" spc="-45" dirty="0">
                <a:latin typeface="Tahoma"/>
                <a:cs typeface="Tahoma"/>
              </a:rPr>
              <a:t>demand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717725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388029"/>
            <a:ext cx="266509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  <a:p>
            <a:pPr marL="265430" marR="20447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infrastructure: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Costly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inflexible </a:t>
            </a:r>
            <a:r>
              <a:rPr sz="1000" spc="-10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356" y="692873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2356" y="882662"/>
            <a:ext cx="59601" cy="5960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09481" y="388029"/>
            <a:ext cx="2362200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dirty="0">
                <a:latin typeface="Tahoma"/>
                <a:cs typeface="Tahoma"/>
              </a:rPr>
              <a:t>Mobility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on-</a:t>
            </a:r>
            <a:r>
              <a:rPr sz="1000" spc="-45" dirty="0">
                <a:latin typeface="Tahoma"/>
                <a:cs typeface="Tahoma"/>
              </a:rPr>
              <a:t>demand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0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Line-</a:t>
            </a:r>
            <a:r>
              <a:rPr sz="1000" spc="-30" dirty="0">
                <a:latin typeface="Tahoma"/>
                <a:cs typeface="Tahoma"/>
              </a:rPr>
              <a:t>of-</a:t>
            </a:r>
            <a:r>
              <a:rPr sz="1000" spc="-10" dirty="0">
                <a:latin typeface="Tahoma"/>
                <a:cs typeface="Tahoma"/>
              </a:rPr>
              <a:t>sight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(LoS) </a:t>
            </a:r>
            <a:r>
              <a:rPr sz="1000" spc="-10" dirty="0">
                <a:latin typeface="Tahoma"/>
                <a:cs typeface="Tahoma"/>
              </a:rPr>
              <a:t>communication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717725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388029"/>
            <a:ext cx="266509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  <a:p>
            <a:pPr marL="265430" marR="20447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infrastructure: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Costly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inflexible </a:t>
            </a:r>
            <a:r>
              <a:rPr sz="1000" spc="-10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356" y="692873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2356" y="882662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2356" y="1072451"/>
            <a:ext cx="59601" cy="596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09481" y="388029"/>
            <a:ext cx="2406015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dirty="0">
                <a:latin typeface="Tahoma"/>
                <a:cs typeface="Tahoma"/>
              </a:rPr>
              <a:t>Mobility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on-</a:t>
            </a:r>
            <a:r>
              <a:rPr sz="1000" spc="-45" dirty="0">
                <a:latin typeface="Tahoma"/>
                <a:cs typeface="Tahoma"/>
              </a:rPr>
              <a:t>demand</a:t>
            </a:r>
            <a:r>
              <a:rPr sz="1000" spc="-10" dirty="0">
                <a:latin typeface="Tahoma"/>
                <a:cs typeface="Tahoma"/>
              </a:rPr>
              <a:t> deployment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0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Line-</a:t>
            </a:r>
            <a:r>
              <a:rPr sz="1000" spc="-30" dirty="0">
                <a:latin typeface="Tahoma"/>
                <a:cs typeface="Tahoma"/>
              </a:rPr>
              <a:t>of-</a:t>
            </a:r>
            <a:r>
              <a:rPr sz="1000" spc="-10" dirty="0">
                <a:latin typeface="Tahoma"/>
                <a:cs typeface="Tahoma"/>
              </a:rPr>
              <a:t>sight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(LoS) </a:t>
            </a:r>
            <a:r>
              <a:rPr sz="1000" spc="-10" dirty="0">
                <a:latin typeface="Tahoma"/>
                <a:cs typeface="Tahoma"/>
              </a:rPr>
              <a:t>communication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10" dirty="0">
                <a:latin typeface="Tahoma"/>
                <a:cs typeface="Tahoma"/>
              </a:rPr>
              <a:t>Dynamic</a:t>
            </a:r>
            <a:r>
              <a:rPr sz="1000" spc="-25" dirty="0">
                <a:latin typeface="Tahoma"/>
                <a:cs typeface="Tahoma"/>
              </a:rPr>
              <a:t> adaptation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user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demands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717725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388029"/>
            <a:ext cx="266509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  <a:p>
            <a:pPr marL="265430" marR="20447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infrastructure: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Costly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inflexible </a:t>
            </a:r>
            <a:r>
              <a:rPr sz="1000" spc="-10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356" y="692873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2356" y="882662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2356" y="1072451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52356" y="1262227"/>
            <a:ext cx="59601" cy="5960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09481" y="388029"/>
            <a:ext cx="2480310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dirty="0">
                <a:latin typeface="Tahoma"/>
                <a:cs typeface="Tahoma"/>
              </a:rPr>
              <a:t>Mobility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on-</a:t>
            </a:r>
            <a:r>
              <a:rPr sz="1000" spc="-45" dirty="0">
                <a:latin typeface="Tahoma"/>
                <a:cs typeface="Tahoma"/>
              </a:rPr>
              <a:t>demand</a:t>
            </a:r>
            <a:r>
              <a:rPr sz="1000" spc="-10" dirty="0">
                <a:latin typeface="Tahoma"/>
                <a:cs typeface="Tahoma"/>
              </a:rPr>
              <a:t> deployment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0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Line-</a:t>
            </a:r>
            <a:r>
              <a:rPr sz="1000" spc="-30" dirty="0">
                <a:latin typeface="Tahoma"/>
                <a:cs typeface="Tahoma"/>
              </a:rPr>
              <a:t>of-</a:t>
            </a:r>
            <a:r>
              <a:rPr sz="1000" spc="-10" dirty="0">
                <a:latin typeface="Tahoma"/>
                <a:cs typeface="Tahoma"/>
              </a:rPr>
              <a:t>sight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(LoS) </a:t>
            </a:r>
            <a:r>
              <a:rPr sz="1000" spc="-10" dirty="0">
                <a:latin typeface="Tahoma"/>
                <a:cs typeface="Tahoma"/>
              </a:rPr>
              <a:t>communication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10" dirty="0">
                <a:latin typeface="Tahoma"/>
                <a:cs typeface="Tahoma"/>
              </a:rPr>
              <a:t>Dynamic</a:t>
            </a:r>
            <a:r>
              <a:rPr sz="1000" spc="-25" dirty="0">
                <a:latin typeface="Tahoma"/>
                <a:cs typeface="Tahoma"/>
              </a:rPr>
              <a:t> adaptation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user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demands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Enhanced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coverage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obstructed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areas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717725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388029"/>
            <a:ext cx="266509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  <a:p>
            <a:pPr marL="265430" marR="20447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infrastructure: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Costly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inflexible </a:t>
            </a:r>
            <a:r>
              <a:rPr sz="1000" spc="-10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356" y="692873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2356" y="882662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2356" y="1072451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52356" y="1262227"/>
            <a:ext cx="59601" cy="5960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09481" y="388029"/>
            <a:ext cx="2480310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dirty="0">
                <a:latin typeface="Tahoma"/>
                <a:cs typeface="Tahoma"/>
              </a:rPr>
              <a:t>Mobility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on-</a:t>
            </a:r>
            <a:r>
              <a:rPr sz="1000" spc="-45" dirty="0">
                <a:latin typeface="Tahoma"/>
                <a:cs typeface="Tahoma"/>
              </a:rPr>
              <a:t>demand</a:t>
            </a:r>
            <a:r>
              <a:rPr sz="1000" spc="-10" dirty="0">
                <a:latin typeface="Tahoma"/>
                <a:cs typeface="Tahoma"/>
              </a:rPr>
              <a:t> deployment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0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Line-</a:t>
            </a:r>
            <a:r>
              <a:rPr sz="1000" spc="-30" dirty="0">
                <a:latin typeface="Tahoma"/>
                <a:cs typeface="Tahoma"/>
              </a:rPr>
              <a:t>of-</a:t>
            </a:r>
            <a:r>
              <a:rPr sz="1000" spc="-10" dirty="0">
                <a:latin typeface="Tahoma"/>
                <a:cs typeface="Tahoma"/>
              </a:rPr>
              <a:t>sight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(LoS) </a:t>
            </a:r>
            <a:r>
              <a:rPr sz="1000" spc="-10" dirty="0">
                <a:latin typeface="Tahoma"/>
                <a:cs typeface="Tahoma"/>
              </a:rPr>
              <a:t>communication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10" dirty="0">
                <a:latin typeface="Tahoma"/>
                <a:cs typeface="Tahoma"/>
              </a:rPr>
              <a:t>Dynamic</a:t>
            </a:r>
            <a:r>
              <a:rPr sz="1000" spc="-25" dirty="0">
                <a:latin typeface="Tahoma"/>
                <a:cs typeface="Tahoma"/>
              </a:rPr>
              <a:t> adaptation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user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demands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Enhanced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coverage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obstructed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areas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Motivation:</a:t>
            </a:r>
            <a:r>
              <a:rPr spc="40" dirty="0"/>
              <a:t> </a:t>
            </a:r>
            <a:r>
              <a:rPr dirty="0"/>
              <a:t>Why</a:t>
            </a:r>
            <a:r>
              <a:rPr spc="-75" dirty="0"/>
              <a:t> </a:t>
            </a:r>
            <a:r>
              <a:rPr dirty="0"/>
              <a:t>UAV-</a:t>
            </a:r>
            <a:r>
              <a:rPr spc="-35" dirty="0"/>
              <a:t>Assisted</a:t>
            </a:r>
            <a:r>
              <a:rPr spc="-75" dirty="0"/>
              <a:t> </a:t>
            </a:r>
            <a:r>
              <a:rPr spc="35" dirty="0"/>
              <a:t>MEC?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3449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376108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717725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388029"/>
            <a:ext cx="266509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45" dirty="0">
                <a:solidFill>
                  <a:srgbClr val="003366"/>
                </a:solidFill>
                <a:latin typeface="Arial"/>
                <a:cs typeface="Arial"/>
              </a:rPr>
              <a:t>Challenges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1000" b="1" spc="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Urban</a:t>
            </a:r>
            <a:r>
              <a:rPr sz="10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3366"/>
                </a:solidFill>
                <a:latin typeface="Arial"/>
                <a:cs typeface="Arial"/>
              </a:rPr>
              <a:t>IoT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devices: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limited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20" dirty="0">
                <a:latin typeface="Tahoma"/>
                <a:cs typeface="Tahoma"/>
              </a:rPr>
              <a:t>battery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life</a:t>
            </a:r>
            <a:endParaRPr sz="1000">
              <a:latin typeface="Tahoma"/>
              <a:cs typeface="Tahoma"/>
            </a:endParaRPr>
          </a:p>
          <a:p>
            <a:pPr marL="265430" marR="205104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Urban</a:t>
            </a:r>
            <a:r>
              <a:rPr sz="1000" spc="-40" dirty="0">
                <a:latin typeface="Tahoma"/>
                <a:cs typeface="Tahoma"/>
              </a:rPr>
              <a:t> environments: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device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density</a:t>
            </a:r>
            <a:r>
              <a:rPr sz="1000" spc="-40" dirty="0">
                <a:latin typeface="Tahoma"/>
                <a:cs typeface="Tahoma"/>
              </a:rPr>
              <a:t>, </a:t>
            </a:r>
            <a:r>
              <a:rPr sz="1000" spc="-30" dirty="0">
                <a:latin typeface="Tahoma"/>
                <a:cs typeface="Tahoma"/>
              </a:rPr>
              <a:t>complex </a:t>
            </a:r>
            <a:r>
              <a:rPr sz="1000" spc="-10" dirty="0">
                <a:latin typeface="Tahoma"/>
                <a:cs typeface="Tahoma"/>
              </a:rPr>
              <a:t>infrastructure</a:t>
            </a:r>
            <a:endParaRPr sz="1000">
              <a:latin typeface="Tahoma"/>
              <a:cs typeface="Tahoma"/>
            </a:endParaRPr>
          </a:p>
          <a:p>
            <a:pPr marL="265430" marR="3048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barriers: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buildings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hinder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direct communication</a:t>
            </a:r>
            <a:endParaRPr sz="1000">
              <a:latin typeface="Tahoma"/>
              <a:cs typeface="Tahoma"/>
            </a:endParaRPr>
          </a:p>
          <a:p>
            <a:pPr marL="265430" marR="204470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infrastructure: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Costly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inflexible </a:t>
            </a:r>
            <a:r>
              <a:rPr sz="1000" spc="-10" dirty="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356" y="692873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2356" y="882662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2356" y="1072451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52356" y="1262227"/>
            <a:ext cx="59601" cy="5960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09481" y="388029"/>
            <a:ext cx="2480310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solidFill>
                  <a:srgbClr val="00994C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Advantages</a:t>
            </a:r>
            <a:endParaRPr sz="1000">
              <a:latin typeface="Arial"/>
              <a:cs typeface="Arial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dirty="0">
                <a:latin typeface="Tahoma"/>
                <a:cs typeface="Tahoma"/>
              </a:rPr>
              <a:t>Mobility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on-</a:t>
            </a:r>
            <a:r>
              <a:rPr sz="1000" spc="-45" dirty="0">
                <a:latin typeface="Tahoma"/>
                <a:cs typeface="Tahoma"/>
              </a:rPr>
              <a:t>demand</a:t>
            </a:r>
            <a:r>
              <a:rPr sz="1000" spc="-10" dirty="0">
                <a:latin typeface="Tahoma"/>
                <a:cs typeface="Tahoma"/>
              </a:rPr>
              <a:t> deployment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0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Line-</a:t>
            </a:r>
            <a:r>
              <a:rPr sz="1000" spc="-30" dirty="0">
                <a:latin typeface="Tahoma"/>
                <a:cs typeface="Tahoma"/>
              </a:rPr>
              <a:t>of-</a:t>
            </a:r>
            <a:r>
              <a:rPr sz="1000" spc="-10" dirty="0">
                <a:latin typeface="Tahoma"/>
                <a:cs typeface="Tahoma"/>
              </a:rPr>
              <a:t>sight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(LoS) </a:t>
            </a:r>
            <a:r>
              <a:rPr sz="1000" spc="-10" dirty="0">
                <a:latin typeface="Tahoma"/>
                <a:cs typeface="Tahoma"/>
              </a:rPr>
              <a:t>communication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10" dirty="0">
                <a:latin typeface="Tahoma"/>
                <a:cs typeface="Tahoma"/>
              </a:rPr>
              <a:t>Dynamic</a:t>
            </a:r>
            <a:r>
              <a:rPr sz="1000" spc="-25" dirty="0">
                <a:latin typeface="Tahoma"/>
                <a:cs typeface="Tahoma"/>
              </a:rPr>
              <a:t> adaptation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user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demands</a:t>
            </a:r>
            <a:endParaRPr sz="1000">
              <a:latin typeface="Tahoma"/>
              <a:cs typeface="Tahoma"/>
            </a:endParaRPr>
          </a:p>
          <a:p>
            <a:pPr marL="4121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12115" algn="l"/>
              </a:tabLst>
            </a:pPr>
            <a:r>
              <a:rPr sz="1000" spc="-35" dirty="0">
                <a:latin typeface="Tahoma"/>
                <a:cs typeface="Tahoma"/>
              </a:rPr>
              <a:t>Enhanced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coverage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obstructed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areas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990293"/>
            <a:ext cx="5760085" cy="912494"/>
            <a:chOff x="0" y="2332888"/>
            <a:chExt cx="5760085" cy="912494"/>
          </a:xfrm>
        </p:grpSpPr>
        <p:sp>
          <p:nvSpPr>
            <p:cNvPr id="14" name="object 14"/>
            <p:cNvSpPr/>
            <p:nvPr/>
          </p:nvSpPr>
          <p:spPr>
            <a:xfrm>
              <a:off x="1882825" y="2644533"/>
              <a:ext cx="1512570" cy="595630"/>
            </a:xfrm>
            <a:custGeom>
              <a:avLst/>
              <a:gdLst/>
              <a:ahLst/>
              <a:cxnLst/>
              <a:rect l="l" t="t" r="r" b="b"/>
              <a:pathLst>
                <a:path w="1512570" h="595630">
                  <a:moveTo>
                    <a:pt x="251993" y="126009"/>
                  </a:moveTo>
                  <a:lnTo>
                    <a:pt x="0" y="126009"/>
                  </a:lnTo>
                  <a:lnTo>
                    <a:pt x="0" y="595464"/>
                  </a:lnTo>
                  <a:lnTo>
                    <a:pt x="251993" y="595464"/>
                  </a:lnTo>
                  <a:lnTo>
                    <a:pt x="251993" y="126009"/>
                  </a:lnTo>
                  <a:close/>
                </a:path>
                <a:path w="1512570" h="595630">
                  <a:moveTo>
                    <a:pt x="756005" y="0"/>
                  </a:moveTo>
                  <a:lnTo>
                    <a:pt x="503999" y="0"/>
                  </a:lnTo>
                  <a:lnTo>
                    <a:pt x="503999" y="504088"/>
                  </a:lnTo>
                  <a:lnTo>
                    <a:pt x="756005" y="504088"/>
                  </a:lnTo>
                  <a:lnTo>
                    <a:pt x="756005" y="0"/>
                  </a:lnTo>
                  <a:close/>
                </a:path>
                <a:path w="1512570" h="595630">
                  <a:moveTo>
                    <a:pt x="1512011" y="252006"/>
                  </a:moveTo>
                  <a:lnTo>
                    <a:pt x="1260005" y="252006"/>
                  </a:lnTo>
                  <a:lnTo>
                    <a:pt x="1260005" y="504088"/>
                  </a:lnTo>
                  <a:lnTo>
                    <a:pt x="1512011" y="504088"/>
                  </a:lnTo>
                  <a:lnTo>
                    <a:pt x="1512011" y="252006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79188" y="2332888"/>
              <a:ext cx="119286" cy="1192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583576" y="3085273"/>
              <a:ext cx="127000" cy="63500"/>
            </a:xfrm>
            <a:custGeom>
              <a:avLst/>
              <a:gdLst/>
              <a:ahLst/>
              <a:cxnLst/>
              <a:rect l="l" t="t" r="r" b="b"/>
              <a:pathLst>
                <a:path w="127000" h="63500">
                  <a:moveTo>
                    <a:pt x="0" y="63348"/>
                  </a:moveTo>
                  <a:lnTo>
                    <a:pt x="126527" y="63348"/>
                  </a:lnTo>
                  <a:lnTo>
                    <a:pt x="126527" y="0"/>
                  </a:lnTo>
                  <a:lnTo>
                    <a:pt x="0" y="0"/>
                  </a:lnTo>
                  <a:lnTo>
                    <a:pt x="0" y="63348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09165" y="2445236"/>
              <a:ext cx="741680" cy="795020"/>
            </a:xfrm>
            <a:custGeom>
              <a:avLst/>
              <a:gdLst/>
              <a:ahLst/>
              <a:cxnLst/>
              <a:rect l="l" t="t" r="r" b="b"/>
              <a:pathLst>
                <a:path w="741680" h="795019">
                  <a:moveTo>
                    <a:pt x="0" y="794762"/>
                  </a:moveTo>
                  <a:lnTo>
                    <a:pt x="496728" y="0"/>
                  </a:lnTo>
                </a:path>
                <a:path w="741680" h="795019">
                  <a:moveTo>
                    <a:pt x="741536" y="794762"/>
                  </a:moveTo>
                  <a:lnTo>
                    <a:pt x="544758" y="7594"/>
                  </a:lnTo>
                </a:path>
              </a:pathLst>
            </a:custGeom>
            <a:ln w="10122">
              <a:solidFill>
                <a:srgbClr val="FF66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88583" y="2429817"/>
              <a:ext cx="885825" cy="664210"/>
            </a:xfrm>
            <a:custGeom>
              <a:avLst/>
              <a:gdLst/>
              <a:ahLst/>
              <a:cxnLst/>
              <a:rect l="l" t="t" r="r" b="b"/>
              <a:pathLst>
                <a:path w="885825" h="664210">
                  <a:moveTo>
                    <a:pt x="0" y="0"/>
                  </a:moveTo>
                  <a:lnTo>
                    <a:pt x="885306" y="664015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42311" y="3060937"/>
              <a:ext cx="35560" cy="42545"/>
            </a:xfrm>
            <a:custGeom>
              <a:avLst/>
              <a:gdLst/>
              <a:ahLst/>
              <a:cxnLst/>
              <a:rect l="l" t="t" r="r" b="b"/>
              <a:pathLst>
                <a:path w="35560" h="42544">
                  <a:moveTo>
                    <a:pt x="31579" y="0"/>
                  </a:moveTo>
                  <a:lnTo>
                    <a:pt x="29837" y="8748"/>
                  </a:lnTo>
                  <a:lnTo>
                    <a:pt x="30716" y="19654"/>
                  </a:lnTo>
                  <a:lnTo>
                    <a:pt x="33013" y="29698"/>
                  </a:lnTo>
                  <a:lnTo>
                    <a:pt x="35526" y="35855"/>
                  </a:lnTo>
                  <a:lnTo>
                    <a:pt x="28911" y="35166"/>
                  </a:lnTo>
                  <a:lnTo>
                    <a:pt x="18626" y="35773"/>
                  </a:lnTo>
                  <a:lnTo>
                    <a:pt x="7910" y="37983"/>
                  </a:lnTo>
                  <a:lnTo>
                    <a:pt x="0" y="42105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61996" y="2209694"/>
            <a:ext cx="1536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31252" y="3163737"/>
            <a:ext cx="168528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  <a:tabLst>
                <a:tab pos="1163320" algn="l"/>
                <a:tab pos="1658620" algn="l"/>
              </a:tabLst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1,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Feb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44645" y="3109661"/>
            <a:ext cx="10350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5" dirty="0">
                <a:latin typeface="Tahoma"/>
                <a:cs typeface="Tahoma"/>
              </a:rPr>
              <a:t>ES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r>
              <a:rPr spc="-20" dirty="0"/>
              <a:t>4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624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Survey: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State-of-the-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667" y="447547"/>
            <a:ext cx="1236980" cy="106680"/>
          </a:xfrm>
          <a:prstGeom prst="rect">
            <a:avLst/>
          </a:prstGeom>
          <a:solidFill>
            <a:srgbClr val="CCD6E0"/>
          </a:solidFill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720"/>
              </a:lnSpc>
            </a:pPr>
            <a:r>
              <a:rPr sz="700" b="1" spc="-35" dirty="0">
                <a:latin typeface="Arial"/>
                <a:cs typeface="Arial"/>
              </a:rPr>
              <a:t>Research</a:t>
            </a:r>
            <a:r>
              <a:rPr sz="700" b="1" spc="10" dirty="0">
                <a:latin typeface="Arial"/>
                <a:cs typeface="Arial"/>
              </a:rPr>
              <a:t> </a:t>
            </a:r>
            <a:r>
              <a:rPr sz="700" b="1" spc="-20" dirty="0">
                <a:latin typeface="Arial"/>
                <a:cs typeface="Arial"/>
              </a:rPr>
              <a:t>Area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1558" y="447547"/>
            <a:ext cx="1597025" cy="106680"/>
          </a:xfrm>
          <a:prstGeom prst="rect">
            <a:avLst/>
          </a:prstGeom>
          <a:solidFill>
            <a:srgbClr val="CCD6E0"/>
          </a:solidFill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720"/>
              </a:lnSpc>
            </a:pPr>
            <a:r>
              <a:rPr sz="700" b="1" dirty="0">
                <a:latin typeface="Arial"/>
                <a:cs typeface="Arial"/>
              </a:rPr>
              <a:t>Key</a:t>
            </a:r>
            <a:r>
              <a:rPr sz="700" b="1" spc="2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Contributions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8443" y="447547"/>
            <a:ext cx="1597025" cy="106680"/>
          </a:xfrm>
          <a:prstGeom prst="rect">
            <a:avLst/>
          </a:prstGeom>
          <a:solidFill>
            <a:srgbClr val="CCD6E0"/>
          </a:solidFill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720"/>
              </a:lnSpc>
            </a:pPr>
            <a:r>
              <a:rPr sz="700" b="1" spc="-10" dirty="0">
                <a:latin typeface="Arial"/>
                <a:cs typeface="Arial"/>
              </a:rPr>
              <a:t>Limitations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4667" y="556348"/>
            <a:ext cx="0" cy="581025"/>
          </a:xfrm>
          <a:custGeom>
            <a:avLst/>
            <a:gdLst/>
            <a:ahLst/>
            <a:cxnLst/>
            <a:rect l="l" t="t" r="r" b="b"/>
            <a:pathLst>
              <a:path h="581025">
                <a:moveTo>
                  <a:pt x="0" y="580898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1558" y="2760992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624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Survey: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State-of-the-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2139" y="445020"/>
          <a:ext cx="4431029" cy="1274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35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Area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7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Contributions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Limitations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spc="60" dirty="0">
                          <a:latin typeface="Tahoma"/>
                          <a:cs typeface="Tahoma"/>
                        </a:rPr>
                        <a:t>MEC</a:t>
                      </a:r>
                      <a:r>
                        <a:rPr sz="7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Task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Offloading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45021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Deep</a:t>
                      </a:r>
                      <a:r>
                        <a:rPr sz="7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RL</a:t>
                      </a:r>
                      <a:r>
                        <a:rPr sz="700" spc="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approaches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Service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caching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Delay</a:t>
                      </a:r>
                      <a:r>
                        <a:rPr sz="7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minimization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Assumes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connectivity;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not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suitable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urban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obstacles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0181" y="665175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0181" y="804354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0181" y="943533"/>
            <a:ext cx="59601" cy="596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901558" y="2760992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624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Survey: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State-of-the-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2139" y="445020"/>
          <a:ext cx="4431029" cy="185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35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Area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7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Contributions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Limitations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spc="60" dirty="0">
                          <a:latin typeface="Tahoma"/>
                          <a:cs typeface="Tahoma"/>
                        </a:rPr>
                        <a:t>MEC</a:t>
                      </a:r>
                      <a:r>
                        <a:rPr sz="7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Task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Offloading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45021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Deep</a:t>
                      </a:r>
                      <a:r>
                        <a:rPr sz="7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RL</a:t>
                      </a:r>
                      <a:r>
                        <a:rPr sz="700" spc="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approaches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Service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caching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Delay</a:t>
                      </a:r>
                      <a:r>
                        <a:rPr sz="7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minimization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Assumes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connectivity;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not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suitable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urban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obstacles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Single</a:t>
                      </a:r>
                      <a:r>
                        <a:rPr sz="700" spc="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UAV-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MEC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15938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UAV</a:t>
                      </a:r>
                      <a:r>
                        <a:rPr sz="7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as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computing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platform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Trajectory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optimization Resource</a:t>
                      </a:r>
                      <a:r>
                        <a:rPr sz="7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allocation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Limited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coverage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area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due to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battery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payload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constraints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0181" y="665175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0181" y="804354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0181" y="943533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0181" y="1251127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10181" y="1390306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0181" y="1529486"/>
            <a:ext cx="59601" cy="596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901558" y="2760992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624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Survey: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State-of-the-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2139" y="445020"/>
          <a:ext cx="4431029" cy="230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35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Area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7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Contributions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Limitations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spc="60" dirty="0">
                          <a:latin typeface="Tahoma"/>
                          <a:cs typeface="Tahoma"/>
                        </a:rPr>
                        <a:t>MEC</a:t>
                      </a:r>
                      <a:r>
                        <a:rPr sz="7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Task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Offloading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45021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Deep</a:t>
                      </a:r>
                      <a:r>
                        <a:rPr sz="7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RL</a:t>
                      </a:r>
                      <a:r>
                        <a:rPr sz="700" spc="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approaches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Service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caching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Delay</a:t>
                      </a:r>
                      <a:r>
                        <a:rPr sz="7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minimization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Assumes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connectivity;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not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suitable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urban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obstacles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Single</a:t>
                      </a:r>
                      <a:r>
                        <a:rPr sz="700" spc="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UAV-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MEC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15938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UAV</a:t>
                      </a:r>
                      <a:r>
                        <a:rPr sz="7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as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computing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platform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Trajectory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optimization Resource</a:t>
                      </a:r>
                      <a:r>
                        <a:rPr sz="7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allocation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Limited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coverage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area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due to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battery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payload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constraints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Multi-UAV</a:t>
                      </a:r>
                      <a:r>
                        <a:rPr sz="700" spc="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35" dirty="0">
                          <a:latin typeface="Tahoma"/>
                          <a:cs typeface="Tahoma"/>
                        </a:rPr>
                        <a:t>MEC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32067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Multi-UAV</a:t>
                      </a:r>
                      <a:r>
                        <a:rPr sz="700" spc="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coordination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UAV-BS</a:t>
                      </a:r>
                      <a:r>
                        <a:rPr sz="700" spc="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collaboration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QoS</a:t>
                      </a:r>
                      <a:r>
                        <a:rPr sz="700" spc="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improvements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Focus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only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700" spc="4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perspective;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neglect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SP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0181" y="665175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0181" y="804354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0181" y="943533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0181" y="1251127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10181" y="1390306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0181" y="1529486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10181" y="1837080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10181" y="1976259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10181" y="2115438"/>
            <a:ext cx="59601" cy="596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901558" y="2760992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5" name="object 15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624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Survey: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State-of-the-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2139" y="445020"/>
          <a:ext cx="4431029" cy="248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35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Area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7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Contributions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Limitations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spc="60" dirty="0">
                          <a:latin typeface="Tahoma"/>
                          <a:cs typeface="Tahoma"/>
                        </a:rPr>
                        <a:t>MEC</a:t>
                      </a:r>
                      <a:r>
                        <a:rPr sz="7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Task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Offloading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45021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Deep</a:t>
                      </a:r>
                      <a:r>
                        <a:rPr sz="7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RL</a:t>
                      </a:r>
                      <a:r>
                        <a:rPr sz="700" spc="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approaches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Service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caching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Delay</a:t>
                      </a:r>
                      <a:r>
                        <a:rPr sz="7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minimization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Assumes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connectivity;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not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suitable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urban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obstacles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Single</a:t>
                      </a:r>
                      <a:r>
                        <a:rPr sz="700" spc="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UAV-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MEC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15938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UAV</a:t>
                      </a:r>
                      <a:r>
                        <a:rPr sz="7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as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computing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platform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Trajectory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optimization Resource</a:t>
                      </a:r>
                      <a:r>
                        <a:rPr sz="7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allocation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Limited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coverage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area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due to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battery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payload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constraints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Multi-UAV</a:t>
                      </a:r>
                      <a:r>
                        <a:rPr sz="700" spc="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35" dirty="0">
                          <a:latin typeface="Tahoma"/>
                          <a:cs typeface="Tahoma"/>
                        </a:rPr>
                        <a:t>MEC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32067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Multi-UAV</a:t>
                      </a:r>
                      <a:r>
                        <a:rPr sz="700" spc="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coordination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UAV-BS</a:t>
                      </a:r>
                      <a:r>
                        <a:rPr sz="700" spc="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collaboration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QoS</a:t>
                      </a:r>
                      <a:r>
                        <a:rPr sz="700" spc="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improvements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Focus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only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700" spc="4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perspective;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neglect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SP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Matching</a:t>
                      </a:r>
                      <a:r>
                        <a:rPr sz="7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Theory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46164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Two-sided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matching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Stable</a:t>
                      </a:r>
                      <a:r>
                        <a:rPr sz="7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allocations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No</a:t>
                      </a:r>
                      <a:r>
                        <a:rPr sz="700" spc="8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three-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sided</a:t>
                      </a:r>
                      <a:r>
                        <a:rPr sz="700" spc="8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matching</a:t>
                      </a:r>
                      <a:r>
                        <a:rPr sz="700" spc="8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sz="700" spc="9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cyclic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preferences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0181" y="665175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0181" y="804354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0181" y="943533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0181" y="1251127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10181" y="1390306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0181" y="1529486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10181" y="1837080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10181" y="1976259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10181" y="2115438"/>
            <a:ext cx="59601" cy="596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10181" y="2423032"/>
            <a:ext cx="59601" cy="596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10181" y="2562212"/>
            <a:ext cx="59601" cy="5960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624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Survey: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State-of-the-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281283"/>
              </p:ext>
            </p:extLst>
          </p:nvPr>
        </p:nvGraphicFramePr>
        <p:xfrm>
          <a:off x="662139" y="445019"/>
          <a:ext cx="4431029" cy="2549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871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35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Area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7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Contributions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Limitations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69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spc="60" dirty="0">
                          <a:latin typeface="Tahoma"/>
                          <a:cs typeface="Tahoma"/>
                        </a:rPr>
                        <a:t>MEC</a:t>
                      </a:r>
                      <a:r>
                        <a:rPr sz="7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Task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Offloading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45021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Deep</a:t>
                      </a:r>
                      <a:r>
                        <a:rPr sz="7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RL</a:t>
                      </a:r>
                      <a:r>
                        <a:rPr sz="700" spc="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approaches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Service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caching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Delay</a:t>
                      </a:r>
                      <a:r>
                        <a:rPr sz="7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minimization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Assumes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connectivity;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not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suitable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urban</a:t>
                      </a:r>
                      <a:r>
                        <a:rPr sz="7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obstacles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069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Single</a:t>
                      </a:r>
                      <a:r>
                        <a:rPr sz="700" spc="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UAV-</a:t>
                      </a:r>
                      <a:r>
                        <a:rPr sz="700" spc="30" dirty="0">
                          <a:latin typeface="Tahoma"/>
                          <a:cs typeface="Tahoma"/>
                        </a:rPr>
                        <a:t>MEC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15938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UAV</a:t>
                      </a:r>
                      <a:r>
                        <a:rPr sz="7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as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computing</a:t>
                      </a:r>
                      <a:r>
                        <a:rPr sz="7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platform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Trajectory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optimization Resource</a:t>
                      </a:r>
                      <a:r>
                        <a:rPr sz="7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allocation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Limited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coverage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area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due to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battery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7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payload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constraints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069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Multi-UAV</a:t>
                      </a:r>
                      <a:r>
                        <a:rPr sz="700" spc="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35" dirty="0">
                          <a:latin typeface="Tahoma"/>
                          <a:cs typeface="Tahoma"/>
                        </a:rPr>
                        <a:t>MEC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32067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Multi-UAV</a:t>
                      </a:r>
                      <a:r>
                        <a:rPr sz="700" spc="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coordination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UAV-BS</a:t>
                      </a:r>
                      <a:r>
                        <a:rPr sz="700" spc="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collaboration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QoS</a:t>
                      </a:r>
                      <a:r>
                        <a:rPr sz="700" spc="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improvements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Focus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only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700" spc="4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700" spc="4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perspective;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neglect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SP</a:t>
                      </a:r>
                      <a:r>
                        <a:rPr sz="7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299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Matching</a:t>
                      </a:r>
                      <a:r>
                        <a:rPr sz="7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Theory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 marR="461645">
                        <a:lnSpc>
                          <a:spcPct val="130500"/>
                        </a:lnSpc>
                        <a:spcBef>
                          <a:spcPts val="409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Two-sided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matching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Stable</a:t>
                      </a:r>
                      <a:r>
                        <a:rPr sz="7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allocations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695"/>
                        </a:lnSpc>
                      </a:pP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No</a:t>
                      </a:r>
                      <a:r>
                        <a:rPr sz="700" spc="8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three-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sided</a:t>
                      </a:r>
                      <a:r>
                        <a:rPr sz="700" spc="8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matching</a:t>
                      </a:r>
                      <a:r>
                        <a:rPr sz="700" spc="8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sz="700" spc="9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cyclic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78105">
                        <a:lnSpc>
                          <a:spcPts val="819"/>
                        </a:lnSpc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preferences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6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0181" y="665175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0181" y="804354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0181" y="943533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0181" y="1251127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10181" y="1390306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0181" y="1529486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10181" y="1837080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10181" y="1976259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10181" y="2115438"/>
            <a:ext cx="59601" cy="596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10181" y="2423032"/>
            <a:ext cx="59601" cy="596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10181" y="2562212"/>
            <a:ext cx="59601" cy="5960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75729" y="3167633"/>
              <a:ext cx="5608955" cy="72390"/>
            </a:xfrm>
            <a:custGeom>
              <a:avLst/>
              <a:gdLst/>
              <a:ahLst/>
              <a:cxnLst/>
              <a:rect l="l" t="t" r="r" b="b"/>
              <a:pathLst>
                <a:path w="5608955" h="72389">
                  <a:moveTo>
                    <a:pt x="555781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2364"/>
                  </a:lnTo>
                  <a:lnTo>
                    <a:pt x="5608620" y="72364"/>
                  </a:lnTo>
                  <a:lnTo>
                    <a:pt x="5608620" y="50800"/>
                  </a:lnTo>
                  <a:lnTo>
                    <a:pt x="5604611" y="31075"/>
                  </a:lnTo>
                  <a:lnTo>
                    <a:pt x="5593697" y="14922"/>
                  </a:lnTo>
                  <a:lnTo>
                    <a:pt x="5577544" y="4008"/>
                  </a:lnTo>
                  <a:lnTo>
                    <a:pt x="5557819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31252" y="3163737"/>
            <a:ext cx="168528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Vol.</a:t>
            </a:r>
            <a:r>
              <a:rPr sz="500" spc="6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22,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No.</a:t>
            </a:r>
            <a:r>
              <a:rPr sz="500" spc="6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1,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300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Proposed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Approach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vs.</a:t>
            </a:r>
            <a:r>
              <a:rPr sz="14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State-of-the-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09947" y="470377"/>
            <a:ext cx="2225675" cy="1945005"/>
            <a:chOff x="2009947" y="470377"/>
            <a:chExt cx="2225675" cy="1945005"/>
          </a:xfrm>
        </p:grpSpPr>
        <p:sp>
          <p:nvSpPr>
            <p:cNvPr id="4" name="object 4"/>
            <p:cNvSpPr/>
            <p:nvPr/>
          </p:nvSpPr>
          <p:spPr>
            <a:xfrm>
              <a:off x="2012487" y="471647"/>
              <a:ext cx="2220595" cy="1942464"/>
            </a:xfrm>
            <a:custGeom>
              <a:avLst/>
              <a:gdLst/>
              <a:ahLst/>
              <a:cxnLst/>
              <a:rect l="l" t="t" r="r" b="b"/>
              <a:pathLst>
                <a:path w="2220595" h="1942464">
                  <a:moveTo>
                    <a:pt x="185053" y="1941946"/>
                  </a:moveTo>
                  <a:lnTo>
                    <a:pt x="185053" y="1893344"/>
                  </a:lnTo>
                </a:path>
                <a:path w="2220595" h="1942464">
                  <a:moveTo>
                    <a:pt x="801861" y="1941946"/>
                  </a:moveTo>
                  <a:lnTo>
                    <a:pt x="801861" y="1893344"/>
                  </a:lnTo>
                </a:path>
                <a:path w="2220595" h="1942464">
                  <a:moveTo>
                    <a:pt x="1418670" y="1941946"/>
                  </a:moveTo>
                  <a:lnTo>
                    <a:pt x="1418670" y="1893344"/>
                  </a:lnTo>
                </a:path>
                <a:path w="2220595" h="1942464">
                  <a:moveTo>
                    <a:pt x="2035478" y="1941946"/>
                  </a:moveTo>
                  <a:lnTo>
                    <a:pt x="2035478" y="1893344"/>
                  </a:lnTo>
                </a:path>
                <a:path w="2220595" h="1942464">
                  <a:moveTo>
                    <a:pt x="185053" y="0"/>
                  </a:moveTo>
                  <a:lnTo>
                    <a:pt x="185053" y="48601"/>
                  </a:lnTo>
                </a:path>
                <a:path w="2220595" h="1942464">
                  <a:moveTo>
                    <a:pt x="801861" y="0"/>
                  </a:moveTo>
                  <a:lnTo>
                    <a:pt x="801861" y="48601"/>
                  </a:lnTo>
                </a:path>
                <a:path w="2220595" h="1942464">
                  <a:moveTo>
                    <a:pt x="1418670" y="0"/>
                  </a:moveTo>
                  <a:lnTo>
                    <a:pt x="1418670" y="48601"/>
                  </a:lnTo>
                </a:path>
                <a:path w="2220595" h="1942464">
                  <a:moveTo>
                    <a:pt x="2035478" y="0"/>
                  </a:moveTo>
                  <a:lnTo>
                    <a:pt x="2035478" y="48601"/>
                  </a:lnTo>
                </a:path>
                <a:path w="2220595" h="1942464">
                  <a:moveTo>
                    <a:pt x="0" y="1893344"/>
                  </a:moveTo>
                  <a:lnTo>
                    <a:pt x="48601" y="1893344"/>
                  </a:lnTo>
                </a:path>
                <a:path w="2220595" h="1942464">
                  <a:moveTo>
                    <a:pt x="0" y="1278430"/>
                  </a:moveTo>
                  <a:lnTo>
                    <a:pt x="48601" y="1278430"/>
                  </a:lnTo>
                </a:path>
                <a:path w="2220595" h="1942464">
                  <a:moveTo>
                    <a:pt x="0" y="663516"/>
                  </a:moveTo>
                  <a:lnTo>
                    <a:pt x="48601" y="663516"/>
                  </a:lnTo>
                </a:path>
                <a:path w="2220595" h="1942464">
                  <a:moveTo>
                    <a:pt x="0" y="48601"/>
                  </a:moveTo>
                  <a:lnTo>
                    <a:pt x="48601" y="48601"/>
                  </a:lnTo>
                </a:path>
                <a:path w="2220595" h="1942464">
                  <a:moveTo>
                    <a:pt x="2220531" y="1893344"/>
                  </a:moveTo>
                  <a:lnTo>
                    <a:pt x="2171930" y="1893344"/>
                  </a:lnTo>
                </a:path>
                <a:path w="2220595" h="1942464">
                  <a:moveTo>
                    <a:pt x="2220531" y="1278430"/>
                  </a:moveTo>
                  <a:lnTo>
                    <a:pt x="2171930" y="1278430"/>
                  </a:lnTo>
                </a:path>
                <a:path w="2220595" h="1942464">
                  <a:moveTo>
                    <a:pt x="2220531" y="663516"/>
                  </a:moveTo>
                  <a:lnTo>
                    <a:pt x="2171930" y="663516"/>
                  </a:lnTo>
                </a:path>
                <a:path w="2220595" h="1942464">
                  <a:moveTo>
                    <a:pt x="2220531" y="48601"/>
                  </a:moveTo>
                  <a:lnTo>
                    <a:pt x="2171930" y="48601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2487" y="520249"/>
              <a:ext cx="2220595" cy="1845310"/>
            </a:xfrm>
            <a:custGeom>
              <a:avLst/>
              <a:gdLst/>
              <a:ahLst/>
              <a:cxnLst/>
              <a:rect l="l" t="t" r="r" b="b"/>
              <a:pathLst>
                <a:path w="2220595" h="1845310">
                  <a:moveTo>
                    <a:pt x="0" y="1844742"/>
                  </a:moveTo>
                  <a:lnTo>
                    <a:pt x="0" y="0"/>
                  </a:lnTo>
                  <a:lnTo>
                    <a:pt x="2220531" y="0"/>
                  </a:lnTo>
                  <a:lnTo>
                    <a:pt x="2220531" y="1844742"/>
                  </a:lnTo>
                  <a:lnTo>
                    <a:pt x="0" y="1844742"/>
                  </a:lnTo>
                  <a:close/>
                </a:path>
              </a:pathLst>
            </a:custGeom>
            <a:ln w="4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 rot="20760000">
            <a:off x="1863421" y="2440677"/>
            <a:ext cx="305743" cy="5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0"/>
              </a:lnSpc>
            </a:pPr>
            <a:r>
              <a:rPr sz="450" spc="-10" dirty="0">
                <a:latin typeface="Tahoma"/>
                <a:cs typeface="Tahoma"/>
              </a:rPr>
              <a:t>Served</a:t>
            </a:r>
            <a:r>
              <a:rPr sz="450" spc="15" dirty="0">
                <a:latin typeface="Tahoma"/>
                <a:cs typeface="Tahoma"/>
              </a:rPr>
              <a:t> </a:t>
            </a:r>
            <a:r>
              <a:rPr sz="675" spc="-30" baseline="6172" dirty="0">
                <a:latin typeface="Tahoma"/>
                <a:cs typeface="Tahoma"/>
              </a:rPr>
              <a:t>IoTs</a:t>
            </a:r>
            <a:endParaRPr sz="675" baseline="6172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 rot="20760000">
            <a:off x="2355475" y="2457738"/>
            <a:ext cx="431788" cy="5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0"/>
              </a:lnSpc>
            </a:pPr>
            <a:r>
              <a:rPr sz="450" dirty="0">
                <a:latin typeface="Tahoma"/>
                <a:cs typeface="Tahoma"/>
              </a:rPr>
              <a:t>User</a:t>
            </a:r>
            <a:r>
              <a:rPr sz="450" spc="-10" dirty="0">
                <a:latin typeface="Tahoma"/>
                <a:cs typeface="Tahoma"/>
              </a:rPr>
              <a:t> Satisfaction</a:t>
            </a:r>
            <a:endParaRPr sz="4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 rot="20760000">
            <a:off x="3157826" y="2432296"/>
            <a:ext cx="244269" cy="5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4"/>
              </a:lnSpc>
            </a:pPr>
            <a:r>
              <a:rPr sz="450" dirty="0">
                <a:latin typeface="Tahoma"/>
                <a:cs typeface="Tahoma"/>
              </a:rPr>
              <a:t>SP</a:t>
            </a:r>
            <a:r>
              <a:rPr sz="450" spc="75" dirty="0">
                <a:latin typeface="Tahoma"/>
                <a:cs typeface="Tahoma"/>
              </a:rPr>
              <a:t> </a:t>
            </a:r>
            <a:r>
              <a:rPr sz="450" spc="-10" dirty="0">
                <a:latin typeface="Tahoma"/>
                <a:cs typeface="Tahoma"/>
              </a:rPr>
              <a:t>Profit</a:t>
            </a:r>
            <a:endParaRPr sz="4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 rot="20760000">
            <a:off x="3637867" y="2445535"/>
            <a:ext cx="380867" cy="5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0"/>
              </a:lnSpc>
            </a:pPr>
            <a:r>
              <a:rPr sz="450" dirty="0">
                <a:latin typeface="Tahoma"/>
                <a:cs typeface="Tahoma"/>
              </a:rPr>
              <a:t>UAV</a:t>
            </a:r>
            <a:r>
              <a:rPr sz="450" spc="65" dirty="0">
                <a:latin typeface="Tahoma"/>
                <a:cs typeface="Tahoma"/>
              </a:rPr>
              <a:t> </a:t>
            </a:r>
            <a:r>
              <a:rPr sz="450" spc="-10" dirty="0">
                <a:latin typeface="Tahoma"/>
                <a:cs typeface="Tahoma"/>
              </a:rPr>
              <a:t>Efficiency</a:t>
            </a:r>
            <a:endParaRPr sz="4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2622" y="2275750"/>
            <a:ext cx="825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5689" y="1660839"/>
            <a:ext cx="1397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10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5689" y="1045928"/>
            <a:ext cx="1397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20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5689" y="431028"/>
            <a:ext cx="1397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30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09857" y="825429"/>
            <a:ext cx="2026285" cy="1542415"/>
            <a:chOff x="2109857" y="825429"/>
            <a:chExt cx="2026285" cy="1542415"/>
          </a:xfrm>
        </p:grpSpPr>
        <p:sp>
          <p:nvSpPr>
            <p:cNvPr id="15" name="object 15"/>
            <p:cNvSpPr/>
            <p:nvPr/>
          </p:nvSpPr>
          <p:spPr>
            <a:xfrm>
              <a:off x="2112124" y="827709"/>
              <a:ext cx="2021839" cy="1537335"/>
            </a:xfrm>
            <a:custGeom>
              <a:avLst/>
              <a:gdLst/>
              <a:ahLst/>
              <a:cxnLst/>
              <a:rect l="l" t="t" r="r" b="b"/>
              <a:pathLst>
                <a:path w="2021839" h="1537335">
                  <a:moveTo>
                    <a:pt x="170815" y="368947"/>
                  </a:moveTo>
                  <a:lnTo>
                    <a:pt x="0" y="368947"/>
                  </a:lnTo>
                  <a:lnTo>
                    <a:pt x="0" y="1537284"/>
                  </a:lnTo>
                  <a:lnTo>
                    <a:pt x="170815" y="1537284"/>
                  </a:lnTo>
                  <a:lnTo>
                    <a:pt x="170815" y="368947"/>
                  </a:lnTo>
                  <a:close/>
                </a:path>
                <a:path w="2021839" h="1537335">
                  <a:moveTo>
                    <a:pt x="787628" y="799388"/>
                  </a:moveTo>
                  <a:lnTo>
                    <a:pt x="616813" y="799388"/>
                  </a:lnTo>
                  <a:lnTo>
                    <a:pt x="616813" y="1537284"/>
                  </a:lnTo>
                  <a:lnTo>
                    <a:pt x="787628" y="1537284"/>
                  </a:lnTo>
                  <a:lnTo>
                    <a:pt x="787628" y="799388"/>
                  </a:lnTo>
                  <a:close/>
                </a:path>
                <a:path w="2021839" h="1537335">
                  <a:moveTo>
                    <a:pt x="1404429" y="0"/>
                  </a:moveTo>
                  <a:lnTo>
                    <a:pt x="1233627" y="0"/>
                  </a:lnTo>
                  <a:lnTo>
                    <a:pt x="1233627" y="1537284"/>
                  </a:lnTo>
                  <a:lnTo>
                    <a:pt x="1404429" y="1537284"/>
                  </a:lnTo>
                  <a:lnTo>
                    <a:pt x="1404429" y="0"/>
                  </a:lnTo>
                  <a:close/>
                </a:path>
                <a:path w="2021839" h="1537335">
                  <a:moveTo>
                    <a:pt x="2021243" y="0"/>
                  </a:moveTo>
                  <a:lnTo>
                    <a:pt x="1850428" y="0"/>
                  </a:lnTo>
                  <a:lnTo>
                    <a:pt x="1850428" y="1537284"/>
                  </a:lnTo>
                  <a:lnTo>
                    <a:pt x="2021243" y="1537284"/>
                  </a:lnTo>
                  <a:lnTo>
                    <a:pt x="2021243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12134" y="827706"/>
              <a:ext cx="2021839" cy="1537335"/>
            </a:xfrm>
            <a:custGeom>
              <a:avLst/>
              <a:gdLst/>
              <a:ahLst/>
              <a:cxnLst/>
              <a:rect l="l" t="t" r="r" b="b"/>
              <a:pathLst>
                <a:path w="2021839" h="1537335">
                  <a:moveTo>
                    <a:pt x="0" y="1537285"/>
                  </a:moveTo>
                  <a:lnTo>
                    <a:pt x="170811" y="1537285"/>
                  </a:lnTo>
                  <a:lnTo>
                    <a:pt x="170811" y="368948"/>
                  </a:lnTo>
                  <a:lnTo>
                    <a:pt x="0" y="368948"/>
                  </a:lnTo>
                  <a:lnTo>
                    <a:pt x="0" y="1537285"/>
                  </a:lnTo>
                  <a:close/>
                </a:path>
                <a:path w="2021839" h="1537335">
                  <a:moveTo>
                    <a:pt x="616808" y="1537285"/>
                  </a:moveTo>
                  <a:lnTo>
                    <a:pt x="787619" y="1537285"/>
                  </a:lnTo>
                  <a:lnTo>
                    <a:pt x="787619" y="799388"/>
                  </a:lnTo>
                  <a:lnTo>
                    <a:pt x="616808" y="799388"/>
                  </a:lnTo>
                  <a:lnTo>
                    <a:pt x="616808" y="1537285"/>
                  </a:lnTo>
                  <a:close/>
                </a:path>
                <a:path w="2021839" h="1537335">
                  <a:moveTo>
                    <a:pt x="1233616" y="1537285"/>
                  </a:moveTo>
                  <a:lnTo>
                    <a:pt x="1404428" y="1537285"/>
                  </a:lnTo>
                  <a:lnTo>
                    <a:pt x="1404428" y="0"/>
                  </a:lnTo>
                  <a:lnTo>
                    <a:pt x="1233616" y="0"/>
                  </a:lnTo>
                  <a:lnTo>
                    <a:pt x="1233616" y="1537285"/>
                  </a:lnTo>
                  <a:close/>
                </a:path>
                <a:path w="2021839" h="1537335">
                  <a:moveTo>
                    <a:pt x="1850424" y="1537285"/>
                  </a:moveTo>
                  <a:lnTo>
                    <a:pt x="2021236" y="1537285"/>
                  </a:lnTo>
                  <a:lnTo>
                    <a:pt x="2021236" y="0"/>
                  </a:lnTo>
                  <a:lnTo>
                    <a:pt x="1850424" y="0"/>
                  </a:lnTo>
                  <a:lnTo>
                    <a:pt x="1850424" y="1537285"/>
                  </a:lnTo>
                  <a:close/>
                </a:path>
              </a:pathLst>
            </a:custGeom>
            <a:ln w="4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54596" y="1086805"/>
            <a:ext cx="86360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latin typeface="Tahoma"/>
                <a:cs typeface="Tahoma"/>
              </a:rPr>
              <a:t>19</a:t>
            </a:r>
            <a:endParaRPr sz="4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71394" y="1517236"/>
            <a:ext cx="86360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latin typeface="Tahoma"/>
                <a:cs typeface="Tahoma"/>
              </a:rPr>
              <a:t>12</a:t>
            </a:r>
            <a:endParaRPr sz="4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8202" y="717856"/>
            <a:ext cx="86360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latin typeface="Tahoma"/>
                <a:cs typeface="Tahoma"/>
              </a:rPr>
              <a:t>25</a:t>
            </a:r>
            <a:endParaRPr sz="4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04999" y="717856"/>
            <a:ext cx="86360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latin typeface="Tahoma"/>
                <a:cs typeface="Tahoma"/>
              </a:rPr>
              <a:t>25</a:t>
            </a:r>
            <a:endParaRPr sz="4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48973" y="750591"/>
            <a:ext cx="128905" cy="1384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75"/>
              </a:lnSpc>
            </a:pPr>
            <a:r>
              <a:rPr sz="800" spc="-30" dirty="0">
                <a:latin typeface="Arial MT"/>
                <a:cs typeface="Arial MT"/>
              </a:rPr>
              <a:t>Performance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Improvement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(%)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88523" y="2641692"/>
            <a:ext cx="1068705" cy="192405"/>
            <a:chOff x="2588523" y="2641692"/>
            <a:chExt cx="1068705" cy="192405"/>
          </a:xfrm>
        </p:grpSpPr>
        <p:sp>
          <p:nvSpPr>
            <p:cNvPr id="23" name="object 23"/>
            <p:cNvSpPr/>
            <p:nvPr/>
          </p:nvSpPr>
          <p:spPr>
            <a:xfrm>
              <a:off x="2590800" y="2643970"/>
              <a:ext cx="1064260" cy="187325"/>
            </a:xfrm>
            <a:custGeom>
              <a:avLst/>
              <a:gdLst/>
              <a:ahLst/>
              <a:cxnLst/>
              <a:rect l="l" t="t" r="r" b="b"/>
              <a:pathLst>
                <a:path w="1064260" h="187325">
                  <a:moveTo>
                    <a:pt x="0" y="187259"/>
                  </a:moveTo>
                  <a:lnTo>
                    <a:pt x="1063904" y="187259"/>
                  </a:lnTo>
                  <a:lnTo>
                    <a:pt x="1063904" y="0"/>
                  </a:lnTo>
                  <a:lnTo>
                    <a:pt x="0" y="0"/>
                  </a:lnTo>
                  <a:lnTo>
                    <a:pt x="0" y="187259"/>
                  </a:lnTo>
                  <a:close/>
                </a:path>
              </a:pathLst>
            </a:custGeom>
            <a:ln w="4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27223" y="2669285"/>
              <a:ext cx="102870" cy="91440"/>
            </a:xfrm>
            <a:custGeom>
              <a:avLst/>
              <a:gdLst/>
              <a:ahLst/>
              <a:cxnLst/>
              <a:rect l="l" t="t" r="r" b="b"/>
              <a:pathLst>
                <a:path w="102869" h="91439">
                  <a:moveTo>
                    <a:pt x="34163" y="0"/>
                  </a:moveTo>
                  <a:lnTo>
                    <a:pt x="0" y="0"/>
                  </a:lnTo>
                  <a:lnTo>
                    <a:pt x="0" y="91097"/>
                  </a:lnTo>
                  <a:lnTo>
                    <a:pt x="34163" y="91097"/>
                  </a:lnTo>
                  <a:lnTo>
                    <a:pt x="34163" y="0"/>
                  </a:lnTo>
                  <a:close/>
                </a:path>
                <a:path w="102869" h="91439">
                  <a:moveTo>
                    <a:pt x="102489" y="22771"/>
                  </a:moveTo>
                  <a:lnTo>
                    <a:pt x="68326" y="22771"/>
                  </a:lnTo>
                  <a:lnTo>
                    <a:pt x="68326" y="91097"/>
                  </a:lnTo>
                  <a:lnTo>
                    <a:pt x="102489" y="91097"/>
                  </a:lnTo>
                  <a:lnTo>
                    <a:pt x="102489" y="22771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27235" y="2669273"/>
              <a:ext cx="102870" cy="91440"/>
            </a:xfrm>
            <a:custGeom>
              <a:avLst/>
              <a:gdLst/>
              <a:ahLst/>
              <a:cxnLst/>
              <a:rect l="l" t="t" r="r" b="b"/>
              <a:pathLst>
                <a:path w="102869" h="91439">
                  <a:moveTo>
                    <a:pt x="0" y="91099"/>
                  </a:moveTo>
                  <a:lnTo>
                    <a:pt x="34162" y="91099"/>
                  </a:lnTo>
                  <a:lnTo>
                    <a:pt x="34162" y="0"/>
                  </a:lnTo>
                  <a:lnTo>
                    <a:pt x="0" y="0"/>
                  </a:lnTo>
                  <a:lnTo>
                    <a:pt x="0" y="91099"/>
                  </a:lnTo>
                  <a:close/>
                </a:path>
                <a:path w="102869" h="91439">
                  <a:moveTo>
                    <a:pt x="68324" y="91099"/>
                  </a:moveTo>
                  <a:lnTo>
                    <a:pt x="102487" y="91099"/>
                  </a:lnTo>
                  <a:lnTo>
                    <a:pt x="102487" y="22774"/>
                  </a:lnTo>
                  <a:lnTo>
                    <a:pt x="68324" y="22774"/>
                  </a:lnTo>
                  <a:lnTo>
                    <a:pt x="68324" y="91099"/>
                  </a:lnTo>
                  <a:close/>
                </a:path>
              </a:pathLst>
            </a:custGeom>
            <a:ln w="4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661397" y="2642024"/>
            <a:ext cx="991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Proposed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Scheme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5729" y="296007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6530" y="2988525"/>
            <a:ext cx="11328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Achievements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3017009"/>
            <a:ext cx="5760085" cy="223520"/>
            <a:chOff x="0" y="3017009"/>
            <a:chExt cx="5760085" cy="2235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3145790"/>
              <a:ext cx="5608620" cy="5060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26530" y="3017009"/>
              <a:ext cx="5608955" cy="223520"/>
            </a:xfrm>
            <a:custGeom>
              <a:avLst/>
              <a:gdLst/>
              <a:ahLst/>
              <a:cxnLst/>
              <a:rect l="l" t="t" r="r" b="b"/>
              <a:pathLst>
                <a:path w="5608955" h="223519">
                  <a:moveTo>
                    <a:pt x="5608620" y="0"/>
                  </a:moveTo>
                  <a:lnTo>
                    <a:pt x="0" y="0"/>
                  </a:lnTo>
                  <a:lnTo>
                    <a:pt x="0" y="222989"/>
                  </a:lnTo>
                  <a:lnTo>
                    <a:pt x="5608620" y="222989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9973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39946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31252" y="3163737"/>
            <a:ext cx="168528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Vol.</a:t>
            </a:r>
            <a:r>
              <a:rPr sz="500" spc="6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22,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No.</a:t>
            </a:r>
            <a:r>
              <a:rPr sz="500" spc="6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1,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r>
              <a:rPr spc="-20" dirty="0"/>
              <a:t>6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253" y="466922"/>
            <a:ext cx="1668145" cy="5194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48385" y="1368824"/>
            <a:ext cx="1733550" cy="742315"/>
            <a:chOff x="3248385" y="1368824"/>
            <a:chExt cx="1733550" cy="742315"/>
          </a:xfrm>
        </p:grpSpPr>
        <p:sp>
          <p:nvSpPr>
            <p:cNvPr id="6" name="object 6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94926" y="1368831"/>
              <a:ext cx="1555750" cy="595630"/>
            </a:xfrm>
            <a:custGeom>
              <a:avLst/>
              <a:gdLst/>
              <a:ahLst/>
              <a:cxnLst/>
              <a:rect l="l" t="t" r="r" b="b"/>
              <a:pathLst>
                <a:path w="1555750" h="595630">
                  <a:moveTo>
                    <a:pt x="115201" y="165379"/>
                  </a:moveTo>
                  <a:lnTo>
                    <a:pt x="0" y="165379"/>
                  </a:lnTo>
                  <a:lnTo>
                    <a:pt x="0" y="595439"/>
                  </a:lnTo>
                  <a:lnTo>
                    <a:pt x="115201" y="595439"/>
                  </a:lnTo>
                  <a:lnTo>
                    <a:pt x="115201" y="165379"/>
                  </a:lnTo>
                  <a:close/>
                </a:path>
                <a:path w="1555750" h="595630">
                  <a:moveTo>
                    <a:pt x="547204" y="352844"/>
                  </a:moveTo>
                  <a:lnTo>
                    <a:pt x="432003" y="352844"/>
                  </a:lnTo>
                  <a:lnTo>
                    <a:pt x="432003" y="595439"/>
                  </a:lnTo>
                  <a:lnTo>
                    <a:pt x="547204" y="595439"/>
                  </a:lnTo>
                  <a:lnTo>
                    <a:pt x="547204" y="352844"/>
                  </a:lnTo>
                  <a:close/>
                </a:path>
                <a:path w="1555750" h="595630">
                  <a:moveTo>
                    <a:pt x="1123213" y="0"/>
                  </a:moveTo>
                  <a:lnTo>
                    <a:pt x="1008011" y="0"/>
                  </a:lnTo>
                  <a:lnTo>
                    <a:pt x="1008011" y="595439"/>
                  </a:lnTo>
                  <a:lnTo>
                    <a:pt x="1123213" y="595439"/>
                  </a:lnTo>
                  <a:lnTo>
                    <a:pt x="1123213" y="0"/>
                  </a:lnTo>
                  <a:close/>
                </a:path>
                <a:path w="1555750" h="595630">
                  <a:moveTo>
                    <a:pt x="1555216" y="152590"/>
                  </a:moveTo>
                  <a:lnTo>
                    <a:pt x="1440014" y="152590"/>
                  </a:lnTo>
                  <a:lnTo>
                    <a:pt x="1440014" y="595439"/>
                  </a:lnTo>
                  <a:lnTo>
                    <a:pt x="1555216" y="595439"/>
                  </a:lnTo>
                  <a:lnTo>
                    <a:pt x="1555216" y="15259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46704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3289" y="1904615"/>
            <a:ext cx="119286" cy="11928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621125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5296" y="1904615"/>
            <a:ext cx="119286" cy="11928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53141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9703" y="1904615"/>
            <a:ext cx="119286" cy="11928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427563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8905" y="1904615"/>
            <a:ext cx="119286" cy="11928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28" name="object 28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7" name="object 3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253" y="466922"/>
            <a:ext cx="1668145" cy="6940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48385" y="1347054"/>
            <a:ext cx="1733550" cy="763905"/>
            <a:chOff x="3248385" y="1347054"/>
            <a:chExt cx="1733550" cy="763905"/>
          </a:xfrm>
        </p:grpSpPr>
        <p:sp>
          <p:nvSpPr>
            <p:cNvPr id="7" name="object 7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94926" y="1347063"/>
              <a:ext cx="1555750" cy="617220"/>
            </a:xfrm>
            <a:custGeom>
              <a:avLst/>
              <a:gdLst/>
              <a:ahLst/>
              <a:cxnLst/>
              <a:rect l="l" t="t" r="r" b="b"/>
              <a:pathLst>
                <a:path w="1555750" h="617219">
                  <a:moveTo>
                    <a:pt x="115201" y="501230"/>
                  </a:moveTo>
                  <a:lnTo>
                    <a:pt x="0" y="501230"/>
                  </a:lnTo>
                  <a:lnTo>
                    <a:pt x="0" y="617194"/>
                  </a:lnTo>
                  <a:lnTo>
                    <a:pt x="115201" y="617194"/>
                  </a:lnTo>
                  <a:lnTo>
                    <a:pt x="115201" y="501230"/>
                  </a:lnTo>
                  <a:close/>
                </a:path>
                <a:path w="1555750" h="617219">
                  <a:moveTo>
                    <a:pt x="547204" y="0"/>
                  </a:moveTo>
                  <a:lnTo>
                    <a:pt x="432003" y="0"/>
                  </a:lnTo>
                  <a:lnTo>
                    <a:pt x="432003" y="617194"/>
                  </a:lnTo>
                  <a:lnTo>
                    <a:pt x="547204" y="617194"/>
                  </a:lnTo>
                  <a:lnTo>
                    <a:pt x="547204" y="0"/>
                  </a:lnTo>
                  <a:close/>
                </a:path>
                <a:path w="1555750" h="617219">
                  <a:moveTo>
                    <a:pt x="1123213" y="373862"/>
                  </a:moveTo>
                  <a:lnTo>
                    <a:pt x="1008011" y="373862"/>
                  </a:lnTo>
                  <a:lnTo>
                    <a:pt x="1008011" y="617194"/>
                  </a:lnTo>
                  <a:lnTo>
                    <a:pt x="1123213" y="617194"/>
                  </a:lnTo>
                  <a:lnTo>
                    <a:pt x="1123213" y="373862"/>
                  </a:lnTo>
                  <a:close/>
                </a:path>
                <a:path w="1555750" h="617219">
                  <a:moveTo>
                    <a:pt x="1555216" y="412699"/>
                  </a:moveTo>
                  <a:lnTo>
                    <a:pt x="1440014" y="412699"/>
                  </a:lnTo>
                  <a:lnTo>
                    <a:pt x="1440014" y="617194"/>
                  </a:lnTo>
                  <a:lnTo>
                    <a:pt x="1555216" y="617194"/>
                  </a:lnTo>
                  <a:lnTo>
                    <a:pt x="1555216" y="4126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259404" y="2039108"/>
            <a:ext cx="111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3289" y="1904615"/>
            <a:ext cx="119286" cy="11928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633825" y="2039108"/>
            <a:ext cx="111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5296" y="1904615"/>
            <a:ext cx="119286" cy="11928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65841" y="2039108"/>
            <a:ext cx="111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29703" y="1904615"/>
            <a:ext cx="379095" cy="119380"/>
            <a:chOff x="4429703" y="1904615"/>
            <a:chExt cx="379095" cy="119380"/>
          </a:xfrm>
        </p:grpSpPr>
        <p:sp>
          <p:nvSpPr>
            <p:cNvPr id="17" name="object 17"/>
            <p:cNvSpPr/>
            <p:nvPr/>
          </p:nvSpPr>
          <p:spPr>
            <a:xfrm>
              <a:off x="4429703" y="1904615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6"/>
                  </a:lnTo>
                  <a:lnTo>
                    <a:pt x="17469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8"/>
                  </a:lnTo>
                  <a:lnTo>
                    <a:pt x="17469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8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6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88905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40263" y="2039108"/>
            <a:ext cx="3702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59079" algn="l"/>
              </a:tabLst>
            </a:pPr>
            <a:r>
              <a:rPr sz="500" spc="-25" dirty="0">
                <a:latin typeface="Tahoma"/>
                <a:cs typeface="Tahoma"/>
              </a:rPr>
              <a:t>IoT</a:t>
            </a:r>
            <a:r>
              <a:rPr sz="500" dirty="0">
                <a:latin typeface="Tahoma"/>
                <a:cs typeface="Tahoma"/>
              </a:rPr>
              <a:t>	</a:t>
            </a: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29" name="object 29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8" name="object 3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200886"/>
            <a:ext cx="48018" cy="480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466922"/>
            <a:ext cx="1668145" cy="83311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spc="-52" baseline="6172" dirty="0">
                <a:latin typeface="Arial"/>
                <a:cs typeface="Arial"/>
              </a:rPr>
              <a:t>C</a:t>
            </a:r>
            <a:r>
              <a:rPr sz="600" i="1" spc="-35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157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CPU</a:t>
            </a:r>
            <a:r>
              <a:rPr sz="1350" spc="3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cycles/bit</a:t>
            </a:r>
            <a:endParaRPr sz="1350" baseline="6172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48385" y="1341640"/>
            <a:ext cx="1733550" cy="769620"/>
            <a:chOff x="3248385" y="1341640"/>
            <a:chExt cx="1733550" cy="769620"/>
          </a:xfrm>
        </p:grpSpPr>
        <p:sp>
          <p:nvSpPr>
            <p:cNvPr id="8" name="object 8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94926" y="1341640"/>
              <a:ext cx="1555750" cy="622935"/>
            </a:xfrm>
            <a:custGeom>
              <a:avLst/>
              <a:gdLst/>
              <a:ahLst/>
              <a:cxnLst/>
              <a:rect l="l" t="t" r="r" b="b"/>
              <a:pathLst>
                <a:path w="1555750" h="622935">
                  <a:moveTo>
                    <a:pt x="115201" y="0"/>
                  </a:moveTo>
                  <a:lnTo>
                    <a:pt x="0" y="0"/>
                  </a:lnTo>
                  <a:lnTo>
                    <a:pt x="0" y="622617"/>
                  </a:lnTo>
                  <a:lnTo>
                    <a:pt x="115201" y="622617"/>
                  </a:lnTo>
                  <a:lnTo>
                    <a:pt x="115201" y="0"/>
                  </a:lnTo>
                  <a:close/>
                </a:path>
                <a:path w="1555750" h="622935">
                  <a:moveTo>
                    <a:pt x="547204" y="419595"/>
                  </a:moveTo>
                  <a:lnTo>
                    <a:pt x="432003" y="419595"/>
                  </a:lnTo>
                  <a:lnTo>
                    <a:pt x="432003" y="622617"/>
                  </a:lnTo>
                  <a:lnTo>
                    <a:pt x="547204" y="622617"/>
                  </a:lnTo>
                  <a:lnTo>
                    <a:pt x="547204" y="419595"/>
                  </a:lnTo>
                  <a:close/>
                </a:path>
                <a:path w="1555750" h="622935">
                  <a:moveTo>
                    <a:pt x="1123213" y="103835"/>
                  </a:moveTo>
                  <a:lnTo>
                    <a:pt x="1008011" y="103835"/>
                  </a:lnTo>
                  <a:lnTo>
                    <a:pt x="1008011" y="622617"/>
                  </a:lnTo>
                  <a:lnTo>
                    <a:pt x="1123213" y="622617"/>
                  </a:lnTo>
                  <a:lnTo>
                    <a:pt x="1123213" y="103835"/>
                  </a:lnTo>
                  <a:close/>
                </a:path>
                <a:path w="1555750" h="622935">
                  <a:moveTo>
                    <a:pt x="1555216" y="537298"/>
                  </a:moveTo>
                  <a:lnTo>
                    <a:pt x="1440014" y="537298"/>
                  </a:lnTo>
                  <a:lnTo>
                    <a:pt x="1440014" y="622617"/>
                  </a:lnTo>
                  <a:lnTo>
                    <a:pt x="1555216" y="622617"/>
                  </a:lnTo>
                  <a:lnTo>
                    <a:pt x="1555216" y="53729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246704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23289" y="1904615"/>
            <a:ext cx="119286" cy="11928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621125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55296" y="1904615"/>
            <a:ext cx="119286" cy="11928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53141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9703" y="1904615"/>
            <a:ext cx="119286" cy="11928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27563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88905" y="1904615"/>
            <a:ext cx="119286" cy="11928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30" name="object 30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9" name="object 3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200886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340065"/>
            <a:ext cx="48018" cy="480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253" y="466922"/>
            <a:ext cx="1745614" cy="9721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spc="-52" baseline="6172" dirty="0">
                <a:latin typeface="Arial"/>
                <a:cs typeface="Arial"/>
              </a:rPr>
              <a:t>C</a:t>
            </a:r>
            <a:r>
              <a:rPr sz="600" i="1" spc="-35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157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CPU</a:t>
            </a:r>
            <a:r>
              <a:rPr sz="1350" spc="3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cycles/bit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baseline="6172" dirty="0">
                <a:latin typeface="Arial"/>
                <a:cs typeface="Arial"/>
              </a:rPr>
              <a:t>τ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9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Max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tolerable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30" baseline="6172" dirty="0">
                <a:latin typeface="Arial MT"/>
                <a:cs typeface="Arial MT"/>
              </a:rPr>
              <a:t>delay</a:t>
            </a:r>
            <a:endParaRPr sz="1350" baseline="6172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48385" y="1142533"/>
            <a:ext cx="1733550" cy="968375"/>
            <a:chOff x="3248385" y="1142533"/>
            <a:chExt cx="1733550" cy="968375"/>
          </a:xfrm>
        </p:grpSpPr>
        <p:sp>
          <p:nvSpPr>
            <p:cNvPr id="9" name="object 9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94926" y="1142542"/>
              <a:ext cx="1555750" cy="822325"/>
            </a:xfrm>
            <a:custGeom>
              <a:avLst/>
              <a:gdLst/>
              <a:ahLst/>
              <a:cxnLst/>
              <a:rect l="l" t="t" r="r" b="b"/>
              <a:pathLst>
                <a:path w="1555750" h="822325">
                  <a:moveTo>
                    <a:pt x="115201" y="0"/>
                  </a:moveTo>
                  <a:lnTo>
                    <a:pt x="0" y="0"/>
                  </a:lnTo>
                  <a:lnTo>
                    <a:pt x="0" y="821715"/>
                  </a:lnTo>
                  <a:lnTo>
                    <a:pt x="115201" y="821715"/>
                  </a:lnTo>
                  <a:lnTo>
                    <a:pt x="115201" y="0"/>
                  </a:lnTo>
                  <a:close/>
                </a:path>
                <a:path w="1555750" h="822325">
                  <a:moveTo>
                    <a:pt x="547204" y="210058"/>
                  </a:moveTo>
                  <a:lnTo>
                    <a:pt x="432003" y="210058"/>
                  </a:lnTo>
                  <a:lnTo>
                    <a:pt x="432003" y="821715"/>
                  </a:lnTo>
                  <a:lnTo>
                    <a:pt x="547204" y="821715"/>
                  </a:lnTo>
                  <a:lnTo>
                    <a:pt x="547204" y="210058"/>
                  </a:lnTo>
                  <a:close/>
                </a:path>
                <a:path w="1555750" h="822325">
                  <a:moveTo>
                    <a:pt x="1123213" y="338734"/>
                  </a:moveTo>
                  <a:lnTo>
                    <a:pt x="1008011" y="338734"/>
                  </a:lnTo>
                  <a:lnTo>
                    <a:pt x="1008011" y="821715"/>
                  </a:lnTo>
                  <a:lnTo>
                    <a:pt x="1123213" y="821715"/>
                  </a:lnTo>
                  <a:lnTo>
                    <a:pt x="1123213" y="338734"/>
                  </a:lnTo>
                  <a:close/>
                </a:path>
                <a:path w="1555750" h="822325">
                  <a:moveTo>
                    <a:pt x="1555216" y="785444"/>
                  </a:moveTo>
                  <a:lnTo>
                    <a:pt x="1440014" y="785444"/>
                  </a:lnTo>
                  <a:lnTo>
                    <a:pt x="1440014" y="821715"/>
                  </a:lnTo>
                  <a:lnTo>
                    <a:pt x="1555216" y="821715"/>
                  </a:lnTo>
                  <a:lnTo>
                    <a:pt x="1555216" y="78544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246704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3289" y="1904615"/>
            <a:ext cx="119286" cy="11928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621125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55296" y="1904615"/>
            <a:ext cx="119286" cy="11928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053141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29703" y="1904615"/>
            <a:ext cx="119286" cy="11928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427563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88905" y="1904615"/>
            <a:ext cx="119286" cy="11928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31" name="object 31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0" name="object 4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200886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340065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518272"/>
            <a:ext cx="59601" cy="596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253" y="466922"/>
            <a:ext cx="2270760" cy="11518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spc="-52" baseline="6172" dirty="0">
                <a:latin typeface="Arial"/>
                <a:cs typeface="Arial"/>
              </a:rPr>
              <a:t>C</a:t>
            </a:r>
            <a:r>
              <a:rPr sz="600" i="1" spc="-35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157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CPU</a:t>
            </a:r>
            <a:r>
              <a:rPr sz="1350" spc="3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cycles/bit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baseline="6172" dirty="0">
                <a:latin typeface="Arial"/>
                <a:cs typeface="Arial"/>
              </a:rPr>
              <a:t>τ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9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Max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tolerable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30" baseline="6172" dirty="0">
                <a:latin typeface="Arial MT"/>
                <a:cs typeface="Arial MT"/>
              </a:rPr>
              <a:t>delay</a:t>
            </a:r>
            <a:endParaRPr sz="1350" baseline="6172">
              <a:latin typeface="Arial MT"/>
              <a:cs typeface="Arial MT"/>
            </a:endParaRPr>
          </a:p>
          <a:p>
            <a:pPr marL="290830">
              <a:lnSpc>
                <a:spcPct val="100000"/>
              </a:lnSpc>
              <a:spcBef>
                <a:spcPts val="215"/>
              </a:spcBef>
            </a:pPr>
            <a:r>
              <a:rPr sz="1000" i="1" dirty="0">
                <a:solidFill>
                  <a:srgbClr val="FF6600"/>
                </a:solidFill>
                <a:latin typeface="Arial"/>
                <a:cs typeface="Arial"/>
              </a:rPr>
              <a:t>K</a:t>
            </a:r>
            <a:r>
              <a:rPr sz="1000" i="1" spc="12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6600"/>
                </a:solidFill>
                <a:latin typeface="Tahoma"/>
                <a:cs typeface="Tahoma"/>
              </a:rPr>
              <a:t>UAVs</a:t>
            </a:r>
            <a:r>
              <a:rPr sz="1000" spc="-1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nodes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48385" y="1110685"/>
            <a:ext cx="1733550" cy="1000125"/>
            <a:chOff x="3248385" y="1110685"/>
            <a:chExt cx="1733550" cy="1000125"/>
          </a:xfrm>
        </p:grpSpPr>
        <p:sp>
          <p:nvSpPr>
            <p:cNvPr id="10" name="object 10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94926" y="1110691"/>
              <a:ext cx="1555750" cy="854075"/>
            </a:xfrm>
            <a:custGeom>
              <a:avLst/>
              <a:gdLst/>
              <a:ahLst/>
              <a:cxnLst/>
              <a:rect l="l" t="t" r="r" b="b"/>
              <a:pathLst>
                <a:path w="1555750" h="854075">
                  <a:moveTo>
                    <a:pt x="115201" y="189865"/>
                  </a:moveTo>
                  <a:lnTo>
                    <a:pt x="0" y="189865"/>
                  </a:lnTo>
                  <a:lnTo>
                    <a:pt x="0" y="853579"/>
                  </a:lnTo>
                  <a:lnTo>
                    <a:pt x="115201" y="853579"/>
                  </a:lnTo>
                  <a:lnTo>
                    <a:pt x="115201" y="189865"/>
                  </a:lnTo>
                  <a:close/>
                </a:path>
                <a:path w="1555750" h="854075">
                  <a:moveTo>
                    <a:pt x="547204" y="590003"/>
                  </a:moveTo>
                  <a:lnTo>
                    <a:pt x="432003" y="590003"/>
                  </a:lnTo>
                  <a:lnTo>
                    <a:pt x="432003" y="853579"/>
                  </a:lnTo>
                  <a:lnTo>
                    <a:pt x="547204" y="853579"/>
                  </a:lnTo>
                  <a:lnTo>
                    <a:pt x="547204" y="590003"/>
                  </a:lnTo>
                  <a:close/>
                </a:path>
                <a:path w="1555750" h="854075">
                  <a:moveTo>
                    <a:pt x="1123213" y="0"/>
                  </a:moveTo>
                  <a:lnTo>
                    <a:pt x="1008011" y="0"/>
                  </a:lnTo>
                  <a:lnTo>
                    <a:pt x="1008011" y="853579"/>
                  </a:lnTo>
                  <a:lnTo>
                    <a:pt x="1123213" y="853579"/>
                  </a:lnTo>
                  <a:lnTo>
                    <a:pt x="1123213" y="0"/>
                  </a:lnTo>
                  <a:close/>
                </a:path>
                <a:path w="1555750" h="854075">
                  <a:moveTo>
                    <a:pt x="1555216" y="837018"/>
                  </a:moveTo>
                  <a:lnTo>
                    <a:pt x="1440014" y="837018"/>
                  </a:lnTo>
                  <a:lnTo>
                    <a:pt x="1440014" y="853579"/>
                  </a:lnTo>
                  <a:lnTo>
                    <a:pt x="1555216" y="853579"/>
                  </a:lnTo>
                  <a:lnTo>
                    <a:pt x="1555216" y="83701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246704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23289" y="1904615"/>
            <a:ext cx="551815" cy="119380"/>
            <a:chOff x="3623289" y="1904615"/>
            <a:chExt cx="551815" cy="11938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23289" y="1904615"/>
              <a:ext cx="119286" cy="1192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5296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621125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3141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29703" y="1904615"/>
            <a:ext cx="119286" cy="11928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427563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88905" y="1904615"/>
            <a:ext cx="119286" cy="11928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33" name="object 33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2" name="object 4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200886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340065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518272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708061"/>
            <a:ext cx="59601" cy="596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253" y="466922"/>
            <a:ext cx="2465705" cy="14935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spc="-52" baseline="6172" dirty="0">
                <a:latin typeface="Arial"/>
                <a:cs typeface="Arial"/>
              </a:rPr>
              <a:t>C</a:t>
            </a:r>
            <a:r>
              <a:rPr sz="600" i="1" spc="-35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157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CPU</a:t>
            </a:r>
            <a:r>
              <a:rPr sz="1350" spc="3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cycles/bit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baseline="6172" dirty="0">
                <a:latin typeface="Arial"/>
                <a:cs typeface="Arial"/>
              </a:rPr>
              <a:t>τ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9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Max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tolerable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30" baseline="6172" dirty="0">
                <a:latin typeface="Arial MT"/>
                <a:cs typeface="Arial MT"/>
              </a:rPr>
              <a:t>delay</a:t>
            </a:r>
            <a:endParaRPr sz="1350" baseline="6172">
              <a:latin typeface="Arial MT"/>
              <a:cs typeface="Arial MT"/>
            </a:endParaRPr>
          </a:p>
          <a:p>
            <a:pPr marL="290830">
              <a:lnSpc>
                <a:spcPct val="100000"/>
              </a:lnSpc>
              <a:spcBef>
                <a:spcPts val="215"/>
              </a:spcBef>
            </a:pPr>
            <a:r>
              <a:rPr sz="1000" i="1" dirty="0">
                <a:solidFill>
                  <a:srgbClr val="FF6600"/>
                </a:solidFill>
                <a:latin typeface="Arial"/>
                <a:cs typeface="Arial"/>
              </a:rPr>
              <a:t>K</a:t>
            </a:r>
            <a:r>
              <a:rPr sz="1000" i="1" spc="12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6600"/>
                </a:solidFill>
                <a:latin typeface="Tahoma"/>
                <a:cs typeface="Tahoma"/>
              </a:rPr>
              <a:t>UAVs</a:t>
            </a:r>
            <a:r>
              <a:rPr sz="1000" spc="-1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nodes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290830" marR="3048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solidFill>
                  <a:srgbClr val="00994C"/>
                </a:solidFill>
                <a:latin typeface="Arial"/>
                <a:cs typeface="Arial"/>
              </a:rPr>
              <a:t>L</a:t>
            </a:r>
            <a:r>
              <a:rPr sz="1000" i="1" spc="1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20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994C"/>
                </a:solidFill>
                <a:latin typeface="Tahoma"/>
                <a:cs typeface="Tahoma"/>
              </a:rPr>
              <a:t>(ES)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heterogeneous </a:t>
            </a:r>
            <a:r>
              <a:rPr sz="1000" spc="-30" dirty="0">
                <a:latin typeface="Tahoma"/>
                <a:cs typeface="Tahoma"/>
              </a:rPr>
              <a:t>computing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capacity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48385" y="1244554"/>
            <a:ext cx="1733550" cy="866775"/>
            <a:chOff x="3248385" y="1244554"/>
            <a:chExt cx="1733550" cy="866775"/>
          </a:xfrm>
        </p:grpSpPr>
        <p:sp>
          <p:nvSpPr>
            <p:cNvPr id="11" name="object 11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4926" y="1244561"/>
              <a:ext cx="1555750" cy="720090"/>
            </a:xfrm>
            <a:custGeom>
              <a:avLst/>
              <a:gdLst/>
              <a:ahLst/>
              <a:cxnLst/>
              <a:rect l="l" t="t" r="r" b="b"/>
              <a:pathLst>
                <a:path w="1555750" h="720089">
                  <a:moveTo>
                    <a:pt x="115201" y="0"/>
                  </a:moveTo>
                  <a:lnTo>
                    <a:pt x="0" y="0"/>
                  </a:lnTo>
                  <a:lnTo>
                    <a:pt x="0" y="719709"/>
                  </a:lnTo>
                  <a:lnTo>
                    <a:pt x="115201" y="719709"/>
                  </a:lnTo>
                  <a:lnTo>
                    <a:pt x="115201" y="0"/>
                  </a:lnTo>
                  <a:close/>
                </a:path>
                <a:path w="1555750" h="720089">
                  <a:moveTo>
                    <a:pt x="547204" y="525106"/>
                  </a:moveTo>
                  <a:lnTo>
                    <a:pt x="432003" y="525106"/>
                  </a:lnTo>
                  <a:lnTo>
                    <a:pt x="432003" y="719709"/>
                  </a:lnTo>
                  <a:lnTo>
                    <a:pt x="547204" y="719709"/>
                  </a:lnTo>
                  <a:lnTo>
                    <a:pt x="547204" y="525106"/>
                  </a:lnTo>
                  <a:close/>
                </a:path>
                <a:path w="1555750" h="720089">
                  <a:moveTo>
                    <a:pt x="1123213" y="256324"/>
                  </a:moveTo>
                  <a:lnTo>
                    <a:pt x="1008011" y="256324"/>
                  </a:lnTo>
                  <a:lnTo>
                    <a:pt x="1008011" y="719709"/>
                  </a:lnTo>
                  <a:lnTo>
                    <a:pt x="1123213" y="719709"/>
                  </a:lnTo>
                  <a:lnTo>
                    <a:pt x="1123213" y="256324"/>
                  </a:lnTo>
                  <a:close/>
                </a:path>
                <a:path w="1555750" h="720089">
                  <a:moveTo>
                    <a:pt x="1555216" y="234340"/>
                  </a:moveTo>
                  <a:lnTo>
                    <a:pt x="1440014" y="234340"/>
                  </a:lnTo>
                  <a:lnTo>
                    <a:pt x="1440014" y="719709"/>
                  </a:lnTo>
                  <a:lnTo>
                    <a:pt x="1555216" y="719709"/>
                  </a:lnTo>
                  <a:lnTo>
                    <a:pt x="1555216" y="23434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46704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23289" y="1904615"/>
            <a:ext cx="119286" cy="11928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621125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5296" y="1904615"/>
            <a:ext cx="119286" cy="11928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053141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29703" y="1904615"/>
            <a:ext cx="119286" cy="11928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427563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88905" y="1904615"/>
            <a:ext cx="119286" cy="11928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33" name="object 33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2" name="object 4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200886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340065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518272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708061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049678"/>
            <a:ext cx="59601" cy="5960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253" y="466922"/>
            <a:ext cx="2465705" cy="16833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spc="-52" baseline="6172" dirty="0">
                <a:latin typeface="Arial"/>
                <a:cs typeface="Arial"/>
              </a:rPr>
              <a:t>C</a:t>
            </a:r>
            <a:r>
              <a:rPr sz="600" i="1" spc="-35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157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CPU</a:t>
            </a:r>
            <a:r>
              <a:rPr sz="1350" spc="3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cycles/bit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baseline="6172" dirty="0">
                <a:latin typeface="Arial"/>
                <a:cs typeface="Arial"/>
              </a:rPr>
              <a:t>τ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9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Max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tolerable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30" baseline="6172" dirty="0">
                <a:latin typeface="Arial MT"/>
                <a:cs typeface="Arial MT"/>
              </a:rPr>
              <a:t>delay</a:t>
            </a:r>
            <a:endParaRPr sz="1350" baseline="6172">
              <a:latin typeface="Arial MT"/>
              <a:cs typeface="Arial MT"/>
            </a:endParaRPr>
          </a:p>
          <a:p>
            <a:pPr marL="290830">
              <a:lnSpc>
                <a:spcPct val="100000"/>
              </a:lnSpc>
              <a:spcBef>
                <a:spcPts val="215"/>
              </a:spcBef>
            </a:pPr>
            <a:r>
              <a:rPr sz="1000" i="1" dirty="0">
                <a:solidFill>
                  <a:srgbClr val="FF6600"/>
                </a:solidFill>
                <a:latin typeface="Arial"/>
                <a:cs typeface="Arial"/>
              </a:rPr>
              <a:t>K</a:t>
            </a:r>
            <a:r>
              <a:rPr sz="1000" i="1" spc="12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6600"/>
                </a:solidFill>
                <a:latin typeface="Tahoma"/>
                <a:cs typeface="Tahoma"/>
              </a:rPr>
              <a:t>UAVs</a:t>
            </a:r>
            <a:r>
              <a:rPr sz="1000" spc="-1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nodes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290830" marR="3048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solidFill>
                  <a:srgbClr val="00994C"/>
                </a:solidFill>
                <a:latin typeface="Arial"/>
                <a:cs typeface="Arial"/>
              </a:rPr>
              <a:t>L</a:t>
            </a:r>
            <a:r>
              <a:rPr sz="1000" i="1" spc="1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20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994C"/>
                </a:solidFill>
                <a:latin typeface="Tahoma"/>
                <a:cs typeface="Tahoma"/>
              </a:rPr>
              <a:t>(ES)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heterogeneous </a:t>
            </a:r>
            <a:r>
              <a:rPr sz="1000" spc="-30" dirty="0">
                <a:latin typeface="Tahoma"/>
                <a:cs typeface="Tahoma"/>
              </a:rPr>
              <a:t>computing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capacity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Macro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Base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Station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(MBS)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48385" y="1446596"/>
            <a:ext cx="1733550" cy="664210"/>
            <a:chOff x="3248385" y="1446596"/>
            <a:chExt cx="1733550" cy="664210"/>
          </a:xfrm>
        </p:grpSpPr>
        <p:sp>
          <p:nvSpPr>
            <p:cNvPr id="12" name="object 12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4926" y="1446606"/>
              <a:ext cx="1555750" cy="518159"/>
            </a:xfrm>
            <a:custGeom>
              <a:avLst/>
              <a:gdLst/>
              <a:ahLst/>
              <a:cxnLst/>
              <a:rect l="l" t="t" r="r" b="b"/>
              <a:pathLst>
                <a:path w="1555750" h="518160">
                  <a:moveTo>
                    <a:pt x="115201" y="0"/>
                  </a:moveTo>
                  <a:lnTo>
                    <a:pt x="0" y="0"/>
                  </a:lnTo>
                  <a:lnTo>
                    <a:pt x="0" y="517664"/>
                  </a:lnTo>
                  <a:lnTo>
                    <a:pt x="115201" y="517664"/>
                  </a:lnTo>
                  <a:lnTo>
                    <a:pt x="115201" y="0"/>
                  </a:lnTo>
                  <a:close/>
                </a:path>
                <a:path w="1555750" h="518160">
                  <a:moveTo>
                    <a:pt x="547204" y="151155"/>
                  </a:moveTo>
                  <a:lnTo>
                    <a:pt x="432003" y="151155"/>
                  </a:lnTo>
                  <a:lnTo>
                    <a:pt x="432003" y="517664"/>
                  </a:lnTo>
                  <a:lnTo>
                    <a:pt x="547204" y="517664"/>
                  </a:lnTo>
                  <a:lnTo>
                    <a:pt x="547204" y="151155"/>
                  </a:lnTo>
                  <a:close/>
                </a:path>
                <a:path w="1555750" h="518160">
                  <a:moveTo>
                    <a:pt x="1123213" y="262394"/>
                  </a:moveTo>
                  <a:lnTo>
                    <a:pt x="1008011" y="262394"/>
                  </a:lnTo>
                  <a:lnTo>
                    <a:pt x="1008011" y="517664"/>
                  </a:lnTo>
                  <a:lnTo>
                    <a:pt x="1123213" y="517664"/>
                  </a:lnTo>
                  <a:lnTo>
                    <a:pt x="1123213" y="262394"/>
                  </a:lnTo>
                  <a:close/>
                </a:path>
                <a:path w="1555750" h="518160">
                  <a:moveTo>
                    <a:pt x="1555216" y="98844"/>
                  </a:moveTo>
                  <a:lnTo>
                    <a:pt x="1440014" y="98844"/>
                  </a:lnTo>
                  <a:lnTo>
                    <a:pt x="1440014" y="517664"/>
                  </a:lnTo>
                  <a:lnTo>
                    <a:pt x="1555216" y="517664"/>
                  </a:lnTo>
                  <a:lnTo>
                    <a:pt x="1555216" y="9884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46704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23289" y="1904615"/>
            <a:ext cx="119286" cy="11928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621125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55296" y="1904615"/>
            <a:ext cx="119286" cy="11928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53141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9703" y="1904615"/>
            <a:ext cx="119286" cy="11928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427563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88905" y="1904615"/>
            <a:ext cx="119286" cy="1192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34" name="object 34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3" name="object 4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200886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340065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518272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708061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049678"/>
            <a:ext cx="59601" cy="5960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253" y="466922"/>
            <a:ext cx="2465705" cy="16833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spc="-52" baseline="6172" dirty="0">
                <a:latin typeface="Arial"/>
                <a:cs typeface="Arial"/>
              </a:rPr>
              <a:t>C</a:t>
            </a:r>
            <a:r>
              <a:rPr sz="600" i="1" spc="-35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157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CPU</a:t>
            </a:r>
            <a:r>
              <a:rPr sz="1350" spc="3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cycles/bit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baseline="6172" dirty="0">
                <a:latin typeface="Arial"/>
                <a:cs typeface="Arial"/>
              </a:rPr>
              <a:t>τ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9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Max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tolerable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30" baseline="6172" dirty="0">
                <a:latin typeface="Arial MT"/>
                <a:cs typeface="Arial MT"/>
              </a:rPr>
              <a:t>delay</a:t>
            </a:r>
            <a:endParaRPr sz="1350" baseline="6172">
              <a:latin typeface="Arial MT"/>
              <a:cs typeface="Arial MT"/>
            </a:endParaRPr>
          </a:p>
          <a:p>
            <a:pPr marL="290830">
              <a:lnSpc>
                <a:spcPct val="100000"/>
              </a:lnSpc>
              <a:spcBef>
                <a:spcPts val="215"/>
              </a:spcBef>
            </a:pPr>
            <a:r>
              <a:rPr sz="1000" i="1" dirty="0">
                <a:solidFill>
                  <a:srgbClr val="FF6600"/>
                </a:solidFill>
                <a:latin typeface="Arial"/>
                <a:cs typeface="Arial"/>
              </a:rPr>
              <a:t>K</a:t>
            </a:r>
            <a:r>
              <a:rPr sz="1000" i="1" spc="12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6600"/>
                </a:solidFill>
                <a:latin typeface="Tahoma"/>
                <a:cs typeface="Tahoma"/>
              </a:rPr>
              <a:t>UAVs</a:t>
            </a:r>
            <a:r>
              <a:rPr sz="1000" spc="-1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nodes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290830" marR="3048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solidFill>
                  <a:srgbClr val="00994C"/>
                </a:solidFill>
                <a:latin typeface="Arial"/>
                <a:cs typeface="Arial"/>
              </a:rPr>
              <a:t>L</a:t>
            </a:r>
            <a:r>
              <a:rPr sz="1000" i="1" spc="1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20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994C"/>
                </a:solidFill>
                <a:latin typeface="Tahoma"/>
                <a:cs typeface="Tahoma"/>
              </a:rPr>
              <a:t>(ES)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heterogeneous </a:t>
            </a:r>
            <a:r>
              <a:rPr sz="1000" spc="-30" dirty="0">
                <a:latin typeface="Tahoma"/>
                <a:cs typeface="Tahoma"/>
              </a:rPr>
              <a:t>computing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capacity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Macro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Base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Station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(MBS)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48385" y="1124841"/>
            <a:ext cx="1733550" cy="986155"/>
            <a:chOff x="3248385" y="1124841"/>
            <a:chExt cx="1733550" cy="986155"/>
          </a:xfrm>
        </p:grpSpPr>
        <p:sp>
          <p:nvSpPr>
            <p:cNvPr id="12" name="object 12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4926" y="1124851"/>
              <a:ext cx="1555750" cy="839469"/>
            </a:xfrm>
            <a:custGeom>
              <a:avLst/>
              <a:gdLst/>
              <a:ahLst/>
              <a:cxnLst/>
              <a:rect l="l" t="t" r="r" b="b"/>
              <a:pathLst>
                <a:path w="1555750" h="839469">
                  <a:moveTo>
                    <a:pt x="115201" y="0"/>
                  </a:moveTo>
                  <a:lnTo>
                    <a:pt x="0" y="0"/>
                  </a:lnTo>
                  <a:lnTo>
                    <a:pt x="0" y="839419"/>
                  </a:lnTo>
                  <a:lnTo>
                    <a:pt x="115201" y="839419"/>
                  </a:lnTo>
                  <a:lnTo>
                    <a:pt x="115201" y="0"/>
                  </a:lnTo>
                  <a:close/>
                </a:path>
                <a:path w="1555750" h="839469">
                  <a:moveTo>
                    <a:pt x="547204" y="18935"/>
                  </a:moveTo>
                  <a:lnTo>
                    <a:pt x="432003" y="18935"/>
                  </a:lnTo>
                  <a:lnTo>
                    <a:pt x="432003" y="839419"/>
                  </a:lnTo>
                  <a:lnTo>
                    <a:pt x="547204" y="839419"/>
                  </a:lnTo>
                  <a:lnTo>
                    <a:pt x="547204" y="18935"/>
                  </a:lnTo>
                  <a:close/>
                </a:path>
                <a:path w="1555750" h="839469">
                  <a:moveTo>
                    <a:pt x="1123213" y="744105"/>
                  </a:moveTo>
                  <a:lnTo>
                    <a:pt x="1008011" y="744105"/>
                  </a:lnTo>
                  <a:lnTo>
                    <a:pt x="1008011" y="839419"/>
                  </a:lnTo>
                  <a:lnTo>
                    <a:pt x="1123213" y="839419"/>
                  </a:lnTo>
                  <a:lnTo>
                    <a:pt x="1123213" y="744105"/>
                  </a:lnTo>
                  <a:close/>
                </a:path>
                <a:path w="1555750" h="839469">
                  <a:moveTo>
                    <a:pt x="1555216" y="299148"/>
                  </a:moveTo>
                  <a:lnTo>
                    <a:pt x="1440014" y="299148"/>
                  </a:lnTo>
                  <a:lnTo>
                    <a:pt x="1440014" y="839419"/>
                  </a:lnTo>
                  <a:lnTo>
                    <a:pt x="1555216" y="839419"/>
                  </a:lnTo>
                  <a:lnTo>
                    <a:pt x="1555216" y="2991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46704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23289" y="1904615"/>
            <a:ext cx="119286" cy="11928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621125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55296" y="1904615"/>
            <a:ext cx="119286" cy="11928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53141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9703" y="1904615"/>
            <a:ext cx="119286" cy="11928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427563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88905" y="1904615"/>
            <a:ext cx="119286" cy="1192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34" name="object 34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3" name="object 4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Model:</a:t>
            </a:r>
            <a:r>
              <a:rPr spc="55" dirty="0"/>
              <a:t> </a:t>
            </a:r>
            <a:r>
              <a:rPr spc="-20" dirty="0"/>
              <a:t>Architecture</a:t>
            </a:r>
            <a:r>
              <a:rPr spc="-70" dirty="0"/>
              <a:t> </a:t>
            </a:r>
            <a:r>
              <a:rPr spc="-3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746467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1061707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200886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340065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518272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708061"/>
            <a:ext cx="59601" cy="596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253" y="466922"/>
            <a:ext cx="2465705" cy="14935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ts val="1150"/>
              </a:lnSpc>
              <a:spcBef>
                <a:spcPts val="195"/>
              </a:spcBef>
            </a:pPr>
            <a:r>
              <a:rPr sz="1000" i="1" dirty="0">
                <a:solidFill>
                  <a:srgbClr val="003366"/>
                </a:solidFill>
                <a:latin typeface="Arial"/>
                <a:cs typeface="Arial"/>
              </a:rPr>
              <a:t>M</a:t>
            </a:r>
            <a:r>
              <a:rPr sz="1000" i="1" spc="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IoT</a:t>
            </a:r>
            <a:r>
              <a:rPr sz="1000" spc="-2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devices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tasks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ts val="115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44195">
              <a:lnSpc>
                <a:spcPct val="100000"/>
              </a:lnSpc>
              <a:spcBef>
                <a:spcPts val="295"/>
              </a:spcBef>
            </a:pP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Data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67" baseline="6172" dirty="0">
                <a:latin typeface="Arial MT"/>
                <a:cs typeface="Arial MT"/>
              </a:rPr>
              <a:t>size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(bits)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spc="-52" baseline="6172" dirty="0">
                <a:latin typeface="Arial"/>
                <a:cs typeface="Arial"/>
              </a:rPr>
              <a:t>C</a:t>
            </a:r>
            <a:r>
              <a:rPr sz="600" i="1" spc="-35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157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CPU</a:t>
            </a:r>
            <a:r>
              <a:rPr sz="1350" spc="3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cycles/bit</a:t>
            </a:r>
            <a:endParaRPr sz="1350" baseline="6172">
              <a:latin typeface="Arial MT"/>
              <a:cs typeface="Arial MT"/>
            </a:endParaRPr>
          </a:p>
          <a:p>
            <a:pPr marL="544195">
              <a:lnSpc>
                <a:spcPct val="100000"/>
              </a:lnSpc>
              <a:spcBef>
                <a:spcPts val="15"/>
              </a:spcBef>
            </a:pPr>
            <a:r>
              <a:rPr sz="1350" i="1" baseline="6172" dirty="0">
                <a:latin typeface="Arial"/>
                <a:cs typeface="Arial"/>
              </a:rPr>
              <a:t>τ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600" i="1" spc="-110" dirty="0">
                <a:latin typeface="Arial"/>
                <a:cs typeface="Arial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:</a:t>
            </a:r>
            <a:r>
              <a:rPr sz="1350" spc="209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Max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tolerable</a:t>
            </a:r>
            <a:r>
              <a:rPr sz="1350" spc="67" baseline="6172" dirty="0">
                <a:latin typeface="Arial MT"/>
                <a:cs typeface="Arial MT"/>
              </a:rPr>
              <a:t> </a:t>
            </a:r>
            <a:r>
              <a:rPr sz="1350" spc="-30" baseline="6172" dirty="0">
                <a:latin typeface="Arial MT"/>
                <a:cs typeface="Arial MT"/>
              </a:rPr>
              <a:t>delay</a:t>
            </a:r>
            <a:endParaRPr sz="1350" baseline="6172">
              <a:latin typeface="Arial MT"/>
              <a:cs typeface="Arial MT"/>
            </a:endParaRPr>
          </a:p>
          <a:p>
            <a:pPr marL="290830">
              <a:lnSpc>
                <a:spcPct val="100000"/>
              </a:lnSpc>
              <a:spcBef>
                <a:spcPts val="215"/>
              </a:spcBef>
            </a:pPr>
            <a:r>
              <a:rPr sz="1000" i="1" dirty="0">
                <a:solidFill>
                  <a:srgbClr val="FF6600"/>
                </a:solidFill>
                <a:latin typeface="Arial"/>
                <a:cs typeface="Arial"/>
              </a:rPr>
              <a:t>K</a:t>
            </a:r>
            <a:r>
              <a:rPr sz="1000" i="1" spc="12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6600"/>
                </a:solidFill>
                <a:latin typeface="Tahoma"/>
                <a:cs typeface="Tahoma"/>
              </a:rPr>
              <a:t>UAVs</a:t>
            </a:r>
            <a:r>
              <a:rPr sz="1000" spc="-1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nodes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290830" marR="3048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solidFill>
                  <a:srgbClr val="00994C"/>
                </a:solidFill>
                <a:latin typeface="Arial"/>
                <a:cs typeface="Arial"/>
              </a:rPr>
              <a:t>L</a:t>
            </a:r>
            <a:r>
              <a:rPr sz="1000" i="1" spc="15" dirty="0">
                <a:solidFill>
                  <a:srgbClr val="00994C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20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994C"/>
                </a:solidFill>
                <a:latin typeface="Tahoma"/>
                <a:cs typeface="Tahoma"/>
              </a:rPr>
              <a:t>(ES)</a:t>
            </a:r>
            <a:r>
              <a:rPr sz="1000" spc="-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heterogeneous </a:t>
            </a:r>
            <a:r>
              <a:rPr sz="1000" spc="-30" dirty="0">
                <a:latin typeface="Tahoma"/>
                <a:cs typeface="Tahoma"/>
              </a:rPr>
              <a:t>computing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capacity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049678"/>
            <a:ext cx="59601" cy="596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4700" y="1972581"/>
            <a:ext cx="1586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Macro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Base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Station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(MBS)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48385" y="1152012"/>
            <a:ext cx="1733550" cy="958850"/>
            <a:chOff x="3248385" y="1152012"/>
            <a:chExt cx="1733550" cy="958850"/>
          </a:xfrm>
        </p:grpSpPr>
        <p:sp>
          <p:nvSpPr>
            <p:cNvPr id="13" name="object 13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50925" y="1964258"/>
              <a:ext cx="1728470" cy="144145"/>
            </a:xfrm>
            <a:custGeom>
              <a:avLst/>
              <a:gdLst/>
              <a:ahLst/>
              <a:cxnLst/>
              <a:rect l="l" t="t" r="r" b="b"/>
              <a:pathLst>
                <a:path w="1728470" h="144144">
                  <a:moveTo>
                    <a:pt x="0" y="144002"/>
                  </a:moveTo>
                  <a:lnTo>
                    <a:pt x="0" y="0"/>
                  </a:lnTo>
                  <a:lnTo>
                    <a:pt x="1728028" y="0"/>
                  </a:lnTo>
                  <a:lnTo>
                    <a:pt x="1728028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94926" y="1152016"/>
              <a:ext cx="1555750" cy="812800"/>
            </a:xfrm>
            <a:custGeom>
              <a:avLst/>
              <a:gdLst/>
              <a:ahLst/>
              <a:cxnLst/>
              <a:rect l="l" t="t" r="r" b="b"/>
              <a:pathLst>
                <a:path w="1555750" h="812800">
                  <a:moveTo>
                    <a:pt x="115201" y="654062"/>
                  </a:moveTo>
                  <a:lnTo>
                    <a:pt x="0" y="654062"/>
                  </a:lnTo>
                  <a:lnTo>
                    <a:pt x="0" y="812253"/>
                  </a:lnTo>
                  <a:lnTo>
                    <a:pt x="115201" y="812253"/>
                  </a:lnTo>
                  <a:lnTo>
                    <a:pt x="115201" y="654062"/>
                  </a:lnTo>
                  <a:close/>
                </a:path>
                <a:path w="1555750" h="812800">
                  <a:moveTo>
                    <a:pt x="547204" y="0"/>
                  </a:moveTo>
                  <a:lnTo>
                    <a:pt x="432003" y="0"/>
                  </a:lnTo>
                  <a:lnTo>
                    <a:pt x="432003" y="812253"/>
                  </a:lnTo>
                  <a:lnTo>
                    <a:pt x="547204" y="812253"/>
                  </a:lnTo>
                  <a:lnTo>
                    <a:pt x="547204" y="0"/>
                  </a:lnTo>
                  <a:close/>
                </a:path>
                <a:path w="1555750" h="812800">
                  <a:moveTo>
                    <a:pt x="1123213" y="701294"/>
                  </a:moveTo>
                  <a:lnTo>
                    <a:pt x="1008011" y="701294"/>
                  </a:lnTo>
                  <a:lnTo>
                    <a:pt x="1008011" y="812253"/>
                  </a:lnTo>
                  <a:lnTo>
                    <a:pt x="1123213" y="812253"/>
                  </a:lnTo>
                  <a:lnTo>
                    <a:pt x="1123213" y="701294"/>
                  </a:lnTo>
                  <a:close/>
                </a:path>
                <a:path w="1555750" h="812800">
                  <a:moveTo>
                    <a:pt x="1555216" y="234848"/>
                  </a:moveTo>
                  <a:lnTo>
                    <a:pt x="1440014" y="234848"/>
                  </a:lnTo>
                  <a:lnTo>
                    <a:pt x="1440014" y="812253"/>
                  </a:lnTo>
                  <a:lnTo>
                    <a:pt x="1555216" y="812253"/>
                  </a:lnTo>
                  <a:lnTo>
                    <a:pt x="1555216" y="2348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48882" y="1904615"/>
              <a:ext cx="119286" cy="1192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23289" y="1904615"/>
              <a:ext cx="119286" cy="1192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55296" y="1904615"/>
              <a:ext cx="119286" cy="1192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9703" y="1904615"/>
              <a:ext cx="119286" cy="1192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88905" y="1904615"/>
              <a:ext cx="119286" cy="11928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686782" y="2039108"/>
            <a:ext cx="1238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23289" y="1040601"/>
            <a:ext cx="119286" cy="11928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560711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87303" y="1040601"/>
            <a:ext cx="119286" cy="11928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424756" y="897644"/>
            <a:ext cx="2381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UAV</a:t>
            </a:r>
            <a:r>
              <a:rPr sz="750" spc="-30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31664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67303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endParaRPr sz="750" baseline="-16666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71687" y="161299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527" y="0"/>
                </a:moveTo>
                <a:lnTo>
                  <a:pt x="0" y="0"/>
                </a:lnTo>
                <a:lnTo>
                  <a:pt x="0" y="126527"/>
                </a:lnTo>
                <a:lnTo>
                  <a:pt x="126527" y="126527"/>
                </a:lnTo>
                <a:lnTo>
                  <a:pt x="126527" y="0"/>
                </a:lnTo>
                <a:close/>
              </a:path>
            </a:pathLst>
          </a:custGeom>
          <a:solidFill>
            <a:srgbClr val="0099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907381" y="1612388"/>
            <a:ext cx="187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ES</a:t>
            </a:r>
            <a:r>
              <a:rPr sz="750" spc="-37" baseline="-16666" dirty="0">
                <a:latin typeface="Tahoma"/>
                <a:cs typeface="Tahoma"/>
              </a:rPr>
              <a:t>2</a:t>
            </a:r>
            <a:endParaRPr sz="750" baseline="-16666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03465" y="836963"/>
            <a:ext cx="1513840" cy="1132840"/>
            <a:chOff x="3303465" y="836963"/>
            <a:chExt cx="1513840" cy="1132840"/>
          </a:xfrm>
        </p:grpSpPr>
        <p:sp>
          <p:nvSpPr>
            <p:cNvPr id="31" name="object 31"/>
            <p:cNvSpPr/>
            <p:nvPr/>
          </p:nvSpPr>
          <p:spPr>
            <a:xfrm>
              <a:off x="4011641" y="836963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69">
                  <a:moveTo>
                    <a:pt x="103298" y="0"/>
                  </a:moveTo>
                  <a:lnTo>
                    <a:pt x="0" y="178917"/>
                  </a:lnTo>
                  <a:lnTo>
                    <a:pt x="206596" y="178917"/>
                  </a:lnTo>
                  <a:lnTo>
                    <a:pt x="10329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08526" y="1155807"/>
              <a:ext cx="1210945" cy="808990"/>
            </a:xfrm>
            <a:custGeom>
              <a:avLst/>
              <a:gdLst/>
              <a:ahLst/>
              <a:cxnLst/>
              <a:rect l="l" t="t" r="r" b="b"/>
              <a:pathLst>
                <a:path w="1210945" h="808989">
                  <a:moveTo>
                    <a:pt x="0" y="808450"/>
                  </a:moveTo>
                  <a:lnTo>
                    <a:pt x="349664" y="1438"/>
                  </a:lnTo>
                </a:path>
                <a:path w="1210945" h="808989">
                  <a:moveTo>
                    <a:pt x="806413" y="808450"/>
                  </a:moveTo>
                  <a:lnTo>
                    <a:pt x="1210639" y="0"/>
                  </a:lnTo>
                </a:path>
              </a:pathLst>
            </a:custGeom>
            <a:ln w="10122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31790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223310" y="0"/>
                  </a:moveTo>
                  <a:lnTo>
                    <a:pt x="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17080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23537"/>
                  </a:moveTo>
                  <a:lnTo>
                    <a:pt x="38156" y="23388"/>
                  </a:lnTo>
                  <a:lnTo>
                    <a:pt x="27582" y="26203"/>
                  </a:lnTo>
                  <a:lnTo>
                    <a:pt x="18112" y="30260"/>
                  </a:lnTo>
                  <a:lnTo>
                    <a:pt x="12504" y="33834"/>
                  </a:lnTo>
                  <a:lnTo>
                    <a:pt x="11998" y="27203"/>
                  </a:lnTo>
                  <a:lnTo>
                    <a:pt x="9562" y="17193"/>
                  </a:lnTo>
                  <a:lnTo>
                    <a:pt x="5470" y="704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4778" y="1155806"/>
              <a:ext cx="223520" cy="447040"/>
            </a:xfrm>
            <a:custGeom>
              <a:avLst/>
              <a:gdLst/>
              <a:ahLst/>
              <a:cxnLst/>
              <a:rect l="l" t="t" r="r" b="b"/>
              <a:pathLst>
                <a:path w="223520" h="447040">
                  <a:moveTo>
                    <a:pt x="0" y="0"/>
                  </a:moveTo>
                  <a:lnTo>
                    <a:pt x="223310" y="446600"/>
                  </a:lnTo>
                </a:path>
              </a:pathLst>
            </a:custGeom>
            <a:ln w="10122">
              <a:solidFill>
                <a:srgbClr val="00336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65724" y="1572984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47074" y="0"/>
                  </a:moveTo>
                  <a:lnTo>
                    <a:pt x="41604" y="7045"/>
                  </a:lnTo>
                  <a:lnTo>
                    <a:pt x="37512" y="17193"/>
                  </a:lnTo>
                  <a:lnTo>
                    <a:pt x="35076" y="27203"/>
                  </a:lnTo>
                  <a:lnTo>
                    <a:pt x="34570" y="33834"/>
                  </a:lnTo>
                  <a:lnTo>
                    <a:pt x="28962" y="30260"/>
                  </a:lnTo>
                  <a:lnTo>
                    <a:pt x="19492" y="26203"/>
                  </a:lnTo>
                  <a:lnTo>
                    <a:pt x="8918" y="23388"/>
                  </a:lnTo>
                  <a:lnTo>
                    <a:pt x="0" y="23537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41891" y="985806"/>
              <a:ext cx="746125" cy="95250"/>
            </a:xfrm>
            <a:custGeom>
              <a:avLst/>
              <a:gdLst/>
              <a:ahLst/>
              <a:cxnLst/>
              <a:rect l="l" t="t" r="r" b="b"/>
              <a:pathLst>
                <a:path w="746125" h="95250">
                  <a:moveTo>
                    <a:pt x="0" y="94720"/>
                  </a:moveTo>
                  <a:lnTo>
                    <a:pt x="284159" y="0"/>
                  </a:lnTo>
                </a:path>
                <a:path w="746125" h="95250">
                  <a:moveTo>
                    <a:pt x="746097" y="94720"/>
                  </a:moveTo>
                  <a:lnTo>
                    <a:pt x="461939" y="0"/>
                  </a:lnTo>
                </a:path>
              </a:pathLst>
            </a:custGeom>
            <a:ln w="10122">
              <a:solidFill>
                <a:srgbClr val="7F7F7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031831" y="711196"/>
            <a:ext cx="166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MBS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76994" y="2537942"/>
            <a:ext cx="59601" cy="5960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76994" y="2727731"/>
            <a:ext cx="59601" cy="5960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76994" y="2917520"/>
            <a:ext cx="59601" cy="59601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596007" y="2039108"/>
            <a:ext cx="1981200" cy="979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95"/>
              </a:spcBef>
              <a:tabLst>
                <a:tab pos="1037590" algn="l"/>
                <a:tab pos="1469390" algn="l"/>
                <a:tab pos="1844039" algn="l"/>
              </a:tabLst>
            </a:pPr>
            <a:r>
              <a:rPr sz="500" spc="-25" dirty="0">
                <a:latin typeface="Tahoma"/>
                <a:cs typeface="Tahoma"/>
              </a:rPr>
              <a:t>IoT</a:t>
            </a:r>
            <a:r>
              <a:rPr sz="500" dirty="0">
                <a:latin typeface="Tahoma"/>
                <a:cs typeface="Tahoma"/>
              </a:rPr>
              <a:t>	</a:t>
            </a:r>
            <a:r>
              <a:rPr sz="500" spc="-25" dirty="0">
                <a:latin typeface="Tahoma"/>
                <a:cs typeface="Tahoma"/>
              </a:rPr>
              <a:t>IoT</a:t>
            </a:r>
            <a:r>
              <a:rPr sz="500" dirty="0">
                <a:latin typeface="Tahoma"/>
                <a:cs typeface="Tahoma"/>
              </a:rPr>
              <a:t>	</a:t>
            </a:r>
            <a:r>
              <a:rPr sz="500" spc="-25" dirty="0">
                <a:latin typeface="Tahoma"/>
                <a:cs typeface="Tahoma"/>
              </a:rPr>
              <a:t>IoT</a:t>
            </a:r>
            <a:r>
              <a:rPr sz="500" dirty="0">
                <a:latin typeface="Tahoma"/>
                <a:cs typeface="Tahoma"/>
              </a:rPr>
              <a:t>	</a:t>
            </a:r>
            <a:r>
              <a:rPr sz="500" spc="-25" dirty="0">
                <a:latin typeface="Tahoma"/>
                <a:cs typeface="Tahoma"/>
              </a:rPr>
              <a:t>IoT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500">
              <a:latin typeface="Tahoma"/>
              <a:cs typeface="Tahoma"/>
            </a:endParaRPr>
          </a:p>
          <a:p>
            <a:pPr marL="303530" marR="116839" indent="-253365">
              <a:lnSpc>
                <a:spcPct val="124500"/>
              </a:lnSpc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Model: </a:t>
            </a:r>
            <a:r>
              <a:rPr sz="1000" spc="-10" dirty="0">
                <a:latin typeface="Tahoma"/>
                <a:cs typeface="Tahoma"/>
              </a:rPr>
              <a:t>Probabilistic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LoS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path</a:t>
            </a:r>
            <a:r>
              <a:rPr sz="1000" spc="-20" dirty="0">
                <a:latin typeface="Tahoma"/>
                <a:cs typeface="Tahoma"/>
              </a:rPr>
              <a:t> loss </a:t>
            </a:r>
            <a:r>
              <a:rPr sz="1000" spc="55" dirty="0">
                <a:latin typeface="Tahoma"/>
                <a:cs typeface="Tahoma"/>
              </a:rPr>
              <a:t>PRB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allocation: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1050" i="1" spc="277" baseline="-11904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per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UAV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threshold: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Γ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Tahoma"/>
                <a:cs typeface="Tahoma"/>
              </a:rPr>
              <a:t>Γ</a:t>
            </a:r>
            <a:r>
              <a:rPr sz="1050" i="1" spc="-37" baseline="-11904" dirty="0">
                <a:latin typeface="Arial"/>
                <a:cs typeface="Arial"/>
              </a:rPr>
              <a:t>th</a:t>
            </a:r>
            <a:endParaRPr sz="1050" baseline="-11904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4" name="object 4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60" dirty="0"/>
              <a:t> </a:t>
            </a:r>
            <a:r>
              <a:rPr spc="-30" dirty="0"/>
              <a:t>Formulation:</a:t>
            </a:r>
            <a:r>
              <a:rPr spc="70" dirty="0"/>
              <a:t> </a:t>
            </a:r>
            <a:r>
              <a:rPr spc="-30" dirty="0"/>
              <a:t>Objective</a:t>
            </a:r>
            <a:r>
              <a:rPr spc="-6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457707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86168"/>
            <a:ext cx="18357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Provider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Profit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729" y="514628"/>
            <a:ext cx="5659755" cy="1899920"/>
            <a:chOff x="75729" y="514628"/>
            <a:chExt cx="5659755" cy="18999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3287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514628"/>
              <a:ext cx="5608955" cy="1899920"/>
            </a:xfrm>
            <a:custGeom>
              <a:avLst/>
              <a:gdLst/>
              <a:ahLst/>
              <a:cxnLst/>
              <a:rect l="l" t="t" r="r" b="b"/>
              <a:pathLst>
                <a:path w="5608955" h="1899920">
                  <a:moveTo>
                    <a:pt x="5608620" y="0"/>
                  </a:moveTo>
                  <a:lnTo>
                    <a:pt x="0" y="0"/>
                  </a:lnTo>
                  <a:lnTo>
                    <a:pt x="0" y="1899541"/>
                  </a:lnTo>
                  <a:lnTo>
                    <a:pt x="5608620" y="189954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677147"/>
              <a:ext cx="5608955" cy="1686560"/>
            </a:xfrm>
            <a:custGeom>
              <a:avLst/>
              <a:gdLst/>
              <a:ahLst/>
              <a:cxnLst/>
              <a:rect l="l" t="t" r="r" b="b"/>
              <a:pathLst>
                <a:path w="5608955" h="1686560">
                  <a:moveTo>
                    <a:pt x="5608620" y="0"/>
                  </a:moveTo>
                  <a:lnTo>
                    <a:pt x="0" y="0"/>
                  </a:lnTo>
                  <a:lnTo>
                    <a:pt x="0" y="1635421"/>
                  </a:lnTo>
                  <a:lnTo>
                    <a:pt x="4008" y="1655146"/>
                  </a:lnTo>
                  <a:lnTo>
                    <a:pt x="14922" y="1671298"/>
                  </a:lnTo>
                  <a:lnTo>
                    <a:pt x="31075" y="1682213"/>
                  </a:lnTo>
                  <a:lnTo>
                    <a:pt x="50800" y="1686221"/>
                  </a:lnTo>
                  <a:lnTo>
                    <a:pt x="5557819" y="1686221"/>
                  </a:lnTo>
                  <a:lnTo>
                    <a:pt x="5577544" y="1682213"/>
                  </a:lnTo>
                  <a:lnTo>
                    <a:pt x="5593697" y="1671298"/>
                  </a:lnTo>
                  <a:lnTo>
                    <a:pt x="5604611" y="1655146"/>
                  </a:lnTo>
                  <a:lnTo>
                    <a:pt x="5608620" y="163542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63902" y="865151"/>
            <a:ext cx="1384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SP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8833" y="808220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195" algn="l"/>
              </a:tabLst>
            </a:pPr>
            <a:r>
              <a:rPr sz="1000" spc="-10" dirty="0">
                <a:latin typeface="Tahoma"/>
                <a:cs typeface="Tahoma"/>
              </a:rPr>
              <a:t>Maximize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12161" y="688012"/>
            <a:ext cx="510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  <a:tab pos="445770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K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58529" y="688014"/>
            <a:ext cx="62992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6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60" baseline="3968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dirty="0">
                <a:latin typeface="Tahoma"/>
                <a:cs typeface="Tahoma"/>
              </a:rPr>
              <a:t>=1</a:t>
            </a:r>
            <a:r>
              <a:rPr sz="700" spc="210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83763" y="808220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4799" y="808220"/>
            <a:ext cx="169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39998" y="865151"/>
            <a:ext cx="6369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480" algn="l"/>
              </a:tabLst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10" dirty="0">
                <a:latin typeface="Arial"/>
                <a:cs typeface="Arial"/>
              </a:rPr>
              <a:t>m</a:t>
            </a:r>
            <a:r>
              <a:rPr sz="700" i="1" spc="-10" dirty="0">
                <a:latin typeface="Trebuchet MS"/>
                <a:cs typeface="Trebuchet MS"/>
              </a:rPr>
              <a:t>,</a:t>
            </a: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0" dirty="0">
                <a:latin typeface="Trebuchet MS"/>
                <a:cs typeface="Trebuchet MS"/>
              </a:rPr>
              <a:t>,</a:t>
            </a:r>
            <a:r>
              <a:rPr sz="700" i="1" spc="-1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3693" y="808220"/>
            <a:ext cx="4273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29" dirty="0">
                <a:latin typeface="Lucida Sans Unicode"/>
                <a:cs typeface="Lucida Sans Unicode"/>
              </a:rPr>
              <a:t>—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i="1" spc="-60" dirty="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5457" y="865151"/>
            <a:ext cx="2051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UAV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6705" y="1416367"/>
            <a:ext cx="59690" cy="249554"/>
            <a:chOff x="256705" y="1416367"/>
            <a:chExt cx="59690" cy="249554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1416367"/>
              <a:ext cx="59601" cy="596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606156"/>
              <a:ext cx="59601" cy="5960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8430" y="1111523"/>
            <a:ext cx="364807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spc="-10" dirty="0">
                <a:latin typeface="Tahoma"/>
                <a:cs typeface="Tahoma"/>
              </a:rPr>
              <a:t>where: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Calibri"/>
                <a:cs typeface="Calibri"/>
              </a:rPr>
              <a:t>δ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300" baseline="-11904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3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dirty="0">
                <a:latin typeface="Lucida Sans Unicode"/>
                <a:cs typeface="Lucida Sans Unicode"/>
              </a:rPr>
              <a:t>}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Offloading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decision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(IoT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2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35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2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90"/>
              </a:spcBef>
            </a:pP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24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R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50" i="1" spc="-15" baseline="-11904" dirty="0">
                <a:latin typeface="Trebuchet MS"/>
                <a:cs typeface="Trebuchet MS"/>
              </a:rPr>
              <a:t>,</a:t>
            </a:r>
            <a:r>
              <a:rPr sz="1050" i="1" spc="-15" baseline="-11904" dirty="0">
                <a:latin typeface="Arial"/>
                <a:cs typeface="Arial"/>
              </a:rPr>
              <a:t>k</a:t>
            </a:r>
            <a:r>
              <a:rPr sz="1050" i="1" spc="-15" baseline="-11904" dirty="0">
                <a:latin typeface="Trebuchet MS"/>
                <a:cs typeface="Trebuchet MS"/>
              </a:rPr>
              <a:t>,</a:t>
            </a:r>
            <a:r>
              <a:rPr sz="1050" i="1" spc="-1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Profit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per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successful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795945"/>
            <a:ext cx="59601" cy="596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007846" y="1813092"/>
            <a:ext cx="1765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Trebuchet MS"/>
                <a:cs typeface="Trebuchet MS"/>
              </a:rPr>
              <a:t>τ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1477" y="1718848"/>
            <a:ext cx="28581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R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22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25" dirty="0">
                <a:latin typeface="Lucida Sans Unicode"/>
                <a:cs typeface="Lucida Sans Unicode"/>
              </a:rPr>
              <a:t> </a:t>
            </a:r>
            <a:r>
              <a:rPr sz="1050" i="1" u="sng" baseline="3174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750" i="1" u="sng" baseline="3333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750" i="1" spc="30" baseline="33333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Revenue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(proportional</a:t>
            </a:r>
            <a:r>
              <a:rPr sz="1000" dirty="0">
                <a:latin typeface="Tahoma"/>
                <a:cs typeface="Tahoma"/>
              </a:rPr>
              <a:t> to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rate)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016213"/>
            <a:ext cx="59601" cy="596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47713" y="1996061"/>
            <a:ext cx="237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9832" y="1925208"/>
            <a:ext cx="115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7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9913" y="1963162"/>
            <a:ext cx="108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5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3805" y="2079900"/>
            <a:ext cx="419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l</a:t>
            </a:r>
            <a:endParaRPr sz="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1477" y="1943193"/>
            <a:ext cx="1849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80365" algn="l"/>
              </a:tabLst>
            </a:pPr>
            <a:r>
              <a:rPr sz="1500" i="1" spc="-75" baseline="2777" dirty="0">
                <a:latin typeface="Arial"/>
                <a:cs typeface="Arial"/>
              </a:rPr>
              <a:t>C</a:t>
            </a:r>
            <a:r>
              <a:rPr sz="1500" i="1" baseline="2777" dirty="0">
                <a:latin typeface="Arial"/>
                <a:cs typeface="Arial"/>
              </a:rPr>
              <a:t>	</a:t>
            </a:r>
            <a:r>
              <a:rPr sz="1500" baseline="2777" dirty="0">
                <a:latin typeface="Tahoma"/>
                <a:cs typeface="Tahoma"/>
              </a:rPr>
              <a:t>=</a:t>
            </a:r>
            <a:r>
              <a:rPr sz="1500" spc="-52" baseline="2777" dirty="0">
                <a:latin typeface="Tahoma"/>
                <a:cs typeface="Tahoma"/>
              </a:rPr>
              <a:t> </a:t>
            </a:r>
            <a:r>
              <a:rPr sz="1500" i="1" baseline="2777" dirty="0">
                <a:latin typeface="Arial"/>
                <a:cs typeface="Arial"/>
              </a:rPr>
              <a:t>w</a:t>
            </a:r>
            <a:r>
              <a:rPr sz="1500" i="1" spc="75" baseline="2777" dirty="0">
                <a:latin typeface="Arial"/>
                <a:cs typeface="Arial"/>
              </a:rPr>
              <a:t> </a:t>
            </a:r>
            <a:r>
              <a:rPr sz="1500" spc="-547" baseline="2777" dirty="0">
                <a:latin typeface="Lucida Sans Unicode"/>
                <a:cs typeface="Lucida Sans Unicode"/>
              </a:rPr>
              <a:t>·</a:t>
            </a:r>
            <a:r>
              <a:rPr sz="1500" spc="37" baseline="2777" dirty="0">
                <a:latin typeface="Lucida Sans Unicode"/>
                <a:cs typeface="Lucida Sans Unicode"/>
              </a:rPr>
              <a:t> </a:t>
            </a:r>
            <a:r>
              <a:rPr sz="1050" i="1" baseline="-27777" dirty="0">
                <a:latin typeface="Arial"/>
                <a:cs typeface="Arial"/>
              </a:rPr>
              <a:t>t</a:t>
            </a:r>
            <a:r>
              <a:rPr sz="500" i="1" dirty="0">
                <a:latin typeface="Arial"/>
                <a:cs typeface="Arial"/>
              </a:rPr>
              <a:t>proc</a:t>
            </a:r>
            <a:r>
              <a:rPr sz="500" i="1" spc="65" dirty="0">
                <a:latin typeface="Arial"/>
                <a:cs typeface="Arial"/>
              </a:rPr>
              <a:t> </a:t>
            </a:r>
            <a:r>
              <a:rPr sz="1500" baseline="2777" dirty="0">
                <a:latin typeface="Tahoma"/>
                <a:cs typeface="Tahoma"/>
              </a:rPr>
              <a:t>:</a:t>
            </a:r>
            <a:r>
              <a:rPr sz="1500" spc="19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ES</a:t>
            </a:r>
            <a:r>
              <a:rPr sz="1500" spc="37" baseline="2777" dirty="0">
                <a:latin typeface="Tahoma"/>
                <a:cs typeface="Tahoma"/>
              </a:rPr>
              <a:t> </a:t>
            </a:r>
            <a:r>
              <a:rPr sz="1500" spc="-52" baseline="2777" dirty="0">
                <a:latin typeface="Tahoma"/>
                <a:cs typeface="Tahoma"/>
              </a:rPr>
              <a:t>leasing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-30" baseline="2777" dirty="0">
                <a:latin typeface="Tahoma"/>
                <a:cs typeface="Tahoma"/>
              </a:rPr>
              <a:t>cost</a:t>
            </a:r>
            <a:endParaRPr sz="1500" baseline="2777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705" y="2232202"/>
            <a:ext cx="59601" cy="596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41477" y="2155118"/>
            <a:ext cx="1771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i="1" spc="-35" dirty="0">
                <a:latin typeface="Arial"/>
                <a:cs typeface="Arial"/>
              </a:rPr>
              <a:t>C</a:t>
            </a:r>
            <a:r>
              <a:rPr sz="1050" i="1" spc="-52" baseline="-11904" dirty="0">
                <a:latin typeface="Arial"/>
                <a:cs typeface="Arial"/>
              </a:rPr>
              <a:t>UAV</a:t>
            </a:r>
            <a:r>
              <a:rPr sz="1050" i="1" spc="-44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operational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cost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4" name="object 3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514628"/>
            <a:ext cx="5659755" cy="1899920"/>
            <a:chOff x="75729" y="514628"/>
            <a:chExt cx="5659755" cy="18999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32879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514628"/>
              <a:ext cx="5608955" cy="1899920"/>
            </a:xfrm>
            <a:custGeom>
              <a:avLst/>
              <a:gdLst/>
              <a:ahLst/>
              <a:cxnLst/>
              <a:rect l="l" t="t" r="r" b="b"/>
              <a:pathLst>
                <a:path w="5608955" h="1899920">
                  <a:moveTo>
                    <a:pt x="5608620" y="0"/>
                  </a:moveTo>
                  <a:lnTo>
                    <a:pt x="0" y="0"/>
                  </a:lnTo>
                  <a:lnTo>
                    <a:pt x="0" y="1899541"/>
                  </a:lnTo>
                  <a:lnTo>
                    <a:pt x="5608620" y="189954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677147"/>
              <a:ext cx="5608955" cy="1686560"/>
            </a:xfrm>
            <a:custGeom>
              <a:avLst/>
              <a:gdLst/>
              <a:ahLst/>
              <a:cxnLst/>
              <a:rect l="l" t="t" r="r" b="b"/>
              <a:pathLst>
                <a:path w="5608955" h="1686560">
                  <a:moveTo>
                    <a:pt x="5608620" y="0"/>
                  </a:moveTo>
                  <a:lnTo>
                    <a:pt x="0" y="0"/>
                  </a:lnTo>
                  <a:lnTo>
                    <a:pt x="0" y="1635421"/>
                  </a:lnTo>
                  <a:lnTo>
                    <a:pt x="4008" y="1655146"/>
                  </a:lnTo>
                  <a:lnTo>
                    <a:pt x="14922" y="1671298"/>
                  </a:lnTo>
                  <a:lnTo>
                    <a:pt x="31075" y="1682213"/>
                  </a:lnTo>
                  <a:lnTo>
                    <a:pt x="50800" y="1686221"/>
                  </a:lnTo>
                  <a:lnTo>
                    <a:pt x="5557819" y="1686221"/>
                  </a:lnTo>
                  <a:lnTo>
                    <a:pt x="5577544" y="1682213"/>
                  </a:lnTo>
                  <a:lnTo>
                    <a:pt x="5593697" y="1671298"/>
                  </a:lnTo>
                  <a:lnTo>
                    <a:pt x="5604611" y="1655146"/>
                  </a:lnTo>
                  <a:lnTo>
                    <a:pt x="5608620" y="163542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5729" y="2534261"/>
            <a:ext cx="5659755" cy="697865"/>
            <a:chOff x="75729" y="2534261"/>
            <a:chExt cx="5659755" cy="69786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29" y="2663050"/>
              <a:ext cx="5608620" cy="5060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26530" y="2534261"/>
              <a:ext cx="5608955" cy="697865"/>
            </a:xfrm>
            <a:custGeom>
              <a:avLst/>
              <a:gdLst/>
              <a:ahLst/>
              <a:cxnLst/>
              <a:rect l="l" t="t" r="r" b="b"/>
              <a:pathLst>
                <a:path w="5608955" h="697864">
                  <a:moveTo>
                    <a:pt x="5608620" y="0"/>
                  </a:moveTo>
                  <a:lnTo>
                    <a:pt x="0" y="0"/>
                  </a:lnTo>
                  <a:lnTo>
                    <a:pt x="0" y="697496"/>
                  </a:lnTo>
                  <a:lnTo>
                    <a:pt x="5608620" y="69749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729" y="2707323"/>
              <a:ext cx="5608955" cy="473709"/>
            </a:xfrm>
            <a:custGeom>
              <a:avLst/>
              <a:gdLst/>
              <a:ahLst/>
              <a:cxnLst/>
              <a:rect l="l" t="t" r="r" b="b"/>
              <a:pathLst>
                <a:path w="5608955" h="473710">
                  <a:moveTo>
                    <a:pt x="5608620" y="0"/>
                  </a:moveTo>
                  <a:lnTo>
                    <a:pt x="0" y="0"/>
                  </a:lnTo>
                  <a:lnTo>
                    <a:pt x="0" y="422832"/>
                  </a:lnTo>
                  <a:lnTo>
                    <a:pt x="4008" y="442557"/>
                  </a:lnTo>
                  <a:lnTo>
                    <a:pt x="14922" y="458710"/>
                  </a:lnTo>
                  <a:lnTo>
                    <a:pt x="31075" y="469624"/>
                  </a:lnTo>
                  <a:lnTo>
                    <a:pt x="50800" y="473633"/>
                  </a:lnTo>
                  <a:lnTo>
                    <a:pt x="5557819" y="473633"/>
                  </a:lnTo>
                  <a:lnTo>
                    <a:pt x="5577544" y="469624"/>
                  </a:lnTo>
                  <a:lnTo>
                    <a:pt x="5593697" y="458710"/>
                  </a:lnTo>
                  <a:lnTo>
                    <a:pt x="5604611" y="442557"/>
                  </a:lnTo>
                  <a:lnTo>
                    <a:pt x="5608620" y="422832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60" dirty="0"/>
              <a:t> </a:t>
            </a:r>
            <a:r>
              <a:rPr spc="-30" dirty="0"/>
              <a:t>Formulation:</a:t>
            </a:r>
            <a:r>
              <a:rPr spc="70" dirty="0"/>
              <a:t> </a:t>
            </a:r>
            <a:r>
              <a:rPr spc="-30" dirty="0"/>
              <a:t>Objective</a:t>
            </a:r>
            <a:r>
              <a:rPr spc="-6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457707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86168"/>
            <a:ext cx="18357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Provider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Profit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3902" y="865151"/>
            <a:ext cx="1384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SP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8833" y="808220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195" algn="l"/>
              </a:tabLst>
            </a:pPr>
            <a:r>
              <a:rPr sz="1000" spc="-10" dirty="0">
                <a:latin typeface="Tahoma"/>
                <a:cs typeface="Tahoma"/>
              </a:rPr>
              <a:t>Maximize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12161" y="688012"/>
            <a:ext cx="510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  <a:tab pos="445770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K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58529" y="688014"/>
            <a:ext cx="62992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6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60" baseline="3968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dirty="0">
                <a:latin typeface="Tahoma"/>
                <a:cs typeface="Tahoma"/>
              </a:rPr>
              <a:t>=1</a:t>
            </a:r>
            <a:r>
              <a:rPr sz="700" spc="210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83763" y="808220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4799" y="808220"/>
            <a:ext cx="169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39998" y="865151"/>
            <a:ext cx="6369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480" algn="l"/>
              </a:tabLst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10" dirty="0">
                <a:latin typeface="Arial"/>
                <a:cs typeface="Arial"/>
              </a:rPr>
              <a:t>m</a:t>
            </a:r>
            <a:r>
              <a:rPr sz="700" i="1" spc="-10" dirty="0">
                <a:latin typeface="Trebuchet MS"/>
                <a:cs typeface="Trebuchet MS"/>
              </a:rPr>
              <a:t>,</a:t>
            </a: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0" dirty="0">
                <a:latin typeface="Trebuchet MS"/>
                <a:cs typeface="Trebuchet MS"/>
              </a:rPr>
              <a:t>,</a:t>
            </a:r>
            <a:r>
              <a:rPr sz="700" i="1" spc="-1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3693" y="808220"/>
            <a:ext cx="4273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29" dirty="0">
                <a:latin typeface="Lucida Sans Unicode"/>
                <a:cs typeface="Lucida Sans Unicode"/>
              </a:rPr>
              <a:t>—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i="1" spc="-60" dirty="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5457" y="865151"/>
            <a:ext cx="2051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UAV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6705" y="1416367"/>
            <a:ext cx="59690" cy="249554"/>
            <a:chOff x="256705" y="1416367"/>
            <a:chExt cx="59690" cy="249554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416367"/>
              <a:ext cx="59601" cy="596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606156"/>
              <a:ext cx="59601" cy="5960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8430" y="1111523"/>
            <a:ext cx="364807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spc="-10" dirty="0">
                <a:latin typeface="Tahoma"/>
                <a:cs typeface="Tahoma"/>
              </a:rPr>
              <a:t>where: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Calibri"/>
                <a:cs typeface="Calibri"/>
              </a:rPr>
              <a:t>δ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300" baseline="-11904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3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dirty="0">
                <a:latin typeface="Lucida Sans Unicode"/>
                <a:cs typeface="Lucida Sans Unicode"/>
              </a:rPr>
              <a:t>}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Offloading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decision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(IoT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2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35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2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90"/>
              </a:spcBef>
            </a:pP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24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R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50" i="1" spc="-15" baseline="-11904" dirty="0">
                <a:latin typeface="Trebuchet MS"/>
                <a:cs typeface="Trebuchet MS"/>
              </a:rPr>
              <a:t>,</a:t>
            </a:r>
            <a:r>
              <a:rPr sz="1050" i="1" spc="-15" baseline="-11904" dirty="0">
                <a:latin typeface="Arial"/>
                <a:cs typeface="Arial"/>
              </a:rPr>
              <a:t>k</a:t>
            </a:r>
            <a:r>
              <a:rPr sz="1050" i="1" spc="-15" baseline="-11904" dirty="0">
                <a:latin typeface="Trebuchet MS"/>
                <a:cs typeface="Trebuchet MS"/>
              </a:rPr>
              <a:t>,</a:t>
            </a:r>
            <a:r>
              <a:rPr sz="1050" i="1" spc="-1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Profit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per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successful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1795945"/>
            <a:ext cx="59601" cy="596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007846" y="1813092"/>
            <a:ext cx="1765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Trebuchet MS"/>
                <a:cs typeface="Trebuchet MS"/>
              </a:rPr>
              <a:t>τ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1477" y="1718848"/>
            <a:ext cx="28581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R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22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25" dirty="0">
                <a:latin typeface="Lucida Sans Unicode"/>
                <a:cs typeface="Lucida Sans Unicode"/>
              </a:rPr>
              <a:t> </a:t>
            </a:r>
            <a:r>
              <a:rPr sz="1050" i="1" u="sng" baseline="3174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750" i="1" u="sng" baseline="3333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750" i="1" spc="30" baseline="33333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Revenue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(proportional</a:t>
            </a:r>
            <a:r>
              <a:rPr sz="1000" dirty="0">
                <a:latin typeface="Tahoma"/>
                <a:cs typeface="Tahoma"/>
              </a:rPr>
              <a:t> to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rate)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705" y="2016213"/>
            <a:ext cx="59601" cy="596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47713" y="1996061"/>
            <a:ext cx="237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9832" y="1925208"/>
            <a:ext cx="115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7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9913" y="1963162"/>
            <a:ext cx="108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5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3805" y="2079900"/>
            <a:ext cx="419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l</a:t>
            </a:r>
            <a:endParaRPr sz="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1477" y="1943193"/>
            <a:ext cx="1849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80365" algn="l"/>
              </a:tabLst>
            </a:pPr>
            <a:r>
              <a:rPr sz="1500" i="1" spc="-75" baseline="2777" dirty="0">
                <a:latin typeface="Arial"/>
                <a:cs typeface="Arial"/>
              </a:rPr>
              <a:t>C</a:t>
            </a:r>
            <a:r>
              <a:rPr sz="1500" i="1" baseline="2777" dirty="0">
                <a:latin typeface="Arial"/>
                <a:cs typeface="Arial"/>
              </a:rPr>
              <a:t>	</a:t>
            </a:r>
            <a:r>
              <a:rPr sz="1500" baseline="2777" dirty="0">
                <a:latin typeface="Tahoma"/>
                <a:cs typeface="Tahoma"/>
              </a:rPr>
              <a:t>=</a:t>
            </a:r>
            <a:r>
              <a:rPr sz="1500" spc="-52" baseline="2777" dirty="0">
                <a:latin typeface="Tahoma"/>
                <a:cs typeface="Tahoma"/>
              </a:rPr>
              <a:t> </a:t>
            </a:r>
            <a:r>
              <a:rPr sz="1500" i="1" baseline="2777" dirty="0">
                <a:latin typeface="Arial"/>
                <a:cs typeface="Arial"/>
              </a:rPr>
              <a:t>w</a:t>
            </a:r>
            <a:r>
              <a:rPr sz="1500" i="1" spc="75" baseline="2777" dirty="0">
                <a:latin typeface="Arial"/>
                <a:cs typeface="Arial"/>
              </a:rPr>
              <a:t> </a:t>
            </a:r>
            <a:r>
              <a:rPr sz="1500" spc="-547" baseline="2777" dirty="0">
                <a:latin typeface="Lucida Sans Unicode"/>
                <a:cs typeface="Lucida Sans Unicode"/>
              </a:rPr>
              <a:t>·</a:t>
            </a:r>
            <a:r>
              <a:rPr sz="1500" spc="37" baseline="2777" dirty="0">
                <a:latin typeface="Lucida Sans Unicode"/>
                <a:cs typeface="Lucida Sans Unicode"/>
              </a:rPr>
              <a:t> </a:t>
            </a:r>
            <a:r>
              <a:rPr sz="1050" i="1" baseline="-27777" dirty="0">
                <a:latin typeface="Arial"/>
                <a:cs typeface="Arial"/>
              </a:rPr>
              <a:t>t</a:t>
            </a:r>
            <a:r>
              <a:rPr sz="500" i="1" dirty="0">
                <a:latin typeface="Arial"/>
                <a:cs typeface="Arial"/>
              </a:rPr>
              <a:t>proc</a:t>
            </a:r>
            <a:r>
              <a:rPr sz="500" i="1" spc="65" dirty="0">
                <a:latin typeface="Arial"/>
                <a:cs typeface="Arial"/>
              </a:rPr>
              <a:t> </a:t>
            </a:r>
            <a:r>
              <a:rPr sz="1500" baseline="2777" dirty="0">
                <a:latin typeface="Tahoma"/>
                <a:cs typeface="Tahoma"/>
              </a:rPr>
              <a:t>:</a:t>
            </a:r>
            <a:r>
              <a:rPr sz="1500" spc="19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ES</a:t>
            </a:r>
            <a:r>
              <a:rPr sz="1500" spc="37" baseline="2777" dirty="0">
                <a:latin typeface="Tahoma"/>
                <a:cs typeface="Tahoma"/>
              </a:rPr>
              <a:t> </a:t>
            </a:r>
            <a:r>
              <a:rPr sz="1500" spc="-52" baseline="2777" dirty="0">
                <a:latin typeface="Tahoma"/>
                <a:cs typeface="Tahoma"/>
              </a:rPr>
              <a:t>leasing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-30" baseline="2777" dirty="0">
                <a:latin typeface="Tahoma"/>
                <a:cs typeface="Tahoma"/>
              </a:rPr>
              <a:t>cost</a:t>
            </a:r>
            <a:endParaRPr sz="1500" baseline="2777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6705" y="2232202"/>
            <a:ext cx="59601" cy="596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41477" y="2155118"/>
            <a:ext cx="1771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i="1" spc="-35" dirty="0">
                <a:latin typeface="Arial"/>
                <a:cs typeface="Arial"/>
              </a:rPr>
              <a:t>C</a:t>
            </a:r>
            <a:r>
              <a:rPr sz="1050" i="1" spc="-52" baseline="-11904" dirty="0">
                <a:latin typeface="Arial"/>
                <a:cs typeface="Arial"/>
              </a:rPr>
              <a:t>UAV</a:t>
            </a:r>
            <a:r>
              <a:rPr sz="1050" i="1" spc="-44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operational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cost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5729" y="247733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26530" y="2505785"/>
            <a:ext cx="140906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Total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Delay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Constraint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06778" y="2764223"/>
            <a:ext cx="482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baseline="8333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dirty="0">
                <a:latin typeface="Arial"/>
                <a:cs typeface="Arial"/>
              </a:rPr>
              <a:t>l</a:t>
            </a:r>
            <a:r>
              <a:rPr sz="700" i="1" spc="330" dirty="0">
                <a:latin typeface="Arial"/>
                <a:cs typeface="Arial"/>
              </a:rPr>
              <a:t> </a:t>
            </a:r>
            <a:r>
              <a:rPr sz="1500" spc="-75" baseline="8333" dirty="0">
                <a:latin typeface="Tahoma"/>
                <a:cs typeface="Tahoma"/>
              </a:rPr>
              <a:t>=</a:t>
            </a:r>
            <a:endParaRPr sz="1500" baseline="8333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79687" y="2693001"/>
            <a:ext cx="3270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15" baseline="-22222" dirty="0">
                <a:latin typeface="Arial"/>
                <a:cs typeface="Arial"/>
              </a:rPr>
              <a:t>t</a:t>
            </a:r>
            <a:r>
              <a:rPr sz="700" i="1" spc="-10" dirty="0">
                <a:latin typeface="Arial"/>
                <a:cs typeface="Arial"/>
              </a:rPr>
              <a:t>trans</a:t>
            </a:r>
            <a:endParaRPr sz="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50782" y="2814474"/>
            <a:ext cx="237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474709" y="2970936"/>
            <a:ext cx="158750" cy="15240"/>
          </a:xfrm>
          <a:custGeom>
            <a:avLst/>
            <a:gdLst/>
            <a:ahLst/>
            <a:cxnLst/>
            <a:rect l="l" t="t" r="r" b="b"/>
            <a:pathLst>
              <a:path w="158750" h="15239">
                <a:moveTo>
                  <a:pt x="22313" y="0"/>
                </a:moveTo>
                <a:lnTo>
                  <a:pt x="0" y="0"/>
                </a:lnTo>
                <a:lnTo>
                  <a:pt x="0" y="15176"/>
                </a:lnTo>
                <a:lnTo>
                  <a:pt x="22313" y="15176"/>
                </a:lnTo>
                <a:lnTo>
                  <a:pt x="22313" y="0"/>
                </a:lnTo>
                <a:close/>
              </a:path>
              <a:path w="158750" h="15239">
                <a:moveTo>
                  <a:pt x="158508" y="0"/>
                </a:moveTo>
                <a:lnTo>
                  <a:pt x="136194" y="0"/>
                </a:lnTo>
                <a:lnTo>
                  <a:pt x="136194" y="15176"/>
                </a:lnTo>
                <a:lnTo>
                  <a:pt x="158508" y="15176"/>
                </a:lnTo>
                <a:lnTo>
                  <a:pt x="1585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147849" y="2967436"/>
            <a:ext cx="8128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55" dirty="0">
                <a:latin typeface="Tahoma"/>
                <a:cs typeface="Tahoma"/>
              </a:rPr>
              <a:t>T</a:t>
            </a:r>
            <a:r>
              <a:rPr sz="700" spc="-5" dirty="0">
                <a:latin typeface="Tahoma"/>
                <a:cs typeface="Tahoma"/>
              </a:rPr>
              <a:t>r</a:t>
            </a:r>
            <a:r>
              <a:rPr sz="700" dirty="0">
                <a:latin typeface="Tahoma"/>
                <a:cs typeface="Tahoma"/>
              </a:rPr>
              <a:t>ans</a:t>
            </a:r>
            <a:r>
              <a:rPr sz="700" spc="-484" dirty="0">
                <a:latin typeface="Tahoma"/>
                <a:cs typeface="Tahoma"/>
              </a:rPr>
              <a:t>m</a:t>
            </a:r>
            <a:r>
              <a:rPr sz="1500" spc="44" baseline="52777" dirty="0">
                <a:latin typeface="Sitka Banner"/>
                <a:cs typeface="Sitka Banner"/>
              </a:rPr>
              <a:t>`</a:t>
            </a:r>
            <a:r>
              <a:rPr sz="700" spc="-40" dirty="0">
                <a:latin typeface="Tahoma"/>
                <a:cs typeface="Tahoma"/>
              </a:rPr>
              <a:t>i</a:t>
            </a:r>
            <a:r>
              <a:rPr sz="1500" spc="-630" baseline="52777" dirty="0">
                <a:latin typeface="Sitka Banner"/>
                <a:cs typeface="Sitka Banner"/>
              </a:rPr>
              <a:t>˛</a:t>
            </a:r>
            <a:r>
              <a:rPr sz="700" dirty="0">
                <a:latin typeface="Tahoma"/>
                <a:cs typeface="Tahoma"/>
              </a:rPr>
              <a:t>s</a:t>
            </a:r>
            <a:r>
              <a:rPr sz="700" spc="-180" dirty="0">
                <a:latin typeface="Tahoma"/>
                <a:cs typeface="Tahoma"/>
              </a:rPr>
              <a:t>s</a:t>
            </a:r>
            <a:r>
              <a:rPr sz="1500" spc="-450" baseline="52777" dirty="0">
                <a:latin typeface="Sitka Banner"/>
                <a:cs typeface="Sitka Banner"/>
              </a:rPr>
              <a:t>¸</a:t>
            </a:r>
            <a:r>
              <a:rPr sz="700" dirty="0">
                <a:latin typeface="Tahoma"/>
                <a:cs typeface="Tahoma"/>
              </a:rPr>
              <a:t>i</a:t>
            </a:r>
            <a:r>
              <a:rPr sz="700" spc="-85" dirty="0">
                <a:latin typeface="Tahoma"/>
                <a:cs typeface="Tahoma"/>
              </a:rPr>
              <a:t>o</a:t>
            </a:r>
            <a:r>
              <a:rPr sz="1500" spc="-547" baseline="52777" dirty="0">
                <a:latin typeface="Sitka Banner"/>
                <a:cs typeface="Sitka Banner"/>
              </a:rPr>
              <a:t>x</a:t>
            </a:r>
            <a:r>
              <a:rPr sz="700" dirty="0">
                <a:latin typeface="Tahoma"/>
                <a:cs typeface="Tahoma"/>
              </a:rPr>
              <a:t>n</a:t>
            </a:r>
            <a:r>
              <a:rPr sz="700" spc="3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delay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30385" y="2745237"/>
            <a:ext cx="123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28441" y="2684442"/>
            <a:ext cx="300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15" baseline="-27777" dirty="0">
                <a:latin typeface="Arial"/>
                <a:cs typeface="Arial"/>
              </a:rPr>
              <a:t>t</a:t>
            </a:r>
            <a:r>
              <a:rPr sz="700" i="1" spc="-10" dirty="0">
                <a:latin typeface="Arial"/>
                <a:cs typeface="Arial"/>
              </a:rPr>
              <a:t>proc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99523" y="2821371"/>
            <a:ext cx="48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53841" y="2836550"/>
            <a:ext cx="263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Sitka Banner"/>
                <a:cs typeface="Sitka Banner"/>
              </a:rPr>
              <a:t>`</a:t>
            </a:r>
            <a:r>
              <a:rPr sz="1000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Sitka Banner"/>
                <a:cs typeface="Sitka Banner"/>
              </a:rPr>
              <a:t>˛¸</a:t>
            </a:r>
            <a:r>
              <a:rPr sz="1000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Sitka Banner"/>
                <a:cs typeface="Sitka Banner"/>
              </a:rPr>
              <a:t>x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49879" y="2995056"/>
            <a:ext cx="2870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Tahoma"/>
                <a:cs typeface="Tahoma"/>
              </a:rPr>
              <a:t>Proces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11471" y="2995056"/>
            <a:ext cx="4102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sing</a:t>
            </a:r>
            <a:r>
              <a:rPr sz="700" spc="-2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delay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05618" y="2745237"/>
            <a:ext cx="3403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≤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τ</a:t>
            </a:r>
            <a:r>
              <a:rPr sz="1050" i="1" spc="-37" baseline="-11904" dirty="0">
                <a:latin typeface="Arial"/>
                <a:cs typeface="Arial"/>
              </a:rPr>
              <a:t>m</a:t>
            </a:r>
            <a:endParaRPr sz="1050" baseline="-11904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931252" y="3163737"/>
            <a:ext cx="168528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Vol.</a:t>
            </a:r>
            <a:r>
              <a:rPr sz="500" spc="6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22,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No.</a:t>
            </a:r>
            <a:r>
              <a:rPr sz="500" spc="6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1,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919973" y="3148621"/>
            <a:ext cx="3840479" cy="91440"/>
            <a:chOff x="1919973" y="3148621"/>
            <a:chExt cx="3840479" cy="91440"/>
          </a:xfrm>
        </p:grpSpPr>
        <p:sp>
          <p:nvSpPr>
            <p:cNvPr id="54" name="object 5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75729" y="514612"/>
            <a:ext cx="5659755" cy="2725420"/>
            <a:chOff x="75729" y="514612"/>
            <a:chExt cx="5659755" cy="27254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60298"/>
              <a:ext cx="5608620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6530" y="514612"/>
              <a:ext cx="5608955" cy="2725420"/>
            </a:xfrm>
            <a:custGeom>
              <a:avLst/>
              <a:gdLst/>
              <a:ahLst/>
              <a:cxnLst/>
              <a:rect l="l" t="t" r="r" b="b"/>
              <a:pathLst>
                <a:path w="5608955" h="2725420">
                  <a:moveTo>
                    <a:pt x="5608620" y="0"/>
                  </a:moveTo>
                  <a:lnTo>
                    <a:pt x="0" y="0"/>
                  </a:lnTo>
                  <a:lnTo>
                    <a:pt x="0" y="2725385"/>
                  </a:lnTo>
                  <a:lnTo>
                    <a:pt x="5608620" y="272538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9" y="704546"/>
              <a:ext cx="5608955" cy="2535555"/>
            </a:xfrm>
            <a:custGeom>
              <a:avLst/>
              <a:gdLst/>
              <a:ahLst/>
              <a:cxnLst/>
              <a:rect l="l" t="t" r="r" b="b"/>
              <a:pathLst>
                <a:path w="5608955" h="2535555">
                  <a:moveTo>
                    <a:pt x="5608620" y="0"/>
                  </a:moveTo>
                  <a:lnTo>
                    <a:pt x="0" y="0"/>
                  </a:lnTo>
                  <a:lnTo>
                    <a:pt x="0" y="2535452"/>
                  </a:lnTo>
                  <a:lnTo>
                    <a:pt x="5608620" y="2535452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/>
          <p:nvPr/>
        </p:nvSpPr>
        <p:spPr>
          <a:xfrm>
            <a:off x="5648746" y="3053536"/>
            <a:ext cx="66040" cy="50800"/>
          </a:xfrm>
          <a:custGeom>
            <a:avLst/>
            <a:gdLst/>
            <a:ahLst/>
            <a:cxnLst/>
            <a:rect l="l" t="t" r="r" b="b"/>
            <a:pathLst>
              <a:path w="66039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  <a:path w="66039" h="50800">
                <a:moveTo>
                  <a:pt x="66040" y="17780"/>
                </a:moveTo>
                <a:lnTo>
                  <a:pt x="50800" y="30480"/>
                </a:lnTo>
                <a:lnTo>
                  <a:pt x="35560" y="17780"/>
                </a:lnTo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270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70" dirty="0"/>
              <a:t> </a:t>
            </a:r>
            <a:r>
              <a:rPr spc="-30" dirty="0"/>
              <a:t>Formulation:</a:t>
            </a:r>
            <a:r>
              <a:rPr spc="55" dirty="0"/>
              <a:t> </a:t>
            </a:r>
            <a:r>
              <a:rPr spc="-10" dirty="0"/>
              <a:t>Optimization</a:t>
            </a:r>
            <a:r>
              <a:rPr spc="-7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5" name="object 5"/>
          <p:cNvSpPr/>
          <p:nvPr/>
        </p:nvSpPr>
        <p:spPr>
          <a:xfrm>
            <a:off x="75729" y="457707"/>
            <a:ext cx="5608955" cy="215265"/>
          </a:xfrm>
          <a:custGeom>
            <a:avLst/>
            <a:gdLst/>
            <a:ahLst/>
            <a:cxnLst/>
            <a:rect l="l" t="t" r="r" b="b"/>
            <a:pathLst>
              <a:path w="5608955" h="21526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608620" y="215238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530" y="494600"/>
            <a:ext cx="2058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Joint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Optimization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(P1)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1321" y="869015"/>
            <a:ext cx="549910" cy="252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 algn="ctr">
              <a:lnSpc>
                <a:spcPts val="1075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max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ts val="715"/>
              </a:lnSpc>
            </a:pPr>
            <a:r>
              <a:rPr sz="700" spc="40" dirty="0">
                <a:latin typeface="Tahoma"/>
                <a:cs typeface="Tahoma"/>
              </a:rPr>
              <a:t>∆</a:t>
            </a:r>
            <a:r>
              <a:rPr sz="700" i="1" spc="40" dirty="0">
                <a:latin typeface="Trebuchet MS"/>
                <a:cs typeface="Trebuchet MS"/>
              </a:rPr>
              <a:t>,</a:t>
            </a:r>
            <a:r>
              <a:rPr sz="700" i="1" spc="40" dirty="0">
                <a:latin typeface="Arial"/>
                <a:cs typeface="Arial"/>
              </a:rPr>
              <a:t>K</a:t>
            </a:r>
            <a:r>
              <a:rPr sz="700" i="1" spc="40" dirty="0">
                <a:latin typeface="Trebuchet MS"/>
                <a:cs typeface="Trebuchet MS"/>
              </a:rPr>
              <a:t>,</a:t>
            </a:r>
            <a:r>
              <a:rPr sz="700" i="1" spc="40" dirty="0">
                <a:latin typeface="Arial"/>
                <a:cs typeface="Arial"/>
              </a:rPr>
              <a:t>X</a:t>
            </a:r>
            <a:r>
              <a:rPr sz="750" i="1" spc="60" baseline="-11111" dirty="0">
                <a:latin typeface="Arial"/>
                <a:cs typeface="Arial"/>
              </a:rPr>
              <a:t>U</a:t>
            </a:r>
            <a:r>
              <a:rPr sz="750" i="1" spc="-7" baseline="-11111" dirty="0">
                <a:latin typeface="Arial"/>
                <a:cs typeface="Arial"/>
              </a:rPr>
              <a:t> 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i="1" spc="-37" baseline="-11111" dirty="0">
                <a:latin typeface="Arial"/>
                <a:cs typeface="Arial"/>
              </a:rPr>
              <a:t>U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2712" y="887989"/>
            <a:ext cx="269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37" baseline="8333" dirty="0">
                <a:latin typeface="Arial"/>
                <a:cs typeface="Arial"/>
              </a:rPr>
              <a:t>P</a:t>
            </a:r>
            <a:r>
              <a:rPr sz="700" i="1" spc="-25" dirty="0">
                <a:latin typeface="Arial"/>
                <a:cs typeface="Arial"/>
              </a:rPr>
              <a:t>SP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4179" y="1264404"/>
            <a:ext cx="582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subject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to: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2674" y="1144209"/>
            <a:ext cx="2933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8600" algn="l"/>
              </a:tabLst>
            </a:pPr>
            <a:r>
              <a:rPr sz="700" i="1" dirty="0">
                <a:latin typeface="Arial"/>
                <a:cs typeface="Arial"/>
              </a:rPr>
              <a:t>K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9207" y="1144211"/>
            <a:ext cx="412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65" dirty="0">
                <a:latin typeface="Sitka Banner"/>
                <a:cs typeface="Sitka Banner"/>
              </a:rPr>
              <a:t> </a:t>
            </a:r>
            <a:r>
              <a:rPr sz="1000" spc="835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3817" y="1454546"/>
            <a:ext cx="3917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k</a:t>
            </a:r>
            <a:r>
              <a:rPr sz="700" dirty="0">
                <a:latin typeface="Tahoma"/>
                <a:cs typeface="Tahoma"/>
              </a:rPr>
              <a:t>=1</a:t>
            </a:r>
            <a:r>
              <a:rPr sz="700" spc="215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6902" y="1264404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93125" y="1321348"/>
            <a:ext cx="237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4961" y="1264404"/>
            <a:ext cx="1324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1795" algn="l"/>
              </a:tabLst>
            </a:pPr>
            <a:r>
              <a:rPr sz="1000" dirty="0">
                <a:latin typeface="Lucida Sans Unicode"/>
                <a:cs typeface="Lucida Sans Unicode"/>
              </a:rPr>
              <a:t>≤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Calibri"/>
                <a:cs typeface="Calibri"/>
              </a:rPr>
              <a:t>,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200" dirty="0">
                <a:latin typeface="Lucida Sans Unicode"/>
                <a:cs typeface="Lucida Sans Unicode"/>
              </a:rPr>
              <a:t>∀</a:t>
            </a:r>
            <a:r>
              <a:rPr sz="1000" i="1" spc="-200" dirty="0">
                <a:latin typeface="Arial"/>
                <a:cs typeface="Arial"/>
              </a:rPr>
              <a:t>m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spc="114" dirty="0">
                <a:latin typeface="Arial"/>
                <a:cs typeface="Arial"/>
              </a:rPr>
              <a:t>M</a:t>
            </a:r>
            <a:r>
              <a:rPr sz="1000" spc="114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0663" y="1264404"/>
            <a:ext cx="12560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7F7F7F"/>
                </a:solidFill>
                <a:latin typeface="Tahoma"/>
                <a:cs typeface="Tahoma"/>
              </a:rPr>
              <a:t>(Each</a:t>
            </a:r>
            <a:r>
              <a:rPr sz="1000" spc="-3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IoT</a:t>
            </a:r>
            <a:r>
              <a:rPr sz="1000" spc="-30" dirty="0">
                <a:solidFill>
                  <a:srgbClr val="7F7F7F"/>
                </a:solidFill>
                <a:latin typeface="Tahoma"/>
                <a:cs typeface="Tahoma"/>
              </a:rPr>
              <a:t> paired </a:t>
            </a:r>
            <a:r>
              <a:rPr sz="1000" spc="-25" dirty="0">
                <a:solidFill>
                  <a:srgbClr val="7F7F7F"/>
                </a:solidFill>
                <a:latin typeface="Tahoma"/>
                <a:cs typeface="Tahoma"/>
              </a:rPr>
              <a:t>once)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2839" y="1591972"/>
            <a:ext cx="3067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1935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9207" y="1591975"/>
            <a:ext cx="426084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187" baseline="3968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50592" y="1712168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06815" y="1769099"/>
            <a:ext cx="5753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7205" algn="l"/>
              </a:tabLst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U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68651" y="1712168"/>
            <a:ext cx="23196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934" algn="l"/>
              </a:tabLst>
            </a:pPr>
            <a:r>
              <a:rPr sz="1000" dirty="0">
                <a:latin typeface="Lucida Sans Unicode"/>
                <a:cs typeface="Lucida Sans Unicode"/>
              </a:rPr>
              <a:t>≤</a:t>
            </a:r>
            <a:r>
              <a:rPr sz="1000" spc="-6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295" dirty="0">
                <a:latin typeface="Arial"/>
                <a:cs typeface="Arial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,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185" dirty="0">
                <a:latin typeface="Lucida Sans Unicode"/>
                <a:cs typeface="Lucida Sans Unicode"/>
              </a:rPr>
              <a:t>∀</a:t>
            </a:r>
            <a:r>
              <a:rPr sz="1000" i="1" spc="-185" dirty="0">
                <a:latin typeface="Arial"/>
                <a:cs typeface="Arial"/>
              </a:rPr>
              <a:t>k</a:t>
            </a:r>
            <a:r>
              <a:rPr sz="1000" i="1" spc="120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-150" dirty="0">
                <a:latin typeface="Arial"/>
                <a:cs typeface="Arial"/>
              </a:rPr>
              <a:t> </a:t>
            </a:r>
            <a:r>
              <a:rPr sz="1000" spc="170" dirty="0">
                <a:latin typeface="Lucida Sans Unicode"/>
                <a:cs typeface="Lucida Sans Unicode"/>
              </a:rPr>
              <a:t>}</a:t>
            </a:r>
            <a:r>
              <a:rPr sz="1000" spc="235" dirty="0">
                <a:latin typeface="Lucida Sans Unicode"/>
                <a:cs typeface="Lucida Sans Unicode"/>
              </a:rPr>
              <a:t>  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(UAV</a:t>
            </a:r>
            <a:r>
              <a:rPr sz="1000" spc="6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7F7F7F"/>
                </a:solidFill>
                <a:latin typeface="Tahoma"/>
                <a:cs typeface="Tahoma"/>
              </a:rPr>
              <a:t>capacity)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2839" y="2039724"/>
            <a:ext cx="3086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K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36052" y="2039726"/>
            <a:ext cx="419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29207" y="2350073"/>
            <a:ext cx="4216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37" baseline="3968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k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0592" y="2159932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06828" y="2216863"/>
            <a:ext cx="5632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7205" algn="l"/>
              </a:tabLst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S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68651" y="2159932"/>
            <a:ext cx="2147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</a:tabLst>
            </a:pPr>
            <a:r>
              <a:rPr sz="1000" dirty="0">
                <a:latin typeface="Lucida Sans Unicode"/>
                <a:cs typeface="Lucida Sans Unicode"/>
              </a:rPr>
              <a:t>≤</a:t>
            </a:r>
            <a:r>
              <a:rPr sz="1000" spc="-6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204" dirty="0">
                <a:latin typeface="Arial"/>
                <a:cs typeface="Arial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,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165" dirty="0">
                <a:latin typeface="Lucida Sans Unicode"/>
                <a:cs typeface="Lucida Sans Unicode"/>
              </a:rPr>
              <a:t>∀</a:t>
            </a:r>
            <a:r>
              <a:rPr sz="1000" i="1" spc="-165" dirty="0">
                <a:latin typeface="Arial"/>
                <a:cs typeface="Arial"/>
              </a:rPr>
              <a:t>l</a:t>
            </a:r>
            <a:r>
              <a:rPr sz="1000" i="1" spc="12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1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spc="75" dirty="0">
                <a:latin typeface="Arial"/>
                <a:cs typeface="Arial"/>
              </a:rPr>
              <a:t>L</a:t>
            </a:r>
            <a:r>
              <a:rPr sz="1000" spc="75" dirty="0">
                <a:latin typeface="Lucida Sans Unicode"/>
                <a:cs typeface="Lucida Sans Unicode"/>
              </a:rPr>
              <a:t>}</a:t>
            </a:r>
            <a:r>
              <a:rPr sz="1000" spc="225" dirty="0">
                <a:latin typeface="Lucida Sans Unicode"/>
                <a:cs typeface="Lucida Sans Unicode"/>
              </a:rPr>
              <a:t>  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(ES</a:t>
            </a:r>
            <a:r>
              <a:rPr sz="1000" spc="5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7F7F7F"/>
                </a:solidFill>
                <a:latin typeface="Tahoma"/>
                <a:cs typeface="Tahoma"/>
              </a:rPr>
              <a:t>capacity)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2839" y="2487488"/>
            <a:ext cx="510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  <a:tab pos="445770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K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36052" y="2487490"/>
            <a:ext cx="622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6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54440" y="2607696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10663" y="2664627"/>
            <a:ext cx="237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72499" y="2607696"/>
            <a:ext cx="1623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7834" algn="l"/>
              </a:tabLst>
            </a:pP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i="1" spc="65" dirty="0">
                <a:latin typeface="Calibri"/>
                <a:cs typeface="Calibri"/>
              </a:rPr>
              <a:t>ζ</a:t>
            </a:r>
            <a:r>
              <a:rPr sz="1000" i="1" spc="65" dirty="0">
                <a:latin typeface="Arial"/>
                <a:cs typeface="Arial"/>
              </a:rPr>
              <a:t>M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(Min</a:t>
            </a:r>
            <a:r>
              <a:rPr sz="1000" spc="2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7F7F7F"/>
                </a:solidFill>
                <a:latin typeface="Tahoma"/>
                <a:cs typeface="Tahoma"/>
              </a:rPr>
              <a:t>service</a:t>
            </a:r>
            <a:r>
              <a:rPr sz="1000" spc="2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7F7F7F"/>
                </a:solidFill>
                <a:latin typeface="Tahoma"/>
                <a:cs typeface="Tahoma"/>
              </a:rPr>
              <a:t>demand)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82712" y="2766820"/>
            <a:ext cx="875665" cy="3594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40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60" baseline="3968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dirty="0">
                <a:latin typeface="Tahoma"/>
                <a:cs typeface="Tahoma"/>
              </a:rPr>
              <a:t>=1</a:t>
            </a:r>
            <a:r>
              <a:rPr sz="700" spc="210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sz="1500" baseline="8333" dirty="0">
                <a:latin typeface="Tahoma"/>
                <a:cs typeface="Tahoma"/>
              </a:rPr>
              <a:t>Γ</a:t>
            </a:r>
            <a:r>
              <a:rPr sz="700" i="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i="1" spc="-80" dirty="0">
                <a:latin typeface="Arial"/>
                <a:cs typeface="Arial"/>
              </a:rPr>
              <a:t> </a:t>
            </a:r>
            <a:r>
              <a:rPr sz="1500" i="1" baseline="8333" dirty="0">
                <a:latin typeface="Calibri"/>
                <a:cs typeface="Calibri"/>
              </a:rPr>
              <a:t>,</a:t>
            </a:r>
            <a:r>
              <a:rPr sz="1500" i="1" spc="-60" baseline="8333" dirty="0">
                <a:latin typeface="Calibri"/>
                <a:cs typeface="Calibri"/>
              </a:rPr>
              <a:t> </a:t>
            </a:r>
            <a:r>
              <a:rPr sz="1500" baseline="8333" dirty="0">
                <a:latin typeface="Tahoma"/>
                <a:cs typeface="Tahoma"/>
              </a:rPr>
              <a:t>Γ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dirty="0">
                <a:latin typeface="Arial"/>
                <a:cs typeface="Arial"/>
              </a:rPr>
              <a:t>l</a:t>
            </a:r>
            <a:r>
              <a:rPr sz="700" i="1" spc="240" dirty="0">
                <a:latin typeface="Arial"/>
                <a:cs typeface="Arial"/>
              </a:rPr>
              <a:t> </a:t>
            </a:r>
            <a:r>
              <a:rPr sz="1500" baseline="8333" dirty="0">
                <a:latin typeface="Lucida Sans Unicode"/>
                <a:cs typeface="Lucida Sans Unicode"/>
              </a:rPr>
              <a:t>≥</a:t>
            </a:r>
            <a:r>
              <a:rPr sz="1500" spc="-15" baseline="8333" dirty="0">
                <a:latin typeface="Lucida Sans Unicode"/>
                <a:cs typeface="Lucida Sans Unicode"/>
              </a:rPr>
              <a:t> </a:t>
            </a:r>
            <a:r>
              <a:rPr sz="1500" spc="-37" baseline="8333" dirty="0">
                <a:latin typeface="Tahoma"/>
                <a:cs typeface="Tahoma"/>
              </a:rPr>
              <a:t>Γ</a:t>
            </a:r>
            <a:r>
              <a:rPr sz="700" i="1" spc="-25" dirty="0">
                <a:latin typeface="Arial"/>
                <a:cs typeface="Arial"/>
              </a:rPr>
              <a:t>th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41867" y="2929412"/>
            <a:ext cx="927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(SINR</a:t>
            </a:r>
            <a:r>
              <a:rPr sz="1000" spc="-3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7F7F7F"/>
                </a:solidFill>
                <a:latin typeface="Tahoma"/>
                <a:cs typeface="Tahoma"/>
              </a:rPr>
              <a:t>threshold)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0" name="object 4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20812" y="3162393"/>
            <a:ext cx="406400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  <a:tabLst>
                <a:tab pos="307340" algn="l"/>
              </a:tabLst>
            </a:pPr>
            <a:r>
              <a:rPr sz="1000" i="1" spc="30" dirty="0">
                <a:latin typeface="Arial"/>
                <a:cs typeface="Arial"/>
              </a:rPr>
              <a:t>t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70" dirty="0">
                <a:latin typeface="Lucida Sans Unicode"/>
                <a:cs typeface="Lucida Sans Unicode"/>
              </a:rPr>
              <a:t>≤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31252" y="3162393"/>
            <a:ext cx="1685289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0"/>
              </a:lnSpc>
              <a:tabLst>
                <a:tab pos="294640" algn="l"/>
              </a:tabLst>
            </a:pPr>
            <a:r>
              <a:rPr sz="1500" i="1" spc="-75" baseline="-19444" dirty="0">
                <a:latin typeface="Calibri"/>
                <a:cs typeface="Calibri"/>
              </a:rPr>
              <a:t>τ</a:t>
            </a:r>
            <a:r>
              <a:rPr sz="1500" i="1" baseline="-19444" dirty="0">
                <a:latin typeface="Calibri"/>
                <a:cs typeface="Calibri"/>
              </a:rPr>
              <a:t>	</a:t>
            </a:r>
            <a:r>
              <a:rPr sz="1500" spc="-30" baseline="-19444" dirty="0">
                <a:solidFill>
                  <a:srgbClr val="7F7F7F"/>
                </a:solidFill>
                <a:latin typeface="Tahoma"/>
                <a:cs typeface="Tahoma"/>
              </a:rPr>
              <a:t>(Dela</a:t>
            </a:r>
            <a:r>
              <a:rPr sz="1500" spc="-30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y</a:t>
            </a:r>
            <a:r>
              <a:rPr sz="1500" spc="-22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500" spc="-37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constraint</a:t>
            </a:r>
            <a:r>
              <a:rPr sz="1500" spc="-15802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)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5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3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Vol.</a:t>
            </a:r>
            <a:r>
              <a:rPr sz="500" spc="6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22,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No.</a:t>
            </a:r>
            <a:r>
              <a:rPr sz="500" spc="7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1,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75729" y="514612"/>
            <a:ext cx="5659755" cy="2725420"/>
            <a:chOff x="75729" y="514612"/>
            <a:chExt cx="5659755" cy="27254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60298"/>
              <a:ext cx="5608620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6530" y="514612"/>
              <a:ext cx="5608955" cy="2725420"/>
            </a:xfrm>
            <a:custGeom>
              <a:avLst/>
              <a:gdLst/>
              <a:ahLst/>
              <a:cxnLst/>
              <a:rect l="l" t="t" r="r" b="b"/>
              <a:pathLst>
                <a:path w="5608955" h="2725420">
                  <a:moveTo>
                    <a:pt x="5608620" y="0"/>
                  </a:moveTo>
                  <a:lnTo>
                    <a:pt x="0" y="0"/>
                  </a:lnTo>
                  <a:lnTo>
                    <a:pt x="0" y="2725385"/>
                  </a:lnTo>
                  <a:lnTo>
                    <a:pt x="5608620" y="272538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9" y="704546"/>
              <a:ext cx="5608955" cy="2535555"/>
            </a:xfrm>
            <a:custGeom>
              <a:avLst/>
              <a:gdLst/>
              <a:ahLst/>
              <a:cxnLst/>
              <a:rect l="l" t="t" r="r" b="b"/>
              <a:pathLst>
                <a:path w="5608955" h="2535555">
                  <a:moveTo>
                    <a:pt x="5608620" y="0"/>
                  </a:moveTo>
                  <a:lnTo>
                    <a:pt x="0" y="0"/>
                  </a:lnTo>
                  <a:lnTo>
                    <a:pt x="0" y="2535452"/>
                  </a:lnTo>
                  <a:lnTo>
                    <a:pt x="5608620" y="2535452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/>
          <p:nvPr/>
        </p:nvSpPr>
        <p:spPr>
          <a:xfrm>
            <a:off x="5648746" y="3053536"/>
            <a:ext cx="66040" cy="50800"/>
          </a:xfrm>
          <a:custGeom>
            <a:avLst/>
            <a:gdLst/>
            <a:ahLst/>
            <a:cxnLst/>
            <a:rect l="l" t="t" r="r" b="b"/>
            <a:pathLst>
              <a:path w="66039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  <a:path w="66039" h="50800">
                <a:moveTo>
                  <a:pt x="66040" y="17780"/>
                </a:moveTo>
                <a:lnTo>
                  <a:pt x="50800" y="30480"/>
                </a:lnTo>
                <a:lnTo>
                  <a:pt x="35560" y="17780"/>
                </a:lnTo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70" dirty="0"/>
              <a:t> </a:t>
            </a:r>
            <a:r>
              <a:rPr spc="-30" dirty="0"/>
              <a:t>Formulation:</a:t>
            </a:r>
            <a:r>
              <a:rPr spc="55" dirty="0"/>
              <a:t> </a:t>
            </a:r>
            <a:r>
              <a:rPr spc="-10" dirty="0"/>
              <a:t>Optimization</a:t>
            </a:r>
            <a:r>
              <a:rPr spc="-7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5" name="object 5"/>
          <p:cNvSpPr/>
          <p:nvPr/>
        </p:nvSpPr>
        <p:spPr>
          <a:xfrm>
            <a:off x="75729" y="457707"/>
            <a:ext cx="5608955" cy="215265"/>
          </a:xfrm>
          <a:custGeom>
            <a:avLst/>
            <a:gdLst/>
            <a:ahLst/>
            <a:cxnLst/>
            <a:rect l="l" t="t" r="r" b="b"/>
            <a:pathLst>
              <a:path w="5608955" h="21526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608620" y="215238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530" y="494600"/>
            <a:ext cx="2058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Joint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Optimization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(P1)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1321" y="869015"/>
            <a:ext cx="549910" cy="252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 algn="ctr">
              <a:lnSpc>
                <a:spcPts val="1075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max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ts val="715"/>
              </a:lnSpc>
            </a:pPr>
            <a:r>
              <a:rPr sz="700" spc="40" dirty="0">
                <a:latin typeface="Tahoma"/>
                <a:cs typeface="Tahoma"/>
              </a:rPr>
              <a:t>∆</a:t>
            </a:r>
            <a:r>
              <a:rPr sz="700" i="1" spc="40" dirty="0">
                <a:latin typeface="Trebuchet MS"/>
                <a:cs typeface="Trebuchet MS"/>
              </a:rPr>
              <a:t>,</a:t>
            </a:r>
            <a:r>
              <a:rPr sz="700" i="1" spc="40" dirty="0">
                <a:latin typeface="Arial"/>
                <a:cs typeface="Arial"/>
              </a:rPr>
              <a:t>K</a:t>
            </a:r>
            <a:r>
              <a:rPr sz="700" i="1" spc="40" dirty="0">
                <a:latin typeface="Trebuchet MS"/>
                <a:cs typeface="Trebuchet MS"/>
              </a:rPr>
              <a:t>,</a:t>
            </a:r>
            <a:r>
              <a:rPr sz="700" i="1" spc="40" dirty="0">
                <a:latin typeface="Arial"/>
                <a:cs typeface="Arial"/>
              </a:rPr>
              <a:t>X</a:t>
            </a:r>
            <a:r>
              <a:rPr sz="750" i="1" spc="60" baseline="-11111" dirty="0">
                <a:latin typeface="Arial"/>
                <a:cs typeface="Arial"/>
              </a:rPr>
              <a:t>U</a:t>
            </a:r>
            <a:r>
              <a:rPr sz="750" i="1" spc="-7" baseline="-11111" dirty="0">
                <a:latin typeface="Arial"/>
                <a:cs typeface="Arial"/>
              </a:rPr>
              <a:t> 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i="1" spc="-37" baseline="-11111" dirty="0">
                <a:latin typeface="Arial"/>
                <a:cs typeface="Arial"/>
              </a:rPr>
              <a:t>U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2712" y="887989"/>
            <a:ext cx="269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37" baseline="8333" dirty="0">
                <a:latin typeface="Arial"/>
                <a:cs typeface="Arial"/>
              </a:rPr>
              <a:t>P</a:t>
            </a:r>
            <a:r>
              <a:rPr sz="700" i="1" spc="-25" dirty="0">
                <a:latin typeface="Arial"/>
                <a:cs typeface="Arial"/>
              </a:rPr>
              <a:t>SP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4179" y="1264404"/>
            <a:ext cx="582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subject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to: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2674" y="1144209"/>
            <a:ext cx="2933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8600" algn="l"/>
              </a:tabLst>
            </a:pPr>
            <a:r>
              <a:rPr sz="700" i="1" dirty="0">
                <a:latin typeface="Arial"/>
                <a:cs typeface="Arial"/>
              </a:rPr>
              <a:t>K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9207" y="1144211"/>
            <a:ext cx="412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65" dirty="0">
                <a:latin typeface="Sitka Banner"/>
                <a:cs typeface="Sitka Banner"/>
              </a:rPr>
              <a:t> </a:t>
            </a:r>
            <a:r>
              <a:rPr sz="1000" spc="835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3817" y="1454546"/>
            <a:ext cx="3917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k</a:t>
            </a:r>
            <a:r>
              <a:rPr sz="700" dirty="0">
                <a:latin typeface="Tahoma"/>
                <a:cs typeface="Tahoma"/>
              </a:rPr>
              <a:t>=1</a:t>
            </a:r>
            <a:r>
              <a:rPr sz="700" spc="215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6902" y="1264404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93125" y="1321348"/>
            <a:ext cx="237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4961" y="1264404"/>
            <a:ext cx="1324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1795" algn="l"/>
              </a:tabLst>
            </a:pPr>
            <a:r>
              <a:rPr sz="1000" dirty="0">
                <a:latin typeface="Lucida Sans Unicode"/>
                <a:cs typeface="Lucida Sans Unicode"/>
              </a:rPr>
              <a:t>≤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Calibri"/>
                <a:cs typeface="Calibri"/>
              </a:rPr>
              <a:t>,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200" dirty="0">
                <a:latin typeface="Lucida Sans Unicode"/>
                <a:cs typeface="Lucida Sans Unicode"/>
              </a:rPr>
              <a:t>∀</a:t>
            </a:r>
            <a:r>
              <a:rPr sz="1000" i="1" spc="-200" dirty="0">
                <a:latin typeface="Arial"/>
                <a:cs typeface="Arial"/>
              </a:rPr>
              <a:t>m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spc="114" dirty="0">
                <a:latin typeface="Arial"/>
                <a:cs typeface="Arial"/>
              </a:rPr>
              <a:t>M</a:t>
            </a:r>
            <a:r>
              <a:rPr sz="1000" spc="114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0663" y="1264404"/>
            <a:ext cx="12560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7F7F7F"/>
                </a:solidFill>
                <a:latin typeface="Tahoma"/>
                <a:cs typeface="Tahoma"/>
              </a:rPr>
              <a:t>(Each</a:t>
            </a:r>
            <a:r>
              <a:rPr sz="1000" spc="-3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IoT</a:t>
            </a:r>
            <a:r>
              <a:rPr sz="1000" spc="-30" dirty="0">
                <a:solidFill>
                  <a:srgbClr val="7F7F7F"/>
                </a:solidFill>
                <a:latin typeface="Tahoma"/>
                <a:cs typeface="Tahoma"/>
              </a:rPr>
              <a:t> paired </a:t>
            </a:r>
            <a:r>
              <a:rPr sz="1000" spc="-25" dirty="0">
                <a:solidFill>
                  <a:srgbClr val="7F7F7F"/>
                </a:solidFill>
                <a:latin typeface="Tahoma"/>
                <a:cs typeface="Tahoma"/>
              </a:rPr>
              <a:t>once)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2839" y="1591972"/>
            <a:ext cx="3067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1935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9207" y="1591975"/>
            <a:ext cx="426084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187" baseline="3968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50592" y="1712168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06815" y="1769099"/>
            <a:ext cx="5753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7205" algn="l"/>
              </a:tabLst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U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68651" y="1712168"/>
            <a:ext cx="23196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934" algn="l"/>
              </a:tabLst>
            </a:pPr>
            <a:r>
              <a:rPr sz="1000" dirty="0">
                <a:latin typeface="Lucida Sans Unicode"/>
                <a:cs typeface="Lucida Sans Unicode"/>
              </a:rPr>
              <a:t>≤</a:t>
            </a:r>
            <a:r>
              <a:rPr sz="1000" spc="-6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295" dirty="0">
                <a:latin typeface="Arial"/>
                <a:cs typeface="Arial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,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185" dirty="0">
                <a:latin typeface="Lucida Sans Unicode"/>
                <a:cs typeface="Lucida Sans Unicode"/>
              </a:rPr>
              <a:t>∀</a:t>
            </a:r>
            <a:r>
              <a:rPr sz="1000" i="1" spc="-185" dirty="0">
                <a:latin typeface="Arial"/>
                <a:cs typeface="Arial"/>
              </a:rPr>
              <a:t>k</a:t>
            </a:r>
            <a:r>
              <a:rPr sz="1000" i="1" spc="120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-150" dirty="0">
                <a:latin typeface="Arial"/>
                <a:cs typeface="Arial"/>
              </a:rPr>
              <a:t> </a:t>
            </a:r>
            <a:r>
              <a:rPr sz="1000" spc="170" dirty="0">
                <a:latin typeface="Lucida Sans Unicode"/>
                <a:cs typeface="Lucida Sans Unicode"/>
              </a:rPr>
              <a:t>}</a:t>
            </a:r>
            <a:r>
              <a:rPr sz="1000" spc="235" dirty="0">
                <a:latin typeface="Lucida Sans Unicode"/>
                <a:cs typeface="Lucida Sans Unicode"/>
              </a:rPr>
              <a:t>  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(UAV</a:t>
            </a:r>
            <a:r>
              <a:rPr sz="1000" spc="6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7F7F7F"/>
                </a:solidFill>
                <a:latin typeface="Tahoma"/>
                <a:cs typeface="Tahoma"/>
              </a:rPr>
              <a:t>capacity)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2839" y="2039724"/>
            <a:ext cx="3086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K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36052" y="2039726"/>
            <a:ext cx="419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29207" y="2350073"/>
            <a:ext cx="4216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37" baseline="3968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k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0592" y="2159932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06828" y="2216863"/>
            <a:ext cx="5632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7205" algn="l"/>
              </a:tabLst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S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68651" y="2159932"/>
            <a:ext cx="2147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</a:tabLst>
            </a:pPr>
            <a:r>
              <a:rPr sz="1000" dirty="0">
                <a:latin typeface="Lucida Sans Unicode"/>
                <a:cs typeface="Lucida Sans Unicode"/>
              </a:rPr>
              <a:t>≤</a:t>
            </a:r>
            <a:r>
              <a:rPr sz="1000" spc="-6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204" dirty="0">
                <a:latin typeface="Arial"/>
                <a:cs typeface="Arial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,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165" dirty="0">
                <a:latin typeface="Lucida Sans Unicode"/>
                <a:cs typeface="Lucida Sans Unicode"/>
              </a:rPr>
              <a:t>∀</a:t>
            </a:r>
            <a:r>
              <a:rPr sz="1000" i="1" spc="-165" dirty="0">
                <a:latin typeface="Arial"/>
                <a:cs typeface="Arial"/>
              </a:rPr>
              <a:t>l</a:t>
            </a:r>
            <a:r>
              <a:rPr sz="1000" i="1" spc="12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1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spc="75" dirty="0">
                <a:latin typeface="Arial"/>
                <a:cs typeface="Arial"/>
              </a:rPr>
              <a:t>L</a:t>
            </a:r>
            <a:r>
              <a:rPr sz="1000" spc="75" dirty="0">
                <a:latin typeface="Lucida Sans Unicode"/>
                <a:cs typeface="Lucida Sans Unicode"/>
              </a:rPr>
              <a:t>}</a:t>
            </a:r>
            <a:r>
              <a:rPr sz="1000" spc="225" dirty="0">
                <a:latin typeface="Lucida Sans Unicode"/>
                <a:cs typeface="Lucida Sans Unicode"/>
              </a:rPr>
              <a:t>  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(ES</a:t>
            </a:r>
            <a:r>
              <a:rPr sz="1000" spc="5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7F7F7F"/>
                </a:solidFill>
                <a:latin typeface="Tahoma"/>
                <a:cs typeface="Tahoma"/>
              </a:rPr>
              <a:t>capacity)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2839" y="2487488"/>
            <a:ext cx="510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  <a:tab pos="445770" algn="l"/>
              </a:tabLst>
            </a:pPr>
            <a:r>
              <a:rPr sz="700" i="1" spc="5" dirty="0">
                <a:latin typeface="Arial"/>
                <a:cs typeface="Arial"/>
              </a:rPr>
              <a:t>M</a:t>
            </a:r>
            <a:r>
              <a:rPr sz="700" i="1" dirty="0">
                <a:latin typeface="Arial"/>
                <a:cs typeface="Arial"/>
              </a:rPr>
              <a:t>	K	</a:t>
            </a:r>
            <a:r>
              <a:rPr sz="700" i="1" spc="-5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36052" y="2487490"/>
            <a:ext cx="622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10" dirty="0">
                <a:latin typeface="Sitka Banner"/>
                <a:cs typeface="Sitka Banner"/>
              </a:rPr>
              <a:t> </a:t>
            </a: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-60" dirty="0">
                <a:latin typeface="Sitka Banner"/>
                <a:cs typeface="Sitka Banner"/>
              </a:rPr>
              <a:t> </a:t>
            </a:r>
            <a:r>
              <a:rPr sz="1000" spc="844" dirty="0">
                <a:latin typeface="Sitka Banner"/>
                <a:cs typeface="Sitka Banner"/>
              </a:rPr>
              <a:t>Σ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54440" y="2607696"/>
            <a:ext cx="81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10663" y="2664627"/>
            <a:ext cx="237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Arial"/>
                <a:cs typeface="Arial"/>
              </a:rPr>
              <a:t>m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k</a:t>
            </a:r>
            <a:r>
              <a:rPr sz="700" i="1" spc="-20" dirty="0">
                <a:latin typeface="Trebuchet MS"/>
                <a:cs typeface="Trebuchet MS"/>
              </a:rPr>
              <a:t>,</a:t>
            </a:r>
            <a:r>
              <a:rPr sz="700" i="1" spc="-20" dirty="0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72499" y="2607696"/>
            <a:ext cx="1623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7834" algn="l"/>
              </a:tabLst>
            </a:pP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i="1" spc="65" dirty="0">
                <a:latin typeface="Calibri"/>
                <a:cs typeface="Calibri"/>
              </a:rPr>
              <a:t>ζ</a:t>
            </a:r>
            <a:r>
              <a:rPr sz="1000" i="1" spc="65" dirty="0">
                <a:latin typeface="Arial"/>
                <a:cs typeface="Arial"/>
              </a:rPr>
              <a:t>M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(Min</a:t>
            </a:r>
            <a:r>
              <a:rPr sz="1000" spc="2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7F7F7F"/>
                </a:solidFill>
                <a:latin typeface="Tahoma"/>
                <a:cs typeface="Tahoma"/>
              </a:rPr>
              <a:t>service</a:t>
            </a:r>
            <a:r>
              <a:rPr sz="1000" spc="2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7F7F7F"/>
                </a:solidFill>
                <a:latin typeface="Tahoma"/>
                <a:cs typeface="Tahoma"/>
              </a:rPr>
              <a:t>demand)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82712" y="2766820"/>
            <a:ext cx="875665" cy="3594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40"/>
              </a:spcBef>
            </a:pPr>
            <a:r>
              <a:rPr sz="1050" i="1" baseline="3968" dirty="0">
                <a:latin typeface="Arial"/>
                <a:cs typeface="Arial"/>
              </a:rPr>
              <a:t>m</a:t>
            </a:r>
            <a:r>
              <a:rPr sz="1050" baseline="3968" dirty="0">
                <a:latin typeface="Tahoma"/>
                <a:cs typeface="Tahoma"/>
              </a:rPr>
              <a:t>=1</a:t>
            </a:r>
            <a:r>
              <a:rPr sz="1050" spc="60" baseline="3968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dirty="0">
                <a:latin typeface="Tahoma"/>
                <a:cs typeface="Tahoma"/>
              </a:rPr>
              <a:t>=1</a:t>
            </a:r>
            <a:r>
              <a:rPr sz="700" spc="210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sz="1500" baseline="8333" dirty="0">
                <a:latin typeface="Tahoma"/>
                <a:cs typeface="Tahoma"/>
              </a:rPr>
              <a:t>Γ</a:t>
            </a:r>
            <a:r>
              <a:rPr sz="700" i="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i="1" spc="-80" dirty="0">
                <a:latin typeface="Arial"/>
                <a:cs typeface="Arial"/>
              </a:rPr>
              <a:t> </a:t>
            </a:r>
            <a:r>
              <a:rPr sz="1500" i="1" baseline="8333" dirty="0">
                <a:latin typeface="Calibri"/>
                <a:cs typeface="Calibri"/>
              </a:rPr>
              <a:t>,</a:t>
            </a:r>
            <a:r>
              <a:rPr sz="1500" i="1" spc="-60" baseline="8333" dirty="0">
                <a:latin typeface="Calibri"/>
                <a:cs typeface="Calibri"/>
              </a:rPr>
              <a:t> </a:t>
            </a:r>
            <a:r>
              <a:rPr sz="1500" baseline="8333" dirty="0">
                <a:latin typeface="Tahoma"/>
                <a:cs typeface="Tahoma"/>
              </a:rPr>
              <a:t>Γ</a:t>
            </a:r>
            <a:r>
              <a:rPr sz="700" i="1" dirty="0">
                <a:latin typeface="Arial"/>
                <a:cs typeface="Arial"/>
              </a:rPr>
              <a:t>k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dirty="0">
                <a:latin typeface="Arial"/>
                <a:cs typeface="Arial"/>
              </a:rPr>
              <a:t>l</a:t>
            </a:r>
            <a:r>
              <a:rPr sz="700" i="1" spc="240" dirty="0">
                <a:latin typeface="Arial"/>
                <a:cs typeface="Arial"/>
              </a:rPr>
              <a:t> </a:t>
            </a:r>
            <a:r>
              <a:rPr sz="1500" baseline="8333" dirty="0">
                <a:latin typeface="Lucida Sans Unicode"/>
                <a:cs typeface="Lucida Sans Unicode"/>
              </a:rPr>
              <a:t>≥</a:t>
            </a:r>
            <a:r>
              <a:rPr sz="1500" spc="-15" baseline="8333" dirty="0">
                <a:latin typeface="Lucida Sans Unicode"/>
                <a:cs typeface="Lucida Sans Unicode"/>
              </a:rPr>
              <a:t> </a:t>
            </a:r>
            <a:r>
              <a:rPr sz="1500" spc="-37" baseline="8333" dirty="0">
                <a:latin typeface="Tahoma"/>
                <a:cs typeface="Tahoma"/>
              </a:rPr>
              <a:t>Γ</a:t>
            </a:r>
            <a:r>
              <a:rPr sz="700" i="1" spc="-25" dirty="0">
                <a:latin typeface="Arial"/>
                <a:cs typeface="Arial"/>
              </a:rPr>
              <a:t>th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41867" y="2929412"/>
            <a:ext cx="927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F7F7F"/>
                </a:solidFill>
                <a:latin typeface="Tahoma"/>
                <a:cs typeface="Tahoma"/>
              </a:rPr>
              <a:t>(SINR</a:t>
            </a:r>
            <a:r>
              <a:rPr sz="1000" spc="-3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7F7F7F"/>
                </a:solidFill>
                <a:latin typeface="Tahoma"/>
                <a:cs typeface="Tahoma"/>
              </a:rPr>
              <a:t>threshold)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0" name="object 4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20812" y="3162393"/>
            <a:ext cx="406400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  <a:tabLst>
                <a:tab pos="307340" algn="l"/>
              </a:tabLst>
            </a:pPr>
            <a:r>
              <a:rPr sz="1000" i="1" spc="30" dirty="0">
                <a:latin typeface="Arial"/>
                <a:cs typeface="Arial"/>
              </a:rPr>
              <a:t>t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70" dirty="0">
                <a:latin typeface="Lucida Sans Unicode"/>
                <a:cs typeface="Lucida Sans Unicode"/>
              </a:rPr>
              <a:t>≤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31252" y="3162393"/>
            <a:ext cx="1685289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0"/>
              </a:lnSpc>
              <a:tabLst>
                <a:tab pos="294640" algn="l"/>
              </a:tabLst>
            </a:pPr>
            <a:r>
              <a:rPr sz="1500" i="1" spc="-75" baseline="-19444" dirty="0">
                <a:latin typeface="Calibri"/>
                <a:cs typeface="Calibri"/>
              </a:rPr>
              <a:t>τ</a:t>
            </a:r>
            <a:r>
              <a:rPr sz="1500" i="1" baseline="-19444" dirty="0">
                <a:latin typeface="Calibri"/>
                <a:cs typeface="Calibri"/>
              </a:rPr>
              <a:t>	</a:t>
            </a:r>
            <a:r>
              <a:rPr sz="1500" spc="-30" baseline="-19444" dirty="0">
                <a:solidFill>
                  <a:srgbClr val="7F7F7F"/>
                </a:solidFill>
                <a:latin typeface="Tahoma"/>
                <a:cs typeface="Tahoma"/>
              </a:rPr>
              <a:t>(Dela</a:t>
            </a:r>
            <a:r>
              <a:rPr sz="1500" spc="-30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y</a:t>
            </a:r>
            <a:r>
              <a:rPr sz="1500" spc="-22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500" spc="-37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constraint</a:t>
            </a:r>
            <a:r>
              <a:rPr sz="1500" spc="-15802" baseline="-19444" dirty="0">
                <a:solidFill>
                  <a:srgbClr val="7F7F7F"/>
                </a:solidFill>
                <a:latin typeface="Tahoma"/>
                <a:cs typeface="Tahoma"/>
                <a:hlinkClick r:id="rId3" action="ppaction://hlinksldjump"/>
              </a:rPr>
              <a:t>)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5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3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Vol.</a:t>
            </a:r>
            <a:r>
              <a:rPr sz="500" spc="6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22,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No.</a:t>
            </a:r>
            <a:r>
              <a:rPr sz="500" spc="7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1,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567767" y="3151037"/>
            <a:ext cx="14922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0" dirty="0"/>
              <a:t> </a:t>
            </a:r>
            <a:r>
              <a:rPr spc="-35" dirty="0"/>
              <a:t>Decomposition</a:t>
            </a:r>
            <a:r>
              <a:rPr spc="-30" dirty="0"/>
              <a:t> </a:t>
            </a:r>
            <a:r>
              <a:rPr spc="-20" dirty="0"/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55279" y="480731"/>
            <a:ext cx="2249805" cy="545465"/>
            <a:chOff x="1755279" y="480731"/>
            <a:chExt cx="2249805" cy="545465"/>
          </a:xfrm>
        </p:grpSpPr>
        <p:sp>
          <p:nvSpPr>
            <p:cNvPr id="4" name="object 4"/>
            <p:cNvSpPr/>
            <p:nvPr/>
          </p:nvSpPr>
          <p:spPr>
            <a:xfrm>
              <a:off x="1757819" y="483271"/>
              <a:ext cx="2244725" cy="540385"/>
            </a:xfrm>
            <a:custGeom>
              <a:avLst/>
              <a:gdLst/>
              <a:ahLst/>
              <a:cxnLst/>
              <a:rect l="l" t="t" r="r" b="b"/>
              <a:pathLst>
                <a:path w="2244725" h="540385">
                  <a:moveTo>
                    <a:pt x="219375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89395"/>
                  </a:lnTo>
                  <a:lnTo>
                    <a:pt x="3977" y="509095"/>
                  </a:lnTo>
                  <a:lnTo>
                    <a:pt x="14823" y="525183"/>
                  </a:lnTo>
                  <a:lnTo>
                    <a:pt x="30910" y="536029"/>
                  </a:lnTo>
                  <a:lnTo>
                    <a:pt x="50610" y="540006"/>
                  </a:lnTo>
                  <a:lnTo>
                    <a:pt x="2193759" y="540006"/>
                  </a:lnTo>
                  <a:lnTo>
                    <a:pt x="2213459" y="536029"/>
                  </a:lnTo>
                  <a:lnTo>
                    <a:pt x="2229546" y="525183"/>
                  </a:lnTo>
                  <a:lnTo>
                    <a:pt x="2240392" y="509095"/>
                  </a:lnTo>
                  <a:lnTo>
                    <a:pt x="2244369" y="489395"/>
                  </a:lnTo>
                  <a:lnTo>
                    <a:pt x="2244369" y="50610"/>
                  </a:lnTo>
                  <a:lnTo>
                    <a:pt x="2240392" y="30910"/>
                  </a:lnTo>
                  <a:lnTo>
                    <a:pt x="2229546" y="14823"/>
                  </a:lnTo>
                  <a:lnTo>
                    <a:pt x="2213459" y="3977"/>
                  </a:lnTo>
                  <a:lnTo>
                    <a:pt x="2193759" y="0"/>
                  </a:lnTo>
                  <a:close/>
                </a:path>
              </a:pathLst>
            </a:custGeom>
            <a:solidFill>
              <a:srgbClr val="C1E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7819" y="483271"/>
              <a:ext cx="2244725" cy="540385"/>
            </a:xfrm>
            <a:custGeom>
              <a:avLst/>
              <a:gdLst/>
              <a:ahLst/>
              <a:cxnLst/>
              <a:rect l="l" t="t" r="r" b="b"/>
              <a:pathLst>
                <a:path w="2244725" h="540385">
                  <a:moveTo>
                    <a:pt x="219375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89395"/>
                  </a:lnTo>
                  <a:lnTo>
                    <a:pt x="3977" y="509095"/>
                  </a:lnTo>
                  <a:lnTo>
                    <a:pt x="14823" y="525183"/>
                  </a:lnTo>
                  <a:lnTo>
                    <a:pt x="30910" y="536029"/>
                  </a:lnTo>
                  <a:lnTo>
                    <a:pt x="50610" y="540006"/>
                  </a:lnTo>
                  <a:lnTo>
                    <a:pt x="2193759" y="540006"/>
                  </a:lnTo>
                  <a:lnTo>
                    <a:pt x="2213459" y="536029"/>
                  </a:lnTo>
                  <a:lnTo>
                    <a:pt x="2229546" y="525183"/>
                  </a:lnTo>
                  <a:lnTo>
                    <a:pt x="2240392" y="509095"/>
                  </a:lnTo>
                  <a:lnTo>
                    <a:pt x="2244369" y="489395"/>
                  </a:lnTo>
                  <a:lnTo>
                    <a:pt x="2244369" y="50610"/>
                  </a:lnTo>
                  <a:lnTo>
                    <a:pt x="2240392" y="30910"/>
                  </a:lnTo>
                  <a:lnTo>
                    <a:pt x="2229546" y="14823"/>
                  </a:lnTo>
                  <a:lnTo>
                    <a:pt x="2213459" y="3977"/>
                  </a:lnTo>
                  <a:lnTo>
                    <a:pt x="219375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10283" y="560446"/>
            <a:ext cx="1939925" cy="3409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000" b="1" spc="-10" dirty="0">
                <a:latin typeface="Arial"/>
                <a:cs typeface="Arial"/>
              </a:rPr>
              <a:t>Joint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Problem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30" dirty="0">
                <a:latin typeface="Arial"/>
                <a:cs typeface="Arial"/>
              </a:rPr>
              <a:t>(P1)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 MT"/>
                <a:cs typeface="Arial MT"/>
              </a:rPr>
              <a:t>NP-</a:t>
            </a:r>
            <a:r>
              <a:rPr sz="900" dirty="0">
                <a:latin typeface="Arial MT"/>
                <a:cs typeface="Arial MT"/>
              </a:rPr>
              <a:t>Hard:</a:t>
            </a:r>
            <a:r>
              <a:rPr sz="900" spc="20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Offloading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spc="185" dirty="0">
                <a:latin typeface="Arial MT"/>
                <a:cs typeface="Arial MT"/>
              </a:rPr>
              <a:t>+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Topology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66153" y="1439861"/>
            <a:ext cx="1889760" cy="365125"/>
            <a:chOff x="1066153" y="1439861"/>
            <a:chExt cx="1889760" cy="365125"/>
          </a:xfrm>
        </p:grpSpPr>
        <p:sp>
          <p:nvSpPr>
            <p:cNvPr id="8" name="object 8"/>
            <p:cNvSpPr/>
            <p:nvPr/>
          </p:nvSpPr>
          <p:spPr>
            <a:xfrm>
              <a:off x="1068693" y="1442401"/>
              <a:ext cx="1884680" cy="360045"/>
            </a:xfrm>
            <a:custGeom>
              <a:avLst/>
              <a:gdLst/>
              <a:ahLst/>
              <a:cxnLst/>
              <a:rect l="l" t="t" r="r" b="b"/>
              <a:pathLst>
                <a:path w="1884680" h="360044">
                  <a:moveTo>
                    <a:pt x="183375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7"/>
                  </a:lnTo>
                  <a:lnTo>
                    <a:pt x="50610" y="360004"/>
                  </a:lnTo>
                  <a:lnTo>
                    <a:pt x="1833754" y="360004"/>
                  </a:lnTo>
                  <a:lnTo>
                    <a:pt x="1853454" y="356027"/>
                  </a:lnTo>
                  <a:lnTo>
                    <a:pt x="1869541" y="345180"/>
                  </a:lnTo>
                  <a:lnTo>
                    <a:pt x="1880388" y="329093"/>
                  </a:lnTo>
                  <a:lnTo>
                    <a:pt x="1884365" y="309393"/>
                  </a:lnTo>
                  <a:lnTo>
                    <a:pt x="1884365" y="50610"/>
                  </a:lnTo>
                  <a:lnTo>
                    <a:pt x="1880388" y="30910"/>
                  </a:lnTo>
                  <a:lnTo>
                    <a:pt x="1869541" y="14823"/>
                  </a:lnTo>
                  <a:lnTo>
                    <a:pt x="1853454" y="3977"/>
                  </a:lnTo>
                  <a:lnTo>
                    <a:pt x="1833754" y="0"/>
                  </a:lnTo>
                  <a:close/>
                </a:path>
              </a:pathLst>
            </a:custGeom>
            <a:solidFill>
              <a:srgbClr val="B2E0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8693" y="1442401"/>
              <a:ext cx="1884680" cy="360045"/>
            </a:xfrm>
            <a:custGeom>
              <a:avLst/>
              <a:gdLst/>
              <a:ahLst/>
              <a:cxnLst/>
              <a:rect l="l" t="t" r="r" b="b"/>
              <a:pathLst>
                <a:path w="1884680" h="360044">
                  <a:moveTo>
                    <a:pt x="183375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7"/>
                  </a:lnTo>
                  <a:lnTo>
                    <a:pt x="50610" y="360004"/>
                  </a:lnTo>
                  <a:lnTo>
                    <a:pt x="1833754" y="360004"/>
                  </a:lnTo>
                  <a:lnTo>
                    <a:pt x="1853454" y="356027"/>
                  </a:lnTo>
                  <a:lnTo>
                    <a:pt x="1869541" y="345180"/>
                  </a:lnTo>
                  <a:lnTo>
                    <a:pt x="1880388" y="329093"/>
                  </a:lnTo>
                  <a:lnTo>
                    <a:pt x="1884365" y="309393"/>
                  </a:lnTo>
                  <a:lnTo>
                    <a:pt x="1884365" y="50610"/>
                  </a:lnTo>
                  <a:lnTo>
                    <a:pt x="1880388" y="30910"/>
                  </a:lnTo>
                  <a:lnTo>
                    <a:pt x="1869541" y="14823"/>
                  </a:lnTo>
                  <a:lnTo>
                    <a:pt x="1853454" y="3977"/>
                  </a:lnTo>
                  <a:lnTo>
                    <a:pt x="183375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55293" y="1429571"/>
            <a:ext cx="1511935" cy="3409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000" b="1" spc="-45" dirty="0">
                <a:latin typeface="Arial"/>
                <a:cs typeface="Arial"/>
              </a:rPr>
              <a:t>Subproblem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</a:t>
            </a:r>
            <a:r>
              <a:rPr sz="1000" b="1" spc="30" dirty="0">
                <a:latin typeface="Arial"/>
                <a:cs typeface="Arial"/>
              </a:rPr>
              <a:t> (P2)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 MT"/>
                <a:cs typeface="Arial MT"/>
              </a:rPr>
              <a:t>Offload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Strategy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Optimization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04410" y="1439861"/>
            <a:ext cx="1889760" cy="365125"/>
            <a:chOff x="2804410" y="1439861"/>
            <a:chExt cx="1889760" cy="365125"/>
          </a:xfrm>
        </p:grpSpPr>
        <p:sp>
          <p:nvSpPr>
            <p:cNvPr id="12" name="object 12"/>
            <p:cNvSpPr/>
            <p:nvPr/>
          </p:nvSpPr>
          <p:spPr>
            <a:xfrm>
              <a:off x="2806950" y="1442401"/>
              <a:ext cx="1884680" cy="360045"/>
            </a:xfrm>
            <a:custGeom>
              <a:avLst/>
              <a:gdLst/>
              <a:ahLst/>
              <a:cxnLst/>
              <a:rect l="l" t="t" r="r" b="b"/>
              <a:pathLst>
                <a:path w="1884679" h="360044">
                  <a:moveTo>
                    <a:pt x="183375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7"/>
                  </a:lnTo>
                  <a:lnTo>
                    <a:pt x="50610" y="360004"/>
                  </a:lnTo>
                  <a:lnTo>
                    <a:pt x="1833754" y="360004"/>
                  </a:lnTo>
                  <a:lnTo>
                    <a:pt x="1853454" y="356027"/>
                  </a:lnTo>
                  <a:lnTo>
                    <a:pt x="1869541" y="345180"/>
                  </a:lnTo>
                  <a:lnTo>
                    <a:pt x="1880388" y="329093"/>
                  </a:lnTo>
                  <a:lnTo>
                    <a:pt x="1884365" y="309393"/>
                  </a:lnTo>
                  <a:lnTo>
                    <a:pt x="1884365" y="50610"/>
                  </a:lnTo>
                  <a:lnTo>
                    <a:pt x="1880388" y="30910"/>
                  </a:lnTo>
                  <a:lnTo>
                    <a:pt x="1869541" y="14823"/>
                  </a:lnTo>
                  <a:lnTo>
                    <a:pt x="1853454" y="3977"/>
                  </a:lnTo>
                  <a:lnTo>
                    <a:pt x="1833754" y="0"/>
                  </a:lnTo>
                  <a:close/>
                </a:path>
              </a:pathLst>
            </a:custGeom>
            <a:solidFill>
              <a:srgbClr val="B2E0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06950" y="1442401"/>
              <a:ext cx="1884680" cy="360045"/>
            </a:xfrm>
            <a:custGeom>
              <a:avLst/>
              <a:gdLst/>
              <a:ahLst/>
              <a:cxnLst/>
              <a:rect l="l" t="t" r="r" b="b"/>
              <a:pathLst>
                <a:path w="1884679" h="360044">
                  <a:moveTo>
                    <a:pt x="183375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7"/>
                  </a:lnTo>
                  <a:lnTo>
                    <a:pt x="50610" y="360004"/>
                  </a:lnTo>
                  <a:lnTo>
                    <a:pt x="1833754" y="360004"/>
                  </a:lnTo>
                  <a:lnTo>
                    <a:pt x="1853454" y="356027"/>
                  </a:lnTo>
                  <a:lnTo>
                    <a:pt x="1869541" y="345180"/>
                  </a:lnTo>
                  <a:lnTo>
                    <a:pt x="1880388" y="329093"/>
                  </a:lnTo>
                  <a:lnTo>
                    <a:pt x="1884365" y="309393"/>
                  </a:lnTo>
                  <a:lnTo>
                    <a:pt x="1884365" y="50610"/>
                  </a:lnTo>
                  <a:lnTo>
                    <a:pt x="1880388" y="30910"/>
                  </a:lnTo>
                  <a:lnTo>
                    <a:pt x="1869541" y="14823"/>
                  </a:lnTo>
                  <a:lnTo>
                    <a:pt x="1853454" y="3977"/>
                  </a:lnTo>
                  <a:lnTo>
                    <a:pt x="183375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40227" y="1429571"/>
            <a:ext cx="1418590" cy="3409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000" b="1" spc="-45" dirty="0">
                <a:latin typeface="Arial"/>
                <a:cs typeface="Arial"/>
              </a:rPr>
              <a:t>Subproblem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</a:t>
            </a:r>
            <a:r>
              <a:rPr sz="1000" b="1" spc="30" dirty="0">
                <a:latin typeface="Arial"/>
                <a:cs typeface="Arial"/>
              </a:rPr>
              <a:t> (P4)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UAV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Topology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Optimization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05815" y="1020747"/>
            <a:ext cx="1774189" cy="1195705"/>
            <a:chOff x="2005815" y="1020747"/>
            <a:chExt cx="1774189" cy="1195705"/>
          </a:xfrm>
        </p:grpSpPr>
        <p:sp>
          <p:nvSpPr>
            <p:cNvPr id="16" name="object 16"/>
            <p:cNvSpPr/>
            <p:nvPr/>
          </p:nvSpPr>
          <p:spPr>
            <a:xfrm>
              <a:off x="2018985" y="1025808"/>
              <a:ext cx="861060" cy="410209"/>
            </a:xfrm>
            <a:custGeom>
              <a:avLst/>
              <a:gdLst/>
              <a:ahLst/>
              <a:cxnLst/>
              <a:rect l="l" t="t" r="r" b="b"/>
              <a:pathLst>
                <a:path w="861060" h="410209">
                  <a:moveTo>
                    <a:pt x="861018" y="0"/>
                  </a:moveTo>
                  <a:lnTo>
                    <a:pt x="0" y="41019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4531" y="1403761"/>
              <a:ext cx="33655" cy="47625"/>
            </a:xfrm>
            <a:custGeom>
              <a:avLst/>
              <a:gdLst/>
              <a:ahLst/>
              <a:cxnLst/>
              <a:rect l="l" t="t" r="r" b="b"/>
              <a:pathLst>
                <a:path w="33655" h="47625">
                  <a:moveTo>
                    <a:pt x="33590" y="47514"/>
                  </a:moveTo>
                  <a:lnTo>
                    <a:pt x="26650" y="41910"/>
                  </a:lnTo>
                  <a:lnTo>
                    <a:pt x="16582" y="37626"/>
                  </a:lnTo>
                  <a:lnTo>
                    <a:pt x="6620" y="34999"/>
                  </a:lnTo>
                  <a:lnTo>
                    <a:pt x="0" y="34367"/>
                  </a:lnTo>
                  <a:lnTo>
                    <a:pt x="3680" y="28828"/>
                  </a:lnTo>
                  <a:lnTo>
                    <a:pt x="7916" y="19437"/>
                  </a:lnTo>
                  <a:lnTo>
                    <a:pt x="10933" y="8919"/>
                  </a:lnTo>
                  <a:lnTo>
                    <a:pt x="10953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80004" y="1025808"/>
              <a:ext cx="861060" cy="410209"/>
            </a:xfrm>
            <a:custGeom>
              <a:avLst/>
              <a:gdLst/>
              <a:ahLst/>
              <a:cxnLst/>
              <a:rect l="l" t="t" r="r" b="b"/>
              <a:pathLst>
                <a:path w="861060" h="410209">
                  <a:moveTo>
                    <a:pt x="0" y="0"/>
                  </a:moveTo>
                  <a:lnTo>
                    <a:pt x="861018" y="41019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11886" y="1403761"/>
              <a:ext cx="33655" cy="47625"/>
            </a:xfrm>
            <a:custGeom>
              <a:avLst/>
              <a:gdLst/>
              <a:ahLst/>
              <a:cxnLst/>
              <a:rect l="l" t="t" r="r" b="b"/>
              <a:pathLst>
                <a:path w="33654" h="47625">
                  <a:moveTo>
                    <a:pt x="22636" y="0"/>
                  </a:moveTo>
                  <a:lnTo>
                    <a:pt x="22656" y="8919"/>
                  </a:lnTo>
                  <a:lnTo>
                    <a:pt x="25673" y="19437"/>
                  </a:lnTo>
                  <a:lnTo>
                    <a:pt x="29909" y="28828"/>
                  </a:lnTo>
                  <a:lnTo>
                    <a:pt x="33590" y="34367"/>
                  </a:lnTo>
                  <a:lnTo>
                    <a:pt x="26969" y="34999"/>
                  </a:lnTo>
                  <a:lnTo>
                    <a:pt x="17007" y="37626"/>
                  </a:lnTo>
                  <a:lnTo>
                    <a:pt x="6939" y="41910"/>
                  </a:lnTo>
                  <a:lnTo>
                    <a:pt x="0" y="47514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10876" y="1804935"/>
              <a:ext cx="1738630" cy="406400"/>
            </a:xfrm>
            <a:custGeom>
              <a:avLst/>
              <a:gdLst/>
              <a:ahLst/>
              <a:cxnLst/>
              <a:rect l="l" t="t" r="r" b="b"/>
              <a:pathLst>
                <a:path w="1738629" h="406400">
                  <a:moveTo>
                    <a:pt x="0" y="0"/>
                  </a:moveTo>
                  <a:lnTo>
                    <a:pt x="6728" y="56768"/>
                  </a:lnTo>
                  <a:lnTo>
                    <a:pt x="26244" y="109254"/>
                  </a:lnTo>
                  <a:lnTo>
                    <a:pt x="57546" y="157461"/>
                  </a:lnTo>
                  <a:lnTo>
                    <a:pt x="99630" y="201392"/>
                  </a:lnTo>
                  <a:lnTo>
                    <a:pt x="151493" y="241048"/>
                  </a:lnTo>
                  <a:lnTo>
                    <a:pt x="212132" y="276433"/>
                  </a:lnTo>
                  <a:lnTo>
                    <a:pt x="280544" y="307550"/>
                  </a:lnTo>
                  <a:lnTo>
                    <a:pt x="317352" y="321508"/>
                  </a:lnTo>
                  <a:lnTo>
                    <a:pt x="355727" y="334400"/>
                  </a:lnTo>
                  <a:lnTo>
                    <a:pt x="395544" y="346226"/>
                  </a:lnTo>
                  <a:lnTo>
                    <a:pt x="436677" y="356987"/>
                  </a:lnTo>
                  <a:lnTo>
                    <a:pt x="479001" y="366682"/>
                  </a:lnTo>
                  <a:lnTo>
                    <a:pt x="522391" y="375312"/>
                  </a:lnTo>
                  <a:lnTo>
                    <a:pt x="566721" y="382878"/>
                  </a:lnTo>
                  <a:lnTo>
                    <a:pt x="611866" y="389379"/>
                  </a:lnTo>
                  <a:lnTo>
                    <a:pt x="657700" y="394817"/>
                  </a:lnTo>
                  <a:lnTo>
                    <a:pt x="704099" y="399191"/>
                  </a:lnTo>
                  <a:lnTo>
                    <a:pt x="750937" y="402501"/>
                  </a:lnTo>
                  <a:lnTo>
                    <a:pt x="798088" y="404749"/>
                  </a:lnTo>
                  <a:lnTo>
                    <a:pt x="845427" y="405933"/>
                  </a:lnTo>
                  <a:lnTo>
                    <a:pt x="892829" y="406056"/>
                  </a:lnTo>
                  <a:lnTo>
                    <a:pt x="940168" y="405117"/>
                  </a:lnTo>
                  <a:lnTo>
                    <a:pt x="987319" y="403115"/>
                  </a:lnTo>
                  <a:lnTo>
                    <a:pt x="1034156" y="400053"/>
                  </a:lnTo>
                  <a:lnTo>
                    <a:pt x="1080555" y="395929"/>
                  </a:lnTo>
                  <a:lnTo>
                    <a:pt x="1126390" y="390745"/>
                  </a:lnTo>
                  <a:lnTo>
                    <a:pt x="1171535" y="384500"/>
                  </a:lnTo>
                  <a:lnTo>
                    <a:pt x="1215865" y="377195"/>
                  </a:lnTo>
                  <a:lnTo>
                    <a:pt x="1259255" y="368831"/>
                  </a:lnTo>
                  <a:lnTo>
                    <a:pt x="1301579" y="359407"/>
                  </a:lnTo>
                  <a:lnTo>
                    <a:pt x="1342712" y="348924"/>
                  </a:lnTo>
                  <a:lnTo>
                    <a:pt x="1382528" y="337382"/>
                  </a:lnTo>
                  <a:lnTo>
                    <a:pt x="1420903" y="324782"/>
                  </a:lnTo>
                  <a:lnTo>
                    <a:pt x="1457711" y="311123"/>
                  </a:lnTo>
                  <a:lnTo>
                    <a:pt x="1526123" y="280633"/>
                  </a:lnTo>
                  <a:lnTo>
                    <a:pt x="1586762" y="245915"/>
                  </a:lnTo>
                  <a:lnTo>
                    <a:pt x="1638625" y="206970"/>
                  </a:lnTo>
                  <a:lnTo>
                    <a:pt x="1680709" y="163802"/>
                  </a:lnTo>
                  <a:lnTo>
                    <a:pt x="1712011" y="116413"/>
                  </a:lnTo>
                  <a:lnTo>
                    <a:pt x="1731527" y="64806"/>
                  </a:lnTo>
                  <a:lnTo>
                    <a:pt x="1736553" y="37421"/>
                  </a:lnTo>
                  <a:lnTo>
                    <a:pt x="1738256" y="8983"/>
                  </a:lnTo>
                </a:path>
              </a:pathLst>
            </a:custGeom>
            <a:ln w="10122">
              <a:solidFill>
                <a:srgbClr val="FF66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22815" y="1808985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13815" y="2343269"/>
            <a:ext cx="1593850" cy="31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Solution:</a:t>
            </a:r>
            <a:r>
              <a:rPr sz="1000" spc="18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R-TMSC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Algorithm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500" spc="-10" dirty="0">
                <a:latin typeface="Tahoma"/>
                <a:cs typeface="Tahoma"/>
              </a:rPr>
              <a:t>(Three-</a:t>
            </a:r>
            <a:r>
              <a:rPr sz="500" dirty="0">
                <a:latin typeface="Tahoma"/>
                <a:cs typeface="Tahoma"/>
              </a:rPr>
              <a:t>sided</a:t>
            </a:r>
            <a:r>
              <a:rPr sz="500" spc="220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Matching)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8220" y="2267348"/>
            <a:ext cx="1021715" cy="468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Solution:</a:t>
            </a:r>
            <a:r>
              <a:rPr sz="1000" spc="4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K-means Iterative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Algorithm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500" spc="-10" dirty="0">
                <a:latin typeface="Tahoma"/>
                <a:cs typeface="Tahoma"/>
              </a:rPr>
              <a:t>(Clustering-</a:t>
            </a:r>
            <a:r>
              <a:rPr sz="500" dirty="0">
                <a:latin typeface="Tahoma"/>
                <a:cs typeface="Tahoma"/>
              </a:rPr>
              <a:t>based</a:t>
            </a:r>
            <a:r>
              <a:rPr sz="500" spc="260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positioning)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60867" y="2805676"/>
            <a:ext cx="16383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6600"/>
                </a:solidFill>
                <a:latin typeface="Arial"/>
                <a:cs typeface="Arial"/>
              </a:rPr>
              <a:t>Iterative</a:t>
            </a:r>
            <a:r>
              <a:rPr sz="1000" b="1" spc="5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6600"/>
                </a:solidFill>
                <a:latin typeface="Arial"/>
                <a:cs typeface="Arial"/>
              </a:rPr>
              <a:t>Joint</a:t>
            </a:r>
            <a:r>
              <a:rPr sz="1000" b="1" spc="5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6600"/>
                </a:solidFill>
                <a:latin typeface="Arial"/>
                <a:cs typeface="Arial"/>
              </a:rPr>
              <a:t>Optimization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6" name="object 2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10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745688"/>
            <a:ext cx="5659755" cy="982980"/>
            <a:chOff x="75729" y="745688"/>
            <a:chExt cx="5659755" cy="982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74483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45688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918750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</a:t>
            </a:r>
            <a:r>
              <a:rPr spc="40" dirty="0"/>
              <a:t> </a:t>
            </a:r>
            <a:r>
              <a:rPr spc="-20" dirty="0"/>
              <a:t>Solution:</a:t>
            </a:r>
            <a:r>
              <a:rPr spc="204" dirty="0"/>
              <a:t> </a:t>
            </a:r>
            <a:r>
              <a:rPr dirty="0"/>
              <a:t>R-TMSC</a:t>
            </a:r>
            <a:r>
              <a:rPr spc="4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88771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717219"/>
            <a:ext cx="28619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Three-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Sided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Cyclic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Preferences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30" y="892713"/>
            <a:ext cx="2832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Insight:</a:t>
            </a:r>
            <a:r>
              <a:rPr sz="1000" b="1" spc="9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Agents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cyclic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preference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structure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924" y="1133020"/>
            <a:ext cx="104301" cy="1043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3281" y="1123641"/>
            <a:ext cx="463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577" y="1082502"/>
            <a:ext cx="2305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3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better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SINR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745688"/>
            <a:ext cx="5659755" cy="982980"/>
            <a:chOff x="75729" y="745688"/>
            <a:chExt cx="5659755" cy="982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74483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45688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918750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</a:t>
            </a:r>
            <a:r>
              <a:rPr spc="40" dirty="0"/>
              <a:t> </a:t>
            </a:r>
            <a:r>
              <a:rPr spc="-20" dirty="0"/>
              <a:t>Solution:</a:t>
            </a:r>
            <a:r>
              <a:rPr spc="204" dirty="0"/>
              <a:t> </a:t>
            </a:r>
            <a:r>
              <a:rPr dirty="0"/>
              <a:t>R-TMSC</a:t>
            </a:r>
            <a:r>
              <a:rPr spc="4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88771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717219"/>
            <a:ext cx="28619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Three-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Sided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Cyclic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Preferences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30" y="892713"/>
            <a:ext cx="2832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Insight:</a:t>
            </a:r>
            <a:r>
              <a:rPr sz="1000" b="1" spc="9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Agents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cyclic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preference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structure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924" y="1133020"/>
            <a:ext cx="104775" cy="294640"/>
            <a:chOff x="207924" y="1133020"/>
            <a:chExt cx="104775" cy="29464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1133020"/>
              <a:ext cx="104301" cy="104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" y="1322809"/>
              <a:ext cx="104301" cy="10430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43281" y="1123641"/>
            <a:ext cx="46355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9577" y="1044543"/>
            <a:ext cx="435673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3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better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SINR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4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Arial"/>
                <a:cs typeface="Arial"/>
              </a:rPr>
              <a:t>lower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computing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capacity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(cost-</a:t>
            </a:r>
            <a:r>
              <a:rPr sz="1000" spc="-30" dirty="0">
                <a:latin typeface="Tahoma"/>
                <a:cs typeface="Tahoma"/>
              </a:rPr>
              <a:t>effective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SP)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745688"/>
            <a:ext cx="5659755" cy="982980"/>
            <a:chOff x="75729" y="745688"/>
            <a:chExt cx="5659755" cy="982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74483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45688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918750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</a:t>
            </a:r>
            <a:r>
              <a:rPr spc="40" dirty="0"/>
              <a:t> </a:t>
            </a:r>
            <a:r>
              <a:rPr spc="-20" dirty="0"/>
              <a:t>Solution:</a:t>
            </a:r>
            <a:r>
              <a:rPr spc="204" dirty="0"/>
              <a:t> </a:t>
            </a:r>
            <a:r>
              <a:rPr dirty="0"/>
              <a:t>R-TMSC</a:t>
            </a:r>
            <a:r>
              <a:rPr spc="4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88771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717219"/>
            <a:ext cx="28619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Three-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Sided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Cyclic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Preferences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30" y="892713"/>
            <a:ext cx="2832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Insight:</a:t>
            </a:r>
            <a:r>
              <a:rPr sz="1000" b="1" spc="9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Agents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cyclic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preference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structure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924" y="1133020"/>
            <a:ext cx="104775" cy="484505"/>
            <a:chOff x="207924" y="1133020"/>
            <a:chExt cx="104775" cy="48450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1133020"/>
              <a:ext cx="104301" cy="104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" y="1322809"/>
              <a:ext cx="104301" cy="1043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1512598"/>
              <a:ext cx="104301" cy="10430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3281" y="1123641"/>
            <a:ext cx="463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177" y="1044543"/>
            <a:ext cx="440753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3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better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SINR</a:t>
            </a:r>
            <a:endParaRPr sz="1000">
              <a:latin typeface="Arial"/>
              <a:cs typeface="Arial"/>
            </a:endParaRPr>
          </a:p>
          <a:p>
            <a:pPr marL="25400" marR="30480">
              <a:lnSpc>
                <a:spcPct val="124500"/>
              </a:lnSpc>
            </a:pP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4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Arial"/>
                <a:cs typeface="Arial"/>
              </a:rPr>
              <a:t>lower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computing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capacity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(cost-</a:t>
            </a:r>
            <a:r>
              <a:rPr sz="1000" spc="-30" dirty="0">
                <a:latin typeface="Tahoma"/>
                <a:cs typeface="Tahoma"/>
              </a:rPr>
              <a:t>effective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SP)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5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Arial"/>
                <a:cs typeface="Arial"/>
              </a:rPr>
              <a:t>less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complex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tasks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D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smaller)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7" name="object 1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745688"/>
            <a:ext cx="5659755" cy="982980"/>
            <a:chOff x="75729" y="745688"/>
            <a:chExt cx="5659755" cy="982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74483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45688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918750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</a:t>
            </a:r>
            <a:r>
              <a:rPr spc="40" dirty="0"/>
              <a:t> </a:t>
            </a:r>
            <a:r>
              <a:rPr spc="-20" dirty="0"/>
              <a:t>Solution:</a:t>
            </a:r>
            <a:r>
              <a:rPr spc="204" dirty="0"/>
              <a:t> </a:t>
            </a:r>
            <a:r>
              <a:rPr dirty="0"/>
              <a:t>R-TMSC</a:t>
            </a:r>
            <a:r>
              <a:rPr spc="4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88771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717219"/>
            <a:ext cx="28619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Three-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Sided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Cyclic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Preferences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30" y="892713"/>
            <a:ext cx="2832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Insight:</a:t>
            </a:r>
            <a:r>
              <a:rPr sz="1000" b="1" spc="9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Agents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cyclic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preference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structure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924" y="1133020"/>
            <a:ext cx="104775" cy="484505"/>
            <a:chOff x="207924" y="1133020"/>
            <a:chExt cx="104775" cy="48450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1133020"/>
              <a:ext cx="104301" cy="104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" y="1322809"/>
              <a:ext cx="104301" cy="1043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1512598"/>
              <a:ext cx="104301" cy="10430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3281" y="1123641"/>
            <a:ext cx="463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177" y="1044543"/>
            <a:ext cx="440753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3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better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SINR</a:t>
            </a:r>
            <a:endParaRPr sz="1000">
              <a:latin typeface="Arial"/>
              <a:cs typeface="Arial"/>
            </a:endParaRPr>
          </a:p>
          <a:p>
            <a:pPr marL="25400" marR="30480">
              <a:lnSpc>
                <a:spcPct val="124500"/>
              </a:lnSpc>
            </a:pP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4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Arial"/>
                <a:cs typeface="Arial"/>
              </a:rPr>
              <a:t>lower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computing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capacity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(cost-</a:t>
            </a:r>
            <a:r>
              <a:rPr sz="1000" spc="-30" dirty="0">
                <a:latin typeface="Tahoma"/>
                <a:cs typeface="Tahoma"/>
              </a:rPr>
              <a:t>effective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SP)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5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Arial"/>
                <a:cs typeface="Arial"/>
              </a:rPr>
              <a:t>less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complex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tasks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D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smaller)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7" name="object 1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745688"/>
            <a:ext cx="5659755" cy="982980"/>
            <a:chOff x="75729" y="745688"/>
            <a:chExt cx="5659755" cy="982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74483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745688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918750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</a:t>
            </a:r>
            <a:r>
              <a:rPr spc="40" dirty="0"/>
              <a:t> </a:t>
            </a:r>
            <a:r>
              <a:rPr spc="-20" dirty="0"/>
              <a:t>Solution:</a:t>
            </a:r>
            <a:r>
              <a:rPr spc="204" dirty="0"/>
              <a:t> </a:t>
            </a:r>
            <a:r>
              <a:rPr dirty="0"/>
              <a:t>R-TMSC</a:t>
            </a:r>
            <a:r>
              <a:rPr spc="4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88771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717219"/>
            <a:ext cx="28619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Three-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Sided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Cyclic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Preferences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30" y="892713"/>
            <a:ext cx="2832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Insight:</a:t>
            </a:r>
            <a:r>
              <a:rPr sz="1000" b="1" spc="9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Agents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have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cyclic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preference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structure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924" y="1133020"/>
            <a:ext cx="104775" cy="484505"/>
            <a:chOff x="207924" y="1133020"/>
            <a:chExt cx="104775" cy="48450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1133020"/>
              <a:ext cx="104301" cy="104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" y="1322809"/>
              <a:ext cx="104301" cy="1043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1512598"/>
              <a:ext cx="104301" cy="10430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3281" y="1123641"/>
            <a:ext cx="463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177" y="1044543"/>
            <a:ext cx="440753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3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better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SINR</a:t>
            </a:r>
            <a:endParaRPr sz="1000">
              <a:latin typeface="Arial"/>
              <a:cs typeface="Arial"/>
            </a:endParaRPr>
          </a:p>
          <a:p>
            <a:pPr marL="25400" marR="30480">
              <a:lnSpc>
                <a:spcPct val="124500"/>
              </a:lnSpc>
            </a:pPr>
            <a:r>
              <a:rPr sz="1000" dirty="0">
                <a:solidFill>
                  <a:srgbClr val="3399FF"/>
                </a:solidFill>
                <a:latin typeface="Tahoma"/>
                <a:cs typeface="Tahoma"/>
              </a:rPr>
              <a:t>UAVs</a:t>
            </a:r>
            <a:r>
              <a:rPr sz="1000" spc="-40" dirty="0">
                <a:solidFill>
                  <a:srgbClr val="3399FF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Arial"/>
                <a:cs typeface="Arial"/>
              </a:rPr>
              <a:t>lower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computing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capacity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(cost-</a:t>
            </a:r>
            <a:r>
              <a:rPr sz="1000" spc="-30" dirty="0">
                <a:latin typeface="Tahoma"/>
                <a:cs typeface="Tahoma"/>
              </a:rPr>
              <a:t>effective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SP)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Edge</a:t>
            </a:r>
            <a:r>
              <a:rPr sz="1000" spc="-5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994C"/>
                </a:solidFill>
                <a:latin typeface="Tahoma"/>
                <a:cs typeface="Tahoma"/>
              </a:rPr>
              <a:t>Servers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prefer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IoT</a:t>
            </a:r>
            <a:r>
              <a:rPr sz="10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devices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b="1" spc="-60" dirty="0">
                <a:latin typeface="Arial"/>
                <a:cs typeface="Arial"/>
              </a:rPr>
              <a:t>less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complex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tasks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D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smaller)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53" y="1772251"/>
            <a:ext cx="991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Preference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Lists: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2039137"/>
            <a:ext cx="59601" cy="5960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99300" y="1924081"/>
            <a:ext cx="2213610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i="1" spc="-20" dirty="0">
                <a:latin typeface="Arial"/>
                <a:cs typeface="Arial"/>
              </a:rPr>
              <a:t>PL</a:t>
            </a:r>
            <a:r>
              <a:rPr sz="1050" i="1" spc="-30" baseline="-11904" dirty="0">
                <a:latin typeface="Arial"/>
                <a:cs typeface="Arial"/>
              </a:rPr>
              <a:t>I</a:t>
            </a:r>
            <a:r>
              <a:rPr sz="750" i="1" spc="-30" baseline="-27777" dirty="0">
                <a:latin typeface="Arial"/>
                <a:cs typeface="Arial"/>
              </a:rPr>
              <a:t>m</a:t>
            </a:r>
            <a:r>
              <a:rPr sz="750" i="1" spc="-52" baseline="-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sorted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Γ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spc="315" baseline="-11904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(descending)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i="1" spc="-10" dirty="0">
                <a:latin typeface="Arial"/>
                <a:cs typeface="Arial"/>
              </a:rPr>
              <a:t>PL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</a:t>
            </a:r>
            <a:r>
              <a:rPr sz="750" i="1" spc="-30" baseline="-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sorted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(ascending)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000" i="1" spc="-20" dirty="0">
                <a:latin typeface="Arial"/>
                <a:cs typeface="Arial"/>
              </a:rPr>
              <a:t>PL</a:t>
            </a:r>
            <a:r>
              <a:rPr sz="1050" i="1" spc="-30" baseline="-11904" dirty="0">
                <a:latin typeface="Arial"/>
                <a:cs typeface="Arial"/>
              </a:rPr>
              <a:t>S</a:t>
            </a:r>
            <a:r>
              <a:rPr sz="750" i="1" spc="-30" baseline="-27777" dirty="0">
                <a:latin typeface="Arial"/>
                <a:cs typeface="Arial"/>
              </a:rPr>
              <a:t>l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sorted </a:t>
            </a:r>
            <a:r>
              <a:rPr sz="1000" spc="-30" dirty="0">
                <a:latin typeface="Tahoma"/>
                <a:cs typeface="Tahoma"/>
              </a:rPr>
              <a:t>by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Arial"/>
                <a:cs typeface="Arial"/>
              </a:rPr>
              <a:t>D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202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(ascending)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2228926"/>
            <a:ext cx="59601" cy="5960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418714"/>
            <a:ext cx="59601" cy="5960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72334" y="2359065"/>
            <a:ext cx="253054" cy="25305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693909" y="2607988"/>
            <a:ext cx="210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IoT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76338" y="1981062"/>
            <a:ext cx="253054" cy="25305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874782" y="2012294"/>
            <a:ext cx="2673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UAV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80342" y="2359065"/>
            <a:ext cx="253054" cy="25305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721250" y="2172606"/>
            <a:ext cx="171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97026" y="2177069"/>
            <a:ext cx="303530" cy="236220"/>
            <a:chOff x="3897026" y="2177069"/>
            <a:chExt cx="303530" cy="236220"/>
          </a:xfrm>
        </p:grpSpPr>
        <p:sp>
          <p:nvSpPr>
            <p:cNvPr id="28" name="object 28"/>
            <p:cNvSpPr/>
            <p:nvPr/>
          </p:nvSpPr>
          <p:spPr>
            <a:xfrm>
              <a:off x="3902106" y="2190407"/>
              <a:ext cx="290830" cy="217804"/>
            </a:xfrm>
            <a:custGeom>
              <a:avLst/>
              <a:gdLst/>
              <a:ahLst/>
              <a:cxnLst/>
              <a:rect l="l" t="t" r="r" b="b"/>
              <a:pathLst>
                <a:path w="290829" h="217805">
                  <a:moveTo>
                    <a:pt x="0" y="217750"/>
                  </a:moveTo>
                  <a:lnTo>
                    <a:pt x="290338" y="0"/>
                  </a:lnTo>
                </a:path>
              </a:pathLst>
            </a:custGeom>
            <a:ln w="10122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60865" y="2181196"/>
              <a:ext cx="35560" cy="42545"/>
            </a:xfrm>
            <a:custGeom>
              <a:avLst/>
              <a:gdLst/>
              <a:ahLst/>
              <a:cxnLst/>
              <a:rect l="l" t="t" r="r" b="b"/>
              <a:pathLst>
                <a:path w="35560" h="42544">
                  <a:moveTo>
                    <a:pt x="0" y="0"/>
                  </a:moveTo>
                  <a:lnTo>
                    <a:pt x="7910" y="4122"/>
                  </a:lnTo>
                  <a:lnTo>
                    <a:pt x="18626" y="6332"/>
                  </a:lnTo>
                  <a:lnTo>
                    <a:pt x="28911" y="6939"/>
                  </a:lnTo>
                  <a:lnTo>
                    <a:pt x="35526" y="6251"/>
                  </a:lnTo>
                  <a:lnTo>
                    <a:pt x="33012" y="12408"/>
                  </a:lnTo>
                  <a:lnTo>
                    <a:pt x="30715" y="22451"/>
                  </a:lnTo>
                  <a:lnTo>
                    <a:pt x="29835" y="33358"/>
                  </a:lnTo>
                  <a:lnTo>
                    <a:pt x="31578" y="42106"/>
                  </a:lnTo>
                </a:path>
              </a:pathLst>
            </a:custGeom>
            <a:ln w="8097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 rot="19440000">
            <a:off x="3932798" y="2214815"/>
            <a:ext cx="161589" cy="63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20" dirty="0">
                <a:solidFill>
                  <a:srgbClr val="FF6600"/>
                </a:solidFill>
                <a:latin typeface="Tahoma"/>
                <a:cs typeface="Tahoma"/>
              </a:rPr>
              <a:t>SINR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01043" y="2179934"/>
            <a:ext cx="303530" cy="236220"/>
            <a:chOff x="4401043" y="2179934"/>
            <a:chExt cx="303530" cy="236220"/>
          </a:xfrm>
        </p:grpSpPr>
        <p:sp>
          <p:nvSpPr>
            <p:cNvPr id="32" name="object 32"/>
            <p:cNvSpPr/>
            <p:nvPr/>
          </p:nvSpPr>
          <p:spPr>
            <a:xfrm>
              <a:off x="4406123" y="2185014"/>
              <a:ext cx="290830" cy="217804"/>
            </a:xfrm>
            <a:custGeom>
              <a:avLst/>
              <a:gdLst/>
              <a:ahLst/>
              <a:cxnLst/>
              <a:rect l="l" t="t" r="r" b="b"/>
              <a:pathLst>
                <a:path w="290829" h="217805">
                  <a:moveTo>
                    <a:pt x="0" y="0"/>
                  </a:moveTo>
                  <a:lnTo>
                    <a:pt x="290334" y="217754"/>
                  </a:lnTo>
                </a:path>
              </a:pathLst>
            </a:custGeom>
            <a:ln w="10122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64878" y="2369873"/>
              <a:ext cx="35560" cy="42545"/>
            </a:xfrm>
            <a:custGeom>
              <a:avLst/>
              <a:gdLst/>
              <a:ahLst/>
              <a:cxnLst/>
              <a:rect l="l" t="t" r="r" b="b"/>
              <a:pathLst>
                <a:path w="35560" h="42544">
                  <a:moveTo>
                    <a:pt x="31579" y="0"/>
                  </a:moveTo>
                  <a:lnTo>
                    <a:pt x="29837" y="8748"/>
                  </a:lnTo>
                  <a:lnTo>
                    <a:pt x="30716" y="19654"/>
                  </a:lnTo>
                  <a:lnTo>
                    <a:pt x="33013" y="29698"/>
                  </a:lnTo>
                  <a:lnTo>
                    <a:pt x="35526" y="35855"/>
                  </a:lnTo>
                  <a:lnTo>
                    <a:pt x="28911" y="35166"/>
                  </a:lnTo>
                  <a:lnTo>
                    <a:pt x="18626" y="35773"/>
                  </a:lnTo>
                  <a:lnTo>
                    <a:pt x="7910" y="37983"/>
                  </a:lnTo>
                  <a:lnTo>
                    <a:pt x="0" y="42105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 rot="2160000">
            <a:off x="4521315" y="2214801"/>
            <a:ext cx="143127" cy="63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65"/>
              </a:lnSpc>
            </a:pPr>
            <a:r>
              <a:rPr sz="500" spc="-20" dirty="0">
                <a:solidFill>
                  <a:srgbClr val="003366"/>
                </a:solidFill>
                <a:latin typeface="Tahoma"/>
                <a:cs typeface="Tahoma"/>
              </a:rPr>
              <a:t>Cost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27922" y="2455227"/>
            <a:ext cx="749935" cy="60960"/>
            <a:chOff x="3927922" y="2455227"/>
            <a:chExt cx="749935" cy="60960"/>
          </a:xfrm>
        </p:grpSpPr>
        <p:sp>
          <p:nvSpPr>
            <p:cNvPr id="36" name="object 36"/>
            <p:cNvSpPr/>
            <p:nvPr/>
          </p:nvSpPr>
          <p:spPr>
            <a:xfrm>
              <a:off x="3936905" y="2485593"/>
              <a:ext cx="741045" cy="0"/>
            </a:xfrm>
            <a:custGeom>
              <a:avLst/>
              <a:gdLst/>
              <a:ahLst/>
              <a:cxnLst/>
              <a:rect l="l" t="t" r="r" b="b"/>
              <a:pathLst>
                <a:path w="741045">
                  <a:moveTo>
                    <a:pt x="740923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31971" y="2459276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24671" y="52633"/>
                  </a:moveTo>
                  <a:lnTo>
                    <a:pt x="20816" y="44589"/>
                  </a:lnTo>
                  <a:lnTo>
                    <a:pt x="13569" y="36391"/>
                  </a:lnTo>
                  <a:lnTo>
                    <a:pt x="5705" y="29734"/>
                  </a:lnTo>
                  <a:lnTo>
                    <a:pt x="0" y="26316"/>
                  </a:lnTo>
                  <a:lnTo>
                    <a:pt x="5705" y="22898"/>
                  </a:lnTo>
                  <a:lnTo>
                    <a:pt x="13569" y="16242"/>
                  </a:lnTo>
                  <a:lnTo>
                    <a:pt x="20816" y="8044"/>
                  </a:lnTo>
                  <a:lnTo>
                    <a:pt x="24671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34700" y="2500791"/>
            <a:ext cx="336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0000"/>
                </a:solidFill>
                <a:latin typeface="Tahoma"/>
                <a:cs typeface="Tahoma"/>
              </a:rPr>
              <a:t>Complexity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0" name="object 4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487129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R-</a:t>
            </a:r>
            <a:r>
              <a:rPr spc="50" dirty="0"/>
              <a:t>TMSC</a:t>
            </a:r>
            <a:r>
              <a:rPr spc="5" dirty="0"/>
              <a:t> </a:t>
            </a:r>
            <a:r>
              <a:rPr dirty="0"/>
              <a:t>Matching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84353" y="918565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53" y="897577"/>
            <a:ext cx="1812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R-TMSC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353" y="1089240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526" y="1082229"/>
            <a:ext cx="1127760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30"/>
              </a:lnSpc>
              <a:spcBef>
                <a:spcPts val="95"/>
              </a:spcBef>
            </a:pPr>
            <a:r>
              <a:rPr sz="1200" baseline="6944" dirty="0">
                <a:latin typeface="Tahoma"/>
                <a:cs typeface="Tahoma"/>
              </a:rPr>
              <a:t>1:</a:t>
            </a:r>
            <a:r>
              <a:rPr sz="1200" spc="127" baseline="6944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Initialize</a:t>
            </a:r>
            <a:r>
              <a:rPr sz="1050" spc="15" baseline="7936" dirty="0">
                <a:latin typeface="Tahoma"/>
                <a:cs typeface="Tahoma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40" dirty="0">
                <a:latin typeface="Arial"/>
                <a:cs typeface="Arial"/>
              </a:rPr>
              <a:t> </a:t>
            </a:r>
            <a:r>
              <a:rPr sz="1050" spc="89" baseline="7936" dirty="0">
                <a:latin typeface="Tahoma"/>
                <a:cs typeface="Tahoma"/>
              </a:rPr>
              <a:t>=</a:t>
            </a:r>
            <a:r>
              <a:rPr sz="1050" spc="-22" baseline="7936" dirty="0">
                <a:latin typeface="Tahoma"/>
                <a:cs typeface="Tahoma"/>
              </a:rPr>
              <a:t> </a:t>
            </a:r>
            <a:r>
              <a:rPr sz="1050" spc="-502" baseline="7936" dirty="0">
                <a:latin typeface="Lucida Sans Unicode"/>
                <a:cs typeface="Lucida Sans Unicode"/>
              </a:rPr>
              <a:t>∅</a:t>
            </a:r>
            <a:endParaRPr sz="1050" baseline="7936">
              <a:latin typeface="Lucida Sans Unicode"/>
              <a:cs typeface="Lucida Sans Unicode"/>
            </a:endParaRPr>
          </a:p>
          <a:p>
            <a:pPr marL="38100">
              <a:lnSpc>
                <a:spcPts val="830"/>
              </a:lnSpc>
            </a:pPr>
            <a:r>
              <a:rPr sz="800" dirty="0">
                <a:latin typeface="Tahoma"/>
                <a:cs typeface="Tahoma"/>
              </a:rPr>
              <a:t>2: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700" b="1" spc="-20" dirty="0">
                <a:latin typeface="Arial"/>
                <a:cs typeface="Arial"/>
              </a:rPr>
              <a:t>while</a:t>
            </a:r>
            <a:r>
              <a:rPr sz="700" b="1" spc="20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not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converged </a:t>
            </a:r>
            <a:r>
              <a:rPr sz="700" b="1" spc="-25" dirty="0">
                <a:latin typeface="Arial"/>
                <a:cs typeface="Arial"/>
              </a:rPr>
              <a:t>do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383" y="1297332"/>
            <a:ext cx="812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="1" baseline="7936" dirty="0">
                <a:latin typeface="Arial"/>
                <a:cs typeface="Arial"/>
              </a:rPr>
              <a:t>for</a:t>
            </a:r>
            <a:r>
              <a:rPr sz="1050" b="1" spc="52" baseline="7936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each</a:t>
            </a:r>
            <a:r>
              <a:rPr sz="1050" spc="7" baseline="7936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IoT </a:t>
            </a:r>
            <a:r>
              <a:rPr sz="1050" i="1" baseline="7936" dirty="0">
                <a:latin typeface="Arial"/>
                <a:cs typeface="Arial"/>
              </a:rPr>
              <a:t>I</a:t>
            </a:r>
            <a:r>
              <a:rPr sz="500" i="1" dirty="0">
                <a:latin typeface="Arial"/>
                <a:cs typeface="Arial"/>
              </a:rPr>
              <a:t>m</a:t>
            </a:r>
            <a:r>
              <a:rPr sz="500" i="1" spc="135" dirty="0">
                <a:latin typeface="Arial"/>
                <a:cs typeface="Arial"/>
              </a:rPr>
              <a:t> </a:t>
            </a:r>
            <a:r>
              <a:rPr sz="1050" b="1" spc="-37" baseline="7936" dirty="0">
                <a:latin typeface="Arial"/>
                <a:cs typeface="Arial"/>
              </a:rPr>
              <a:t>do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3" y="1385890"/>
            <a:ext cx="908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Find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I</a:t>
            </a:r>
            <a:r>
              <a:rPr sz="750" i="1" spc="359" baseline="-11111" dirty="0">
                <a:latin typeface="Arial"/>
                <a:cs typeface="Arial"/>
              </a:rPr>
              <a:t> 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25" dirty="0">
                <a:latin typeface="Lucida Sans Unicode"/>
                <a:cs typeface="Lucida Sans Unicode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05" dirty="0">
                <a:latin typeface="Arial"/>
                <a:cs typeface="Arial"/>
              </a:rPr>
              <a:t> </a:t>
            </a:r>
            <a:r>
              <a:rPr sz="750" spc="-75" baseline="33333" dirty="0">
                <a:latin typeface="Lucida Sans Unicode"/>
                <a:cs typeface="Lucida Sans Unicode"/>
              </a:rPr>
              <a:t>∗</a:t>
            </a:r>
            <a:endParaRPr sz="750" baseline="33333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4877" y="1449155"/>
            <a:ext cx="4000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sz="750" i="1" spc="-75" baseline="11111" dirty="0">
                <a:latin typeface="Arial"/>
                <a:cs typeface="Arial"/>
              </a:rPr>
              <a:t>m</a:t>
            </a:r>
            <a:r>
              <a:rPr sz="750" i="1" baseline="11111" dirty="0">
                <a:latin typeface="Arial"/>
                <a:cs typeface="Arial"/>
              </a:rPr>
              <a:t>	</a:t>
            </a:r>
            <a:r>
              <a:rPr sz="750" i="1" spc="-37" baseline="11111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543" y="1504126"/>
            <a:ext cx="685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if</a:t>
            </a:r>
            <a:r>
              <a:rPr sz="700" b="1" spc="1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2" baseline="33333" dirty="0">
                <a:latin typeface="Lucida Sans Unicode"/>
                <a:cs typeface="Lucida Sans Unicode"/>
              </a:rPr>
              <a:t> </a:t>
            </a:r>
            <a:r>
              <a:rPr sz="700" dirty="0">
                <a:latin typeface="Lucida Sans Unicode"/>
                <a:cs typeface="Lucida Sans Unicode"/>
              </a:rPr>
              <a:t≯</a:t>
            </a:r>
            <a:r>
              <a:rPr sz="700" dirty="0">
                <a:latin typeface="Tahoma"/>
                <a:cs typeface="Tahoma"/>
              </a:rPr>
              <a:t>=</a:t>
            </a:r>
            <a:r>
              <a:rPr sz="700" spc="20" dirty="0">
                <a:latin typeface="Tahoma"/>
                <a:cs typeface="Tahoma"/>
              </a:rPr>
              <a:t> </a:t>
            </a:r>
            <a:r>
              <a:rPr sz="700" spc="-285" dirty="0">
                <a:latin typeface="Lucida Sans Unicode"/>
                <a:cs typeface="Lucida Sans Unicode"/>
              </a:rPr>
              <a:t>∅</a:t>
            </a:r>
            <a:r>
              <a:rPr sz="700" spc="40" dirty="0">
                <a:latin typeface="Lucida Sans Unicode"/>
                <a:cs typeface="Lucida Sans Unicode"/>
              </a:rPr>
              <a:t> </a:t>
            </a:r>
            <a:r>
              <a:rPr sz="700" b="1" spc="-20" dirty="0">
                <a:latin typeface="Arial"/>
                <a:cs typeface="Arial"/>
              </a:rPr>
              <a:t>then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704" y="1605346"/>
            <a:ext cx="7162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262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U</a:t>
            </a:r>
            <a:r>
              <a:rPr sz="750" spc="-15" baseline="33333" dirty="0">
                <a:latin typeface="Lucida Sans Unicode"/>
                <a:cs typeface="Lucida Sans Unicode"/>
              </a:rPr>
              <a:t>∗</a:t>
            </a:r>
            <a:r>
              <a:rPr sz="700" spc="-1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704" y="1723786"/>
            <a:ext cx="6648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65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17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U</a:t>
            </a:r>
            <a:r>
              <a:rPr sz="750" i="1" spc="652" baseline="-11111" dirty="0">
                <a:latin typeface="Arial"/>
                <a:cs typeface="Arial"/>
              </a:rPr>
              <a:t>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40" dirty="0">
                <a:latin typeface="Lucida Sans Unicode"/>
                <a:cs typeface="Lucida Sans Unicode"/>
              </a:rPr>
              <a:t> </a:t>
            </a:r>
            <a:r>
              <a:rPr sz="700" i="1" spc="-40" dirty="0">
                <a:latin typeface="Arial"/>
                <a:cs typeface="Arial"/>
              </a:rPr>
              <a:t>Z</a:t>
            </a:r>
            <a:r>
              <a:rPr sz="1050" spc="-60" baseline="11904" dirty="0">
                <a:latin typeface="Tahoma"/>
                <a:cs typeface="Tahoma"/>
              </a:rPr>
              <a:t>ˆ</a:t>
            </a:r>
            <a:r>
              <a:rPr sz="750" i="1" spc="-60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150" y="1784650"/>
            <a:ext cx="370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sz="500" i="1" spc="-50" dirty="0">
                <a:latin typeface="Arial"/>
                <a:cs typeface="Arial"/>
              </a:rPr>
              <a:t>k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750" i="1" spc="-75" baseline="5555" dirty="0">
                <a:latin typeface="Arial"/>
                <a:cs typeface="Arial"/>
              </a:rPr>
              <a:t>m</a:t>
            </a:r>
            <a:endParaRPr sz="750" baseline="555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704" y="1839622"/>
            <a:ext cx="6762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S</a:t>
            </a:r>
            <a:r>
              <a:rPr sz="750" i="1" baseline="-11111" dirty="0">
                <a:latin typeface="Arial"/>
                <a:cs typeface="Arial"/>
              </a:rPr>
              <a:t>l</a:t>
            </a:r>
            <a:r>
              <a:rPr sz="750" i="1" spc="247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spc="-37" baseline="33333" dirty="0">
                <a:latin typeface="Lucida Sans Unicode"/>
                <a:cs typeface="Lucida Sans Unicode"/>
              </a:rPr>
              <a:t>∗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704" y="1940841"/>
            <a:ext cx="11868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Update</a:t>
            </a:r>
            <a:r>
              <a:rPr sz="700" spc="50" dirty="0">
                <a:latin typeface="Tahoma"/>
                <a:cs typeface="Tahoma"/>
              </a:rPr>
              <a:t> </a:t>
            </a:r>
            <a:r>
              <a:rPr sz="700" i="1" spc="55" dirty="0">
                <a:latin typeface="Arial"/>
                <a:cs typeface="Arial"/>
              </a:rPr>
              <a:t>M</a:t>
            </a:r>
            <a:r>
              <a:rPr sz="750" i="1" spc="82" baseline="-11111" dirty="0">
                <a:latin typeface="Arial"/>
                <a:cs typeface="Arial"/>
              </a:rPr>
              <a:t>t</a:t>
            </a:r>
            <a:r>
              <a:rPr sz="750" i="1" spc="330" baseline="-11111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with</a:t>
            </a:r>
            <a:r>
              <a:rPr sz="700" spc="5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(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spc="-60" dirty="0">
                <a:latin typeface="Trebuchet MS"/>
                <a:cs typeface="Trebuchet MS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-67" baseline="-11111" dirty="0">
                <a:latin typeface="Arial"/>
                <a:cs typeface="Arial"/>
              </a:rPr>
              <a:t> </a:t>
            </a:r>
            <a:r>
              <a:rPr sz="700" i="1" spc="-35" dirty="0">
                <a:latin typeface="Trebuchet MS"/>
                <a:cs typeface="Trebuchet MS"/>
              </a:rPr>
              <a:t>,</a:t>
            </a:r>
            <a:r>
              <a:rPr sz="700" i="1" spc="-55" dirty="0">
                <a:latin typeface="Trebuchet MS"/>
                <a:cs typeface="Trebuchet MS"/>
              </a:rPr>
              <a:t> </a:t>
            </a:r>
            <a:r>
              <a:rPr sz="700" i="1" spc="-30" dirty="0">
                <a:latin typeface="Arial"/>
                <a:cs typeface="Arial"/>
              </a:rPr>
              <a:t>S</a:t>
            </a:r>
            <a:r>
              <a:rPr sz="750" i="1" spc="-44" baseline="-11111" dirty="0">
                <a:latin typeface="Arial"/>
                <a:cs typeface="Arial"/>
              </a:rPr>
              <a:t>l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-5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53" y="1272017"/>
            <a:ext cx="163195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ts val="88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4: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5: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6: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919"/>
              </a:lnSpc>
            </a:pPr>
            <a:r>
              <a:rPr sz="800" spc="-25" dirty="0">
                <a:latin typeface="Tahoma"/>
                <a:cs typeface="Tahoma"/>
              </a:rPr>
              <a:t>7: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55"/>
              </a:lnSpc>
            </a:pPr>
            <a:r>
              <a:rPr sz="800" spc="-25" dirty="0">
                <a:latin typeface="Tahoma"/>
                <a:cs typeface="Tahoma"/>
              </a:rPr>
              <a:t>8: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9: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10: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80"/>
              </a:lnSpc>
            </a:pPr>
            <a:r>
              <a:rPr sz="800" spc="-25" dirty="0">
                <a:latin typeface="Tahoma"/>
                <a:cs typeface="Tahoma"/>
              </a:rPr>
              <a:t>11: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281" y="2042061"/>
            <a:ext cx="39497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40970">
              <a:lnSpc>
                <a:spcPts val="800"/>
              </a:lnSpc>
              <a:spcBef>
                <a:spcPts val="155"/>
              </a:spcBef>
            </a:pP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40" dirty="0">
                <a:latin typeface="Arial"/>
                <a:cs typeface="Arial"/>
              </a:rPr>
              <a:t>if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for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3" y="2231845"/>
            <a:ext cx="155067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93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12: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while</a:t>
            </a:r>
            <a:endParaRPr sz="700">
              <a:latin typeface="Arial"/>
              <a:cs typeface="Arial"/>
            </a:endParaRPr>
          </a:p>
          <a:p>
            <a:pPr marL="50800">
              <a:lnSpc>
                <a:spcPts val="930"/>
              </a:lnSpc>
            </a:pPr>
            <a:r>
              <a:rPr sz="1200" baseline="6944" dirty="0">
                <a:latin typeface="Tahoma"/>
                <a:cs typeface="Tahoma"/>
              </a:rPr>
              <a:t>13:</a:t>
            </a:r>
            <a:r>
              <a:rPr sz="1200" spc="120" baseline="6944" dirty="0">
                <a:latin typeface="Tahoma"/>
                <a:cs typeface="Tahoma"/>
              </a:rPr>
              <a:t> </a:t>
            </a:r>
            <a:r>
              <a:rPr sz="1050" b="1" spc="-15" baseline="7936" dirty="0">
                <a:latin typeface="Arial"/>
                <a:cs typeface="Arial"/>
              </a:rPr>
              <a:t>return</a:t>
            </a:r>
            <a:r>
              <a:rPr sz="1050" b="1" spc="37" baseline="7936" dirty="0">
                <a:latin typeface="Arial"/>
                <a:cs typeface="Arial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55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(stable matching </a:t>
            </a:r>
            <a:r>
              <a:rPr sz="1050" spc="-30" baseline="7936" dirty="0">
                <a:latin typeface="Tahoma"/>
                <a:cs typeface="Tahoma"/>
              </a:rPr>
              <a:t>set)</a:t>
            </a:r>
            <a:endParaRPr sz="1050" baseline="7936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353" y="2515793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356" y="977201"/>
            <a:ext cx="59601" cy="596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884081" y="672357"/>
            <a:ext cx="245618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Concepts: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4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triplets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U</a:t>
            </a:r>
            <a:r>
              <a:rPr sz="1050" i="1" spc="-37" baseline="-11904" dirty="0">
                <a:latin typeface="Arial"/>
                <a:cs typeface="Arial"/>
              </a:rPr>
              <a:t>k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S</a:t>
            </a:r>
            <a:r>
              <a:rPr sz="1050" i="1" spc="-7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3" name="object 2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R-</a:t>
            </a:r>
            <a:r>
              <a:rPr spc="50" dirty="0"/>
              <a:t>TMSC</a:t>
            </a:r>
            <a:r>
              <a:rPr spc="5" dirty="0"/>
              <a:t> </a:t>
            </a:r>
            <a:r>
              <a:rPr dirty="0"/>
              <a:t>Matching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84353" y="918565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53" y="897577"/>
            <a:ext cx="1812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R-TMSC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353" y="1089240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526" y="1082229"/>
            <a:ext cx="1127760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30"/>
              </a:lnSpc>
              <a:spcBef>
                <a:spcPts val="95"/>
              </a:spcBef>
            </a:pPr>
            <a:r>
              <a:rPr sz="1200" baseline="6944" dirty="0">
                <a:latin typeface="Tahoma"/>
                <a:cs typeface="Tahoma"/>
              </a:rPr>
              <a:t>1:</a:t>
            </a:r>
            <a:r>
              <a:rPr sz="1200" spc="127" baseline="6944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Initialize</a:t>
            </a:r>
            <a:r>
              <a:rPr sz="1050" spc="15" baseline="7936" dirty="0">
                <a:latin typeface="Tahoma"/>
                <a:cs typeface="Tahoma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40" dirty="0">
                <a:latin typeface="Arial"/>
                <a:cs typeface="Arial"/>
              </a:rPr>
              <a:t> </a:t>
            </a:r>
            <a:r>
              <a:rPr sz="1050" spc="89" baseline="7936" dirty="0">
                <a:latin typeface="Tahoma"/>
                <a:cs typeface="Tahoma"/>
              </a:rPr>
              <a:t>=</a:t>
            </a:r>
            <a:r>
              <a:rPr sz="1050" spc="-22" baseline="7936" dirty="0">
                <a:latin typeface="Tahoma"/>
                <a:cs typeface="Tahoma"/>
              </a:rPr>
              <a:t> </a:t>
            </a:r>
            <a:r>
              <a:rPr sz="1050" spc="-502" baseline="7936" dirty="0">
                <a:latin typeface="Lucida Sans Unicode"/>
                <a:cs typeface="Lucida Sans Unicode"/>
              </a:rPr>
              <a:t>∅</a:t>
            </a:r>
            <a:endParaRPr sz="1050" baseline="7936">
              <a:latin typeface="Lucida Sans Unicode"/>
              <a:cs typeface="Lucida Sans Unicode"/>
            </a:endParaRPr>
          </a:p>
          <a:p>
            <a:pPr marL="38100">
              <a:lnSpc>
                <a:spcPts val="830"/>
              </a:lnSpc>
            </a:pPr>
            <a:r>
              <a:rPr sz="800" dirty="0">
                <a:latin typeface="Tahoma"/>
                <a:cs typeface="Tahoma"/>
              </a:rPr>
              <a:t>2: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700" b="1" spc="-20" dirty="0">
                <a:latin typeface="Arial"/>
                <a:cs typeface="Arial"/>
              </a:rPr>
              <a:t>while</a:t>
            </a:r>
            <a:r>
              <a:rPr sz="700" b="1" spc="20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not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converged </a:t>
            </a:r>
            <a:r>
              <a:rPr sz="700" b="1" spc="-25" dirty="0">
                <a:latin typeface="Arial"/>
                <a:cs typeface="Arial"/>
              </a:rPr>
              <a:t>do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383" y="1297332"/>
            <a:ext cx="812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="1" baseline="7936" dirty="0">
                <a:latin typeface="Arial"/>
                <a:cs typeface="Arial"/>
              </a:rPr>
              <a:t>for</a:t>
            </a:r>
            <a:r>
              <a:rPr sz="1050" b="1" spc="52" baseline="7936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each</a:t>
            </a:r>
            <a:r>
              <a:rPr sz="1050" spc="7" baseline="7936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IoT </a:t>
            </a:r>
            <a:r>
              <a:rPr sz="1050" i="1" baseline="7936" dirty="0">
                <a:latin typeface="Arial"/>
                <a:cs typeface="Arial"/>
              </a:rPr>
              <a:t>I</a:t>
            </a:r>
            <a:r>
              <a:rPr sz="500" i="1" dirty="0">
                <a:latin typeface="Arial"/>
                <a:cs typeface="Arial"/>
              </a:rPr>
              <a:t>m</a:t>
            </a:r>
            <a:r>
              <a:rPr sz="500" i="1" spc="135" dirty="0">
                <a:latin typeface="Arial"/>
                <a:cs typeface="Arial"/>
              </a:rPr>
              <a:t> </a:t>
            </a:r>
            <a:r>
              <a:rPr sz="1050" b="1" spc="-37" baseline="7936" dirty="0">
                <a:latin typeface="Arial"/>
                <a:cs typeface="Arial"/>
              </a:rPr>
              <a:t>do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3" y="1385890"/>
            <a:ext cx="908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Find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I</a:t>
            </a:r>
            <a:r>
              <a:rPr sz="750" i="1" spc="359" baseline="-11111" dirty="0">
                <a:latin typeface="Arial"/>
                <a:cs typeface="Arial"/>
              </a:rPr>
              <a:t> 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25" dirty="0">
                <a:latin typeface="Lucida Sans Unicode"/>
                <a:cs typeface="Lucida Sans Unicode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05" dirty="0">
                <a:latin typeface="Arial"/>
                <a:cs typeface="Arial"/>
              </a:rPr>
              <a:t> </a:t>
            </a:r>
            <a:r>
              <a:rPr sz="750" spc="-75" baseline="33333" dirty="0">
                <a:latin typeface="Lucida Sans Unicode"/>
                <a:cs typeface="Lucida Sans Unicode"/>
              </a:rPr>
              <a:t>∗</a:t>
            </a:r>
            <a:endParaRPr sz="750" baseline="33333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4877" y="1449155"/>
            <a:ext cx="4000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sz="750" i="1" spc="-75" baseline="11111" dirty="0">
                <a:latin typeface="Arial"/>
                <a:cs typeface="Arial"/>
              </a:rPr>
              <a:t>m</a:t>
            </a:r>
            <a:r>
              <a:rPr sz="750" i="1" baseline="11111" dirty="0">
                <a:latin typeface="Arial"/>
                <a:cs typeface="Arial"/>
              </a:rPr>
              <a:t>	</a:t>
            </a:r>
            <a:r>
              <a:rPr sz="750" i="1" spc="-37" baseline="11111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543" y="1504126"/>
            <a:ext cx="685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if</a:t>
            </a:r>
            <a:r>
              <a:rPr sz="700" b="1" spc="1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2" baseline="33333" dirty="0">
                <a:latin typeface="Lucida Sans Unicode"/>
                <a:cs typeface="Lucida Sans Unicode"/>
              </a:rPr>
              <a:t> </a:t>
            </a:r>
            <a:r>
              <a:rPr sz="700" dirty="0">
                <a:latin typeface="Lucida Sans Unicode"/>
                <a:cs typeface="Lucida Sans Unicode"/>
              </a:rPr>
              <a:t≯</a:t>
            </a:r>
            <a:r>
              <a:rPr sz="700" dirty="0">
                <a:latin typeface="Tahoma"/>
                <a:cs typeface="Tahoma"/>
              </a:rPr>
              <a:t>=</a:t>
            </a:r>
            <a:r>
              <a:rPr sz="700" spc="20" dirty="0">
                <a:latin typeface="Tahoma"/>
                <a:cs typeface="Tahoma"/>
              </a:rPr>
              <a:t> </a:t>
            </a:r>
            <a:r>
              <a:rPr sz="700" spc="-285" dirty="0">
                <a:latin typeface="Lucida Sans Unicode"/>
                <a:cs typeface="Lucida Sans Unicode"/>
              </a:rPr>
              <a:t>∅</a:t>
            </a:r>
            <a:r>
              <a:rPr sz="700" spc="40" dirty="0">
                <a:latin typeface="Lucida Sans Unicode"/>
                <a:cs typeface="Lucida Sans Unicode"/>
              </a:rPr>
              <a:t> </a:t>
            </a:r>
            <a:r>
              <a:rPr sz="700" b="1" spc="-20" dirty="0">
                <a:latin typeface="Arial"/>
                <a:cs typeface="Arial"/>
              </a:rPr>
              <a:t>then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704" y="1605346"/>
            <a:ext cx="7162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262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U</a:t>
            </a:r>
            <a:r>
              <a:rPr sz="750" spc="-15" baseline="33333" dirty="0">
                <a:latin typeface="Lucida Sans Unicode"/>
                <a:cs typeface="Lucida Sans Unicode"/>
              </a:rPr>
              <a:t>∗</a:t>
            </a:r>
            <a:r>
              <a:rPr sz="700" spc="-1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704" y="1723786"/>
            <a:ext cx="6648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65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17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U</a:t>
            </a:r>
            <a:r>
              <a:rPr sz="750" i="1" spc="652" baseline="-11111" dirty="0">
                <a:latin typeface="Arial"/>
                <a:cs typeface="Arial"/>
              </a:rPr>
              <a:t>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40" dirty="0">
                <a:latin typeface="Lucida Sans Unicode"/>
                <a:cs typeface="Lucida Sans Unicode"/>
              </a:rPr>
              <a:t> </a:t>
            </a:r>
            <a:r>
              <a:rPr sz="700" i="1" spc="-40" dirty="0">
                <a:latin typeface="Arial"/>
                <a:cs typeface="Arial"/>
              </a:rPr>
              <a:t>Z</a:t>
            </a:r>
            <a:r>
              <a:rPr sz="1050" spc="-60" baseline="11904" dirty="0">
                <a:latin typeface="Tahoma"/>
                <a:cs typeface="Tahoma"/>
              </a:rPr>
              <a:t>ˆ</a:t>
            </a:r>
            <a:r>
              <a:rPr sz="750" i="1" spc="-60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150" y="1784650"/>
            <a:ext cx="370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sz="500" i="1" spc="-50" dirty="0">
                <a:latin typeface="Arial"/>
                <a:cs typeface="Arial"/>
              </a:rPr>
              <a:t>k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750" i="1" spc="-75" baseline="5555" dirty="0">
                <a:latin typeface="Arial"/>
                <a:cs typeface="Arial"/>
              </a:rPr>
              <a:t>m</a:t>
            </a:r>
            <a:endParaRPr sz="750" baseline="555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704" y="1839622"/>
            <a:ext cx="6762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S</a:t>
            </a:r>
            <a:r>
              <a:rPr sz="750" i="1" baseline="-11111" dirty="0">
                <a:latin typeface="Arial"/>
                <a:cs typeface="Arial"/>
              </a:rPr>
              <a:t>l</a:t>
            </a:r>
            <a:r>
              <a:rPr sz="750" i="1" spc="247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spc="-37" baseline="33333" dirty="0">
                <a:latin typeface="Lucida Sans Unicode"/>
                <a:cs typeface="Lucida Sans Unicode"/>
              </a:rPr>
              <a:t>∗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704" y="1940841"/>
            <a:ext cx="11868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Update</a:t>
            </a:r>
            <a:r>
              <a:rPr sz="700" spc="50" dirty="0">
                <a:latin typeface="Tahoma"/>
                <a:cs typeface="Tahoma"/>
              </a:rPr>
              <a:t> </a:t>
            </a:r>
            <a:r>
              <a:rPr sz="700" i="1" spc="55" dirty="0">
                <a:latin typeface="Arial"/>
                <a:cs typeface="Arial"/>
              </a:rPr>
              <a:t>M</a:t>
            </a:r>
            <a:r>
              <a:rPr sz="750" i="1" spc="82" baseline="-11111" dirty="0">
                <a:latin typeface="Arial"/>
                <a:cs typeface="Arial"/>
              </a:rPr>
              <a:t>t</a:t>
            </a:r>
            <a:r>
              <a:rPr sz="750" i="1" spc="330" baseline="-11111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with</a:t>
            </a:r>
            <a:r>
              <a:rPr sz="700" spc="5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(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spc="-60" dirty="0">
                <a:latin typeface="Trebuchet MS"/>
                <a:cs typeface="Trebuchet MS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-67" baseline="-11111" dirty="0">
                <a:latin typeface="Arial"/>
                <a:cs typeface="Arial"/>
              </a:rPr>
              <a:t> </a:t>
            </a:r>
            <a:r>
              <a:rPr sz="700" i="1" spc="-35" dirty="0">
                <a:latin typeface="Trebuchet MS"/>
                <a:cs typeface="Trebuchet MS"/>
              </a:rPr>
              <a:t>,</a:t>
            </a:r>
            <a:r>
              <a:rPr sz="700" i="1" spc="-55" dirty="0">
                <a:latin typeface="Trebuchet MS"/>
                <a:cs typeface="Trebuchet MS"/>
              </a:rPr>
              <a:t> </a:t>
            </a:r>
            <a:r>
              <a:rPr sz="700" i="1" spc="-30" dirty="0">
                <a:latin typeface="Arial"/>
                <a:cs typeface="Arial"/>
              </a:rPr>
              <a:t>S</a:t>
            </a:r>
            <a:r>
              <a:rPr sz="750" i="1" spc="-44" baseline="-11111" dirty="0">
                <a:latin typeface="Arial"/>
                <a:cs typeface="Arial"/>
              </a:rPr>
              <a:t>l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-5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53" y="1272017"/>
            <a:ext cx="163195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ts val="88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4: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5: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6: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919"/>
              </a:lnSpc>
            </a:pPr>
            <a:r>
              <a:rPr sz="800" spc="-25" dirty="0">
                <a:latin typeface="Tahoma"/>
                <a:cs typeface="Tahoma"/>
              </a:rPr>
              <a:t>7: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55"/>
              </a:lnSpc>
            </a:pPr>
            <a:r>
              <a:rPr sz="800" spc="-25" dirty="0">
                <a:latin typeface="Tahoma"/>
                <a:cs typeface="Tahoma"/>
              </a:rPr>
              <a:t>8: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9: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10: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80"/>
              </a:lnSpc>
            </a:pPr>
            <a:r>
              <a:rPr sz="800" spc="-25" dirty="0">
                <a:latin typeface="Tahoma"/>
                <a:cs typeface="Tahoma"/>
              </a:rPr>
              <a:t>11: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281" y="2042061"/>
            <a:ext cx="39497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40970">
              <a:lnSpc>
                <a:spcPts val="800"/>
              </a:lnSpc>
              <a:spcBef>
                <a:spcPts val="155"/>
              </a:spcBef>
            </a:pP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40" dirty="0">
                <a:latin typeface="Arial"/>
                <a:cs typeface="Arial"/>
              </a:rPr>
              <a:t>if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for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3" y="2231845"/>
            <a:ext cx="155067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93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12: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while</a:t>
            </a:r>
            <a:endParaRPr sz="700">
              <a:latin typeface="Arial"/>
              <a:cs typeface="Arial"/>
            </a:endParaRPr>
          </a:p>
          <a:p>
            <a:pPr marL="50800">
              <a:lnSpc>
                <a:spcPts val="930"/>
              </a:lnSpc>
            </a:pPr>
            <a:r>
              <a:rPr sz="1200" baseline="6944" dirty="0">
                <a:latin typeface="Tahoma"/>
                <a:cs typeface="Tahoma"/>
              </a:rPr>
              <a:t>13:</a:t>
            </a:r>
            <a:r>
              <a:rPr sz="1200" spc="120" baseline="6944" dirty="0">
                <a:latin typeface="Tahoma"/>
                <a:cs typeface="Tahoma"/>
              </a:rPr>
              <a:t> </a:t>
            </a:r>
            <a:r>
              <a:rPr sz="1050" b="1" spc="-15" baseline="7936" dirty="0">
                <a:latin typeface="Arial"/>
                <a:cs typeface="Arial"/>
              </a:rPr>
              <a:t>return</a:t>
            </a:r>
            <a:r>
              <a:rPr sz="1050" b="1" spc="37" baseline="7936" dirty="0">
                <a:latin typeface="Arial"/>
                <a:cs typeface="Arial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55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(stable matching </a:t>
            </a:r>
            <a:r>
              <a:rPr sz="1050" spc="-30" baseline="7936" dirty="0">
                <a:latin typeface="Tahoma"/>
                <a:cs typeface="Tahoma"/>
              </a:rPr>
              <a:t>set)</a:t>
            </a:r>
            <a:endParaRPr sz="1050" baseline="7936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353" y="2515793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356" y="977201"/>
            <a:ext cx="59601" cy="596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884081" y="672357"/>
            <a:ext cx="245618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Concepts: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4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triplets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U</a:t>
            </a:r>
            <a:r>
              <a:rPr sz="1050" i="1" spc="-37" baseline="-11904" dirty="0">
                <a:latin typeface="Arial"/>
                <a:cs typeface="Arial"/>
              </a:rPr>
              <a:t>k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S</a:t>
            </a:r>
            <a:r>
              <a:rPr sz="1050" i="1" spc="-7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2356" y="1166990"/>
            <a:ext cx="59601" cy="596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265982" y="1184791"/>
            <a:ext cx="787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37128" y="1089893"/>
            <a:ext cx="2186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4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preferred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match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6" name="object 2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R-</a:t>
            </a:r>
            <a:r>
              <a:rPr spc="50" dirty="0"/>
              <a:t>TMSC</a:t>
            </a:r>
            <a:r>
              <a:rPr spc="5" dirty="0"/>
              <a:t> </a:t>
            </a:r>
            <a:r>
              <a:rPr dirty="0"/>
              <a:t>Matching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84353" y="918565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53" y="897577"/>
            <a:ext cx="1812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R-TMSC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353" y="1089240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526" y="1082229"/>
            <a:ext cx="1127760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30"/>
              </a:lnSpc>
              <a:spcBef>
                <a:spcPts val="95"/>
              </a:spcBef>
            </a:pPr>
            <a:r>
              <a:rPr sz="1200" baseline="6944" dirty="0">
                <a:latin typeface="Tahoma"/>
                <a:cs typeface="Tahoma"/>
              </a:rPr>
              <a:t>1:</a:t>
            </a:r>
            <a:r>
              <a:rPr sz="1200" spc="127" baseline="6944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Initialize</a:t>
            </a:r>
            <a:r>
              <a:rPr sz="1050" spc="15" baseline="7936" dirty="0">
                <a:latin typeface="Tahoma"/>
                <a:cs typeface="Tahoma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40" dirty="0">
                <a:latin typeface="Arial"/>
                <a:cs typeface="Arial"/>
              </a:rPr>
              <a:t> </a:t>
            </a:r>
            <a:r>
              <a:rPr sz="1050" spc="89" baseline="7936" dirty="0">
                <a:latin typeface="Tahoma"/>
                <a:cs typeface="Tahoma"/>
              </a:rPr>
              <a:t>=</a:t>
            </a:r>
            <a:r>
              <a:rPr sz="1050" spc="-22" baseline="7936" dirty="0">
                <a:latin typeface="Tahoma"/>
                <a:cs typeface="Tahoma"/>
              </a:rPr>
              <a:t> </a:t>
            </a:r>
            <a:r>
              <a:rPr sz="1050" spc="-502" baseline="7936" dirty="0">
                <a:latin typeface="Lucida Sans Unicode"/>
                <a:cs typeface="Lucida Sans Unicode"/>
              </a:rPr>
              <a:t>∅</a:t>
            </a:r>
            <a:endParaRPr sz="1050" baseline="7936">
              <a:latin typeface="Lucida Sans Unicode"/>
              <a:cs typeface="Lucida Sans Unicode"/>
            </a:endParaRPr>
          </a:p>
          <a:p>
            <a:pPr marL="38100">
              <a:lnSpc>
                <a:spcPts val="830"/>
              </a:lnSpc>
            </a:pPr>
            <a:r>
              <a:rPr sz="800" dirty="0">
                <a:latin typeface="Tahoma"/>
                <a:cs typeface="Tahoma"/>
              </a:rPr>
              <a:t>2: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700" b="1" spc="-20" dirty="0">
                <a:latin typeface="Arial"/>
                <a:cs typeface="Arial"/>
              </a:rPr>
              <a:t>while</a:t>
            </a:r>
            <a:r>
              <a:rPr sz="700" b="1" spc="20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not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converged </a:t>
            </a:r>
            <a:r>
              <a:rPr sz="700" b="1" spc="-25" dirty="0">
                <a:latin typeface="Arial"/>
                <a:cs typeface="Arial"/>
              </a:rPr>
              <a:t>do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383" y="1297332"/>
            <a:ext cx="812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="1" baseline="7936" dirty="0">
                <a:latin typeface="Arial"/>
                <a:cs typeface="Arial"/>
              </a:rPr>
              <a:t>for</a:t>
            </a:r>
            <a:r>
              <a:rPr sz="1050" b="1" spc="52" baseline="7936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each</a:t>
            </a:r>
            <a:r>
              <a:rPr sz="1050" spc="7" baseline="7936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IoT </a:t>
            </a:r>
            <a:r>
              <a:rPr sz="1050" i="1" baseline="7936" dirty="0">
                <a:latin typeface="Arial"/>
                <a:cs typeface="Arial"/>
              </a:rPr>
              <a:t>I</a:t>
            </a:r>
            <a:r>
              <a:rPr sz="500" i="1" dirty="0">
                <a:latin typeface="Arial"/>
                <a:cs typeface="Arial"/>
              </a:rPr>
              <a:t>m</a:t>
            </a:r>
            <a:r>
              <a:rPr sz="500" i="1" spc="135" dirty="0">
                <a:latin typeface="Arial"/>
                <a:cs typeface="Arial"/>
              </a:rPr>
              <a:t> </a:t>
            </a:r>
            <a:r>
              <a:rPr sz="1050" b="1" spc="-37" baseline="7936" dirty="0">
                <a:latin typeface="Arial"/>
                <a:cs typeface="Arial"/>
              </a:rPr>
              <a:t>do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3" y="1385890"/>
            <a:ext cx="908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Find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I</a:t>
            </a:r>
            <a:r>
              <a:rPr sz="750" i="1" spc="359" baseline="-11111" dirty="0">
                <a:latin typeface="Arial"/>
                <a:cs typeface="Arial"/>
              </a:rPr>
              <a:t> 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25" dirty="0">
                <a:latin typeface="Lucida Sans Unicode"/>
                <a:cs typeface="Lucida Sans Unicode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05" dirty="0">
                <a:latin typeface="Arial"/>
                <a:cs typeface="Arial"/>
              </a:rPr>
              <a:t> </a:t>
            </a:r>
            <a:r>
              <a:rPr sz="750" spc="-75" baseline="33333" dirty="0">
                <a:latin typeface="Lucida Sans Unicode"/>
                <a:cs typeface="Lucida Sans Unicode"/>
              </a:rPr>
              <a:t>∗</a:t>
            </a:r>
            <a:endParaRPr sz="750" baseline="33333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4877" y="1449155"/>
            <a:ext cx="4000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sz="750" i="1" spc="-75" baseline="11111" dirty="0">
                <a:latin typeface="Arial"/>
                <a:cs typeface="Arial"/>
              </a:rPr>
              <a:t>m</a:t>
            </a:r>
            <a:r>
              <a:rPr sz="750" i="1" baseline="11111" dirty="0">
                <a:latin typeface="Arial"/>
                <a:cs typeface="Arial"/>
              </a:rPr>
              <a:t>	</a:t>
            </a:r>
            <a:r>
              <a:rPr sz="750" i="1" spc="-37" baseline="11111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543" y="1504126"/>
            <a:ext cx="685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if</a:t>
            </a:r>
            <a:r>
              <a:rPr sz="700" b="1" spc="1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2" baseline="33333" dirty="0">
                <a:latin typeface="Lucida Sans Unicode"/>
                <a:cs typeface="Lucida Sans Unicode"/>
              </a:rPr>
              <a:t> </a:t>
            </a:r>
            <a:r>
              <a:rPr sz="700" dirty="0">
                <a:latin typeface="Lucida Sans Unicode"/>
                <a:cs typeface="Lucida Sans Unicode"/>
              </a:rPr>
              <a:t≯</a:t>
            </a:r>
            <a:r>
              <a:rPr sz="700" dirty="0">
                <a:latin typeface="Tahoma"/>
                <a:cs typeface="Tahoma"/>
              </a:rPr>
              <a:t>=</a:t>
            </a:r>
            <a:r>
              <a:rPr sz="700" spc="20" dirty="0">
                <a:latin typeface="Tahoma"/>
                <a:cs typeface="Tahoma"/>
              </a:rPr>
              <a:t> </a:t>
            </a:r>
            <a:r>
              <a:rPr sz="700" spc="-285" dirty="0">
                <a:latin typeface="Lucida Sans Unicode"/>
                <a:cs typeface="Lucida Sans Unicode"/>
              </a:rPr>
              <a:t>∅</a:t>
            </a:r>
            <a:r>
              <a:rPr sz="700" spc="40" dirty="0">
                <a:latin typeface="Lucida Sans Unicode"/>
                <a:cs typeface="Lucida Sans Unicode"/>
              </a:rPr>
              <a:t> </a:t>
            </a:r>
            <a:r>
              <a:rPr sz="700" b="1" spc="-20" dirty="0">
                <a:latin typeface="Arial"/>
                <a:cs typeface="Arial"/>
              </a:rPr>
              <a:t>then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704" y="1605346"/>
            <a:ext cx="7162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262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U</a:t>
            </a:r>
            <a:r>
              <a:rPr sz="750" spc="-15" baseline="33333" dirty="0">
                <a:latin typeface="Lucida Sans Unicode"/>
                <a:cs typeface="Lucida Sans Unicode"/>
              </a:rPr>
              <a:t>∗</a:t>
            </a:r>
            <a:r>
              <a:rPr sz="700" spc="-1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704" y="1723786"/>
            <a:ext cx="6648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65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17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U</a:t>
            </a:r>
            <a:r>
              <a:rPr sz="750" i="1" spc="652" baseline="-11111" dirty="0">
                <a:latin typeface="Arial"/>
                <a:cs typeface="Arial"/>
              </a:rPr>
              <a:t>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40" dirty="0">
                <a:latin typeface="Lucida Sans Unicode"/>
                <a:cs typeface="Lucida Sans Unicode"/>
              </a:rPr>
              <a:t> </a:t>
            </a:r>
            <a:r>
              <a:rPr sz="700" i="1" spc="-40" dirty="0">
                <a:latin typeface="Arial"/>
                <a:cs typeface="Arial"/>
              </a:rPr>
              <a:t>Z</a:t>
            </a:r>
            <a:r>
              <a:rPr sz="1050" spc="-60" baseline="11904" dirty="0">
                <a:latin typeface="Tahoma"/>
                <a:cs typeface="Tahoma"/>
              </a:rPr>
              <a:t>ˆ</a:t>
            </a:r>
            <a:r>
              <a:rPr sz="750" i="1" spc="-60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150" y="1784650"/>
            <a:ext cx="370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sz="500" i="1" spc="-50" dirty="0">
                <a:latin typeface="Arial"/>
                <a:cs typeface="Arial"/>
              </a:rPr>
              <a:t>k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750" i="1" spc="-75" baseline="5555" dirty="0">
                <a:latin typeface="Arial"/>
                <a:cs typeface="Arial"/>
              </a:rPr>
              <a:t>m</a:t>
            </a:r>
            <a:endParaRPr sz="750" baseline="555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704" y="1839622"/>
            <a:ext cx="6762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S</a:t>
            </a:r>
            <a:r>
              <a:rPr sz="750" i="1" baseline="-11111" dirty="0">
                <a:latin typeface="Arial"/>
                <a:cs typeface="Arial"/>
              </a:rPr>
              <a:t>l</a:t>
            </a:r>
            <a:r>
              <a:rPr sz="750" i="1" spc="247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spc="-37" baseline="33333" dirty="0">
                <a:latin typeface="Lucida Sans Unicode"/>
                <a:cs typeface="Lucida Sans Unicode"/>
              </a:rPr>
              <a:t>∗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704" y="1940841"/>
            <a:ext cx="11868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Update</a:t>
            </a:r>
            <a:r>
              <a:rPr sz="700" spc="50" dirty="0">
                <a:latin typeface="Tahoma"/>
                <a:cs typeface="Tahoma"/>
              </a:rPr>
              <a:t> </a:t>
            </a:r>
            <a:r>
              <a:rPr sz="700" i="1" spc="55" dirty="0">
                <a:latin typeface="Arial"/>
                <a:cs typeface="Arial"/>
              </a:rPr>
              <a:t>M</a:t>
            </a:r>
            <a:r>
              <a:rPr sz="750" i="1" spc="82" baseline="-11111" dirty="0">
                <a:latin typeface="Arial"/>
                <a:cs typeface="Arial"/>
              </a:rPr>
              <a:t>t</a:t>
            </a:r>
            <a:r>
              <a:rPr sz="750" i="1" spc="330" baseline="-11111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with</a:t>
            </a:r>
            <a:r>
              <a:rPr sz="700" spc="5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(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spc="-60" dirty="0">
                <a:latin typeface="Trebuchet MS"/>
                <a:cs typeface="Trebuchet MS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-67" baseline="-11111" dirty="0">
                <a:latin typeface="Arial"/>
                <a:cs typeface="Arial"/>
              </a:rPr>
              <a:t> </a:t>
            </a:r>
            <a:r>
              <a:rPr sz="700" i="1" spc="-35" dirty="0">
                <a:latin typeface="Trebuchet MS"/>
                <a:cs typeface="Trebuchet MS"/>
              </a:rPr>
              <a:t>,</a:t>
            </a:r>
            <a:r>
              <a:rPr sz="700" i="1" spc="-55" dirty="0">
                <a:latin typeface="Trebuchet MS"/>
                <a:cs typeface="Trebuchet MS"/>
              </a:rPr>
              <a:t> </a:t>
            </a:r>
            <a:r>
              <a:rPr sz="700" i="1" spc="-30" dirty="0">
                <a:latin typeface="Arial"/>
                <a:cs typeface="Arial"/>
              </a:rPr>
              <a:t>S</a:t>
            </a:r>
            <a:r>
              <a:rPr sz="750" i="1" spc="-44" baseline="-11111" dirty="0">
                <a:latin typeface="Arial"/>
                <a:cs typeface="Arial"/>
              </a:rPr>
              <a:t>l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-5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53" y="1272017"/>
            <a:ext cx="163195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ts val="88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4: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5: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6: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919"/>
              </a:lnSpc>
            </a:pPr>
            <a:r>
              <a:rPr sz="800" spc="-25" dirty="0">
                <a:latin typeface="Tahoma"/>
                <a:cs typeface="Tahoma"/>
              </a:rPr>
              <a:t>7: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55"/>
              </a:lnSpc>
            </a:pPr>
            <a:r>
              <a:rPr sz="800" spc="-25" dirty="0">
                <a:latin typeface="Tahoma"/>
                <a:cs typeface="Tahoma"/>
              </a:rPr>
              <a:t>8: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9: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10: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80"/>
              </a:lnSpc>
            </a:pPr>
            <a:r>
              <a:rPr sz="800" spc="-25" dirty="0">
                <a:latin typeface="Tahoma"/>
                <a:cs typeface="Tahoma"/>
              </a:rPr>
              <a:t>11: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281" y="2042061"/>
            <a:ext cx="39497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40970">
              <a:lnSpc>
                <a:spcPts val="800"/>
              </a:lnSpc>
              <a:spcBef>
                <a:spcPts val="155"/>
              </a:spcBef>
            </a:pP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40" dirty="0">
                <a:latin typeface="Arial"/>
                <a:cs typeface="Arial"/>
              </a:rPr>
              <a:t>if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for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3" y="2231845"/>
            <a:ext cx="155067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93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12: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while</a:t>
            </a:r>
            <a:endParaRPr sz="700">
              <a:latin typeface="Arial"/>
              <a:cs typeface="Arial"/>
            </a:endParaRPr>
          </a:p>
          <a:p>
            <a:pPr marL="50800">
              <a:lnSpc>
                <a:spcPts val="930"/>
              </a:lnSpc>
            </a:pPr>
            <a:r>
              <a:rPr sz="1200" baseline="6944" dirty="0">
                <a:latin typeface="Tahoma"/>
                <a:cs typeface="Tahoma"/>
              </a:rPr>
              <a:t>13:</a:t>
            </a:r>
            <a:r>
              <a:rPr sz="1200" spc="120" baseline="6944" dirty="0">
                <a:latin typeface="Tahoma"/>
                <a:cs typeface="Tahoma"/>
              </a:rPr>
              <a:t> </a:t>
            </a:r>
            <a:r>
              <a:rPr sz="1050" b="1" spc="-15" baseline="7936" dirty="0">
                <a:latin typeface="Arial"/>
                <a:cs typeface="Arial"/>
              </a:rPr>
              <a:t>return</a:t>
            </a:r>
            <a:r>
              <a:rPr sz="1050" b="1" spc="37" baseline="7936" dirty="0">
                <a:latin typeface="Arial"/>
                <a:cs typeface="Arial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55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(stable matching </a:t>
            </a:r>
            <a:r>
              <a:rPr sz="1050" spc="-30" baseline="7936" dirty="0">
                <a:latin typeface="Tahoma"/>
                <a:cs typeface="Tahoma"/>
              </a:rPr>
              <a:t>set)</a:t>
            </a:r>
            <a:endParaRPr sz="1050" baseline="7936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353" y="2515793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356" y="977201"/>
            <a:ext cx="59601" cy="596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884081" y="672357"/>
            <a:ext cx="245618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Concepts: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4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triplets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U</a:t>
            </a:r>
            <a:r>
              <a:rPr sz="1050" i="1" spc="-37" baseline="-11904" dirty="0">
                <a:latin typeface="Arial"/>
                <a:cs typeface="Arial"/>
              </a:rPr>
              <a:t>k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S</a:t>
            </a:r>
            <a:r>
              <a:rPr sz="1050" i="1" spc="-7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2356" y="1166990"/>
            <a:ext cx="59601" cy="596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265982" y="1184791"/>
            <a:ext cx="787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37128" y="1089893"/>
            <a:ext cx="2186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4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preferred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match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2356" y="1356779"/>
            <a:ext cx="59601" cy="596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37128" y="1279682"/>
            <a:ext cx="2543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50" spc="-247" baseline="27777" dirty="0">
                <a:latin typeface="Lucida Sans Unicode"/>
                <a:cs typeface="Lucida Sans Unicode"/>
              </a:rPr>
              <a:t>∗</a:t>
            </a:r>
            <a:r>
              <a:rPr sz="1050" spc="-22" baseline="27777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available capacity 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suitable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37128" y="1366128"/>
            <a:ext cx="233045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">
              <a:lnSpc>
                <a:spcPts val="675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38100">
              <a:lnSpc>
                <a:spcPts val="1035"/>
              </a:lnSpc>
            </a:pPr>
            <a:r>
              <a:rPr sz="1000" spc="-25" dirty="0">
                <a:latin typeface="Tahoma"/>
                <a:cs typeface="Tahoma"/>
              </a:rPr>
              <a:t>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9" name="object 2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R-</a:t>
            </a:r>
            <a:r>
              <a:rPr spc="50" dirty="0"/>
              <a:t>TMSC</a:t>
            </a:r>
            <a:r>
              <a:rPr spc="5" dirty="0"/>
              <a:t> </a:t>
            </a:r>
            <a:r>
              <a:rPr dirty="0"/>
              <a:t>Matching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84353" y="918565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53" y="897577"/>
            <a:ext cx="1812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4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R-TMSC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353" y="1089240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526" y="1082229"/>
            <a:ext cx="1127760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30"/>
              </a:lnSpc>
              <a:spcBef>
                <a:spcPts val="95"/>
              </a:spcBef>
            </a:pPr>
            <a:r>
              <a:rPr sz="1200" baseline="6944" dirty="0">
                <a:latin typeface="Tahoma"/>
                <a:cs typeface="Tahoma"/>
              </a:rPr>
              <a:t>1:</a:t>
            </a:r>
            <a:r>
              <a:rPr sz="1200" spc="127" baseline="6944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Initialize</a:t>
            </a:r>
            <a:r>
              <a:rPr sz="1050" spc="15" baseline="7936" dirty="0">
                <a:latin typeface="Tahoma"/>
                <a:cs typeface="Tahoma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40" dirty="0">
                <a:latin typeface="Arial"/>
                <a:cs typeface="Arial"/>
              </a:rPr>
              <a:t> </a:t>
            </a:r>
            <a:r>
              <a:rPr sz="1050" spc="89" baseline="7936" dirty="0">
                <a:latin typeface="Tahoma"/>
                <a:cs typeface="Tahoma"/>
              </a:rPr>
              <a:t>=</a:t>
            </a:r>
            <a:r>
              <a:rPr sz="1050" spc="-22" baseline="7936" dirty="0">
                <a:latin typeface="Tahoma"/>
                <a:cs typeface="Tahoma"/>
              </a:rPr>
              <a:t> </a:t>
            </a:r>
            <a:r>
              <a:rPr sz="1050" spc="-502" baseline="7936" dirty="0">
                <a:latin typeface="Lucida Sans Unicode"/>
                <a:cs typeface="Lucida Sans Unicode"/>
              </a:rPr>
              <a:t>∅</a:t>
            </a:r>
            <a:endParaRPr sz="1050" baseline="7936">
              <a:latin typeface="Lucida Sans Unicode"/>
              <a:cs typeface="Lucida Sans Unicode"/>
            </a:endParaRPr>
          </a:p>
          <a:p>
            <a:pPr marL="38100">
              <a:lnSpc>
                <a:spcPts val="830"/>
              </a:lnSpc>
            </a:pPr>
            <a:r>
              <a:rPr sz="800" dirty="0">
                <a:latin typeface="Tahoma"/>
                <a:cs typeface="Tahoma"/>
              </a:rPr>
              <a:t>2: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700" b="1" spc="-20" dirty="0">
                <a:latin typeface="Arial"/>
                <a:cs typeface="Arial"/>
              </a:rPr>
              <a:t>while</a:t>
            </a:r>
            <a:r>
              <a:rPr sz="700" b="1" spc="20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not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converged </a:t>
            </a:r>
            <a:r>
              <a:rPr sz="700" b="1" spc="-25" dirty="0">
                <a:latin typeface="Arial"/>
                <a:cs typeface="Arial"/>
              </a:rPr>
              <a:t>do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383" y="1297332"/>
            <a:ext cx="812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="1" baseline="7936" dirty="0">
                <a:latin typeface="Arial"/>
                <a:cs typeface="Arial"/>
              </a:rPr>
              <a:t>for</a:t>
            </a:r>
            <a:r>
              <a:rPr sz="1050" b="1" spc="52" baseline="7936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each</a:t>
            </a:r>
            <a:r>
              <a:rPr sz="1050" spc="7" baseline="7936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IoT </a:t>
            </a:r>
            <a:r>
              <a:rPr sz="1050" i="1" baseline="7936" dirty="0">
                <a:latin typeface="Arial"/>
                <a:cs typeface="Arial"/>
              </a:rPr>
              <a:t>I</a:t>
            </a:r>
            <a:r>
              <a:rPr sz="500" i="1" dirty="0">
                <a:latin typeface="Arial"/>
                <a:cs typeface="Arial"/>
              </a:rPr>
              <a:t>m</a:t>
            </a:r>
            <a:r>
              <a:rPr sz="500" i="1" spc="135" dirty="0">
                <a:latin typeface="Arial"/>
                <a:cs typeface="Arial"/>
              </a:rPr>
              <a:t> </a:t>
            </a:r>
            <a:r>
              <a:rPr sz="1050" b="1" spc="-37" baseline="7936" dirty="0">
                <a:latin typeface="Arial"/>
                <a:cs typeface="Arial"/>
              </a:rPr>
              <a:t>do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3" y="1385890"/>
            <a:ext cx="908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Find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I</a:t>
            </a:r>
            <a:r>
              <a:rPr sz="750" i="1" spc="359" baseline="-11111" dirty="0">
                <a:latin typeface="Arial"/>
                <a:cs typeface="Arial"/>
              </a:rPr>
              <a:t> 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25" dirty="0">
                <a:latin typeface="Lucida Sans Unicode"/>
                <a:cs typeface="Lucida Sans Unicode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05" dirty="0">
                <a:latin typeface="Arial"/>
                <a:cs typeface="Arial"/>
              </a:rPr>
              <a:t> </a:t>
            </a:r>
            <a:r>
              <a:rPr sz="750" spc="-75" baseline="33333" dirty="0">
                <a:latin typeface="Lucida Sans Unicode"/>
                <a:cs typeface="Lucida Sans Unicode"/>
              </a:rPr>
              <a:t>∗</a:t>
            </a:r>
            <a:endParaRPr sz="750" baseline="33333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4877" y="1449155"/>
            <a:ext cx="4000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sz="750" i="1" spc="-75" baseline="11111" dirty="0">
                <a:latin typeface="Arial"/>
                <a:cs typeface="Arial"/>
              </a:rPr>
              <a:t>m</a:t>
            </a:r>
            <a:r>
              <a:rPr sz="750" i="1" baseline="11111" dirty="0">
                <a:latin typeface="Arial"/>
                <a:cs typeface="Arial"/>
              </a:rPr>
              <a:t>	</a:t>
            </a:r>
            <a:r>
              <a:rPr sz="750" i="1" spc="-37" baseline="11111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543" y="1504126"/>
            <a:ext cx="685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if</a:t>
            </a:r>
            <a:r>
              <a:rPr sz="700" b="1" spc="1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2" baseline="33333" dirty="0">
                <a:latin typeface="Lucida Sans Unicode"/>
                <a:cs typeface="Lucida Sans Unicode"/>
              </a:rPr>
              <a:t> </a:t>
            </a:r>
            <a:r>
              <a:rPr sz="700" dirty="0">
                <a:latin typeface="Lucida Sans Unicode"/>
                <a:cs typeface="Lucida Sans Unicode"/>
              </a:rPr>
              <a:t≯</a:t>
            </a:r>
            <a:r>
              <a:rPr sz="700" dirty="0">
                <a:latin typeface="Tahoma"/>
                <a:cs typeface="Tahoma"/>
              </a:rPr>
              <a:t>=</a:t>
            </a:r>
            <a:r>
              <a:rPr sz="700" spc="20" dirty="0">
                <a:latin typeface="Tahoma"/>
                <a:cs typeface="Tahoma"/>
              </a:rPr>
              <a:t> </a:t>
            </a:r>
            <a:r>
              <a:rPr sz="700" spc="-285" dirty="0">
                <a:latin typeface="Lucida Sans Unicode"/>
                <a:cs typeface="Lucida Sans Unicode"/>
              </a:rPr>
              <a:t>∅</a:t>
            </a:r>
            <a:r>
              <a:rPr sz="700" spc="40" dirty="0">
                <a:latin typeface="Lucida Sans Unicode"/>
                <a:cs typeface="Lucida Sans Unicode"/>
              </a:rPr>
              <a:t> </a:t>
            </a:r>
            <a:r>
              <a:rPr sz="700" b="1" spc="-20" dirty="0">
                <a:latin typeface="Arial"/>
                <a:cs typeface="Arial"/>
              </a:rPr>
              <a:t>then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704" y="1605346"/>
            <a:ext cx="7162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262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U</a:t>
            </a:r>
            <a:r>
              <a:rPr sz="750" spc="-15" baseline="33333" dirty="0">
                <a:latin typeface="Lucida Sans Unicode"/>
                <a:cs typeface="Lucida Sans Unicode"/>
              </a:rPr>
              <a:t>∗</a:t>
            </a:r>
            <a:r>
              <a:rPr sz="700" spc="-1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704" y="1723786"/>
            <a:ext cx="6648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65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17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U</a:t>
            </a:r>
            <a:r>
              <a:rPr sz="750" i="1" spc="652" baseline="-11111" dirty="0">
                <a:latin typeface="Arial"/>
                <a:cs typeface="Arial"/>
              </a:rPr>
              <a:t>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40" dirty="0">
                <a:latin typeface="Lucida Sans Unicode"/>
                <a:cs typeface="Lucida Sans Unicode"/>
              </a:rPr>
              <a:t> </a:t>
            </a:r>
            <a:r>
              <a:rPr sz="700" i="1" spc="-40" dirty="0">
                <a:latin typeface="Arial"/>
                <a:cs typeface="Arial"/>
              </a:rPr>
              <a:t>Z</a:t>
            </a:r>
            <a:r>
              <a:rPr sz="1050" spc="-60" baseline="11904" dirty="0">
                <a:latin typeface="Tahoma"/>
                <a:cs typeface="Tahoma"/>
              </a:rPr>
              <a:t>ˆ</a:t>
            </a:r>
            <a:r>
              <a:rPr sz="750" i="1" spc="-60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150" y="1784650"/>
            <a:ext cx="370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sz="500" i="1" spc="-50" dirty="0">
                <a:latin typeface="Arial"/>
                <a:cs typeface="Arial"/>
              </a:rPr>
              <a:t>k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750" i="1" spc="-75" baseline="5555" dirty="0">
                <a:latin typeface="Arial"/>
                <a:cs typeface="Arial"/>
              </a:rPr>
              <a:t>m</a:t>
            </a:r>
            <a:endParaRPr sz="750" baseline="555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704" y="1839622"/>
            <a:ext cx="6762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S</a:t>
            </a:r>
            <a:r>
              <a:rPr sz="750" i="1" baseline="-11111" dirty="0">
                <a:latin typeface="Arial"/>
                <a:cs typeface="Arial"/>
              </a:rPr>
              <a:t>l</a:t>
            </a:r>
            <a:r>
              <a:rPr sz="750" i="1" spc="247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spc="-37" baseline="33333" dirty="0">
                <a:latin typeface="Lucida Sans Unicode"/>
                <a:cs typeface="Lucida Sans Unicode"/>
              </a:rPr>
              <a:t>∗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704" y="1940841"/>
            <a:ext cx="11868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Update</a:t>
            </a:r>
            <a:r>
              <a:rPr sz="700" spc="50" dirty="0">
                <a:latin typeface="Tahoma"/>
                <a:cs typeface="Tahoma"/>
              </a:rPr>
              <a:t> </a:t>
            </a:r>
            <a:r>
              <a:rPr sz="700" i="1" spc="55" dirty="0">
                <a:latin typeface="Arial"/>
                <a:cs typeface="Arial"/>
              </a:rPr>
              <a:t>M</a:t>
            </a:r>
            <a:r>
              <a:rPr sz="750" i="1" spc="82" baseline="-11111" dirty="0">
                <a:latin typeface="Arial"/>
                <a:cs typeface="Arial"/>
              </a:rPr>
              <a:t>t</a:t>
            </a:r>
            <a:r>
              <a:rPr sz="750" i="1" spc="330" baseline="-11111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with</a:t>
            </a:r>
            <a:r>
              <a:rPr sz="700" spc="5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(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spc="-60" dirty="0">
                <a:latin typeface="Trebuchet MS"/>
                <a:cs typeface="Trebuchet MS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-67" baseline="-11111" dirty="0">
                <a:latin typeface="Arial"/>
                <a:cs typeface="Arial"/>
              </a:rPr>
              <a:t> </a:t>
            </a:r>
            <a:r>
              <a:rPr sz="700" i="1" spc="-35" dirty="0">
                <a:latin typeface="Trebuchet MS"/>
                <a:cs typeface="Trebuchet MS"/>
              </a:rPr>
              <a:t>,</a:t>
            </a:r>
            <a:r>
              <a:rPr sz="700" i="1" spc="-55" dirty="0">
                <a:latin typeface="Trebuchet MS"/>
                <a:cs typeface="Trebuchet MS"/>
              </a:rPr>
              <a:t> </a:t>
            </a:r>
            <a:r>
              <a:rPr sz="700" i="1" spc="-30" dirty="0">
                <a:latin typeface="Arial"/>
                <a:cs typeface="Arial"/>
              </a:rPr>
              <a:t>S</a:t>
            </a:r>
            <a:r>
              <a:rPr sz="750" i="1" spc="-44" baseline="-11111" dirty="0">
                <a:latin typeface="Arial"/>
                <a:cs typeface="Arial"/>
              </a:rPr>
              <a:t>l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-5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53" y="1272017"/>
            <a:ext cx="163195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ts val="88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4: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5: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6: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919"/>
              </a:lnSpc>
            </a:pPr>
            <a:r>
              <a:rPr sz="800" spc="-25" dirty="0">
                <a:latin typeface="Tahoma"/>
                <a:cs typeface="Tahoma"/>
              </a:rPr>
              <a:t>7: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55"/>
              </a:lnSpc>
            </a:pPr>
            <a:r>
              <a:rPr sz="800" spc="-25" dirty="0">
                <a:latin typeface="Tahoma"/>
                <a:cs typeface="Tahoma"/>
              </a:rPr>
              <a:t>8: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9: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10: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80"/>
              </a:lnSpc>
            </a:pPr>
            <a:r>
              <a:rPr sz="800" spc="-25" dirty="0">
                <a:latin typeface="Tahoma"/>
                <a:cs typeface="Tahoma"/>
              </a:rPr>
              <a:t>11: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281" y="2042061"/>
            <a:ext cx="39497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40970">
              <a:lnSpc>
                <a:spcPts val="800"/>
              </a:lnSpc>
              <a:spcBef>
                <a:spcPts val="155"/>
              </a:spcBef>
            </a:pP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40" dirty="0">
                <a:latin typeface="Arial"/>
                <a:cs typeface="Arial"/>
              </a:rPr>
              <a:t>if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for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3" y="2231845"/>
            <a:ext cx="155067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93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12: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while</a:t>
            </a:r>
            <a:endParaRPr sz="700">
              <a:latin typeface="Arial"/>
              <a:cs typeface="Arial"/>
            </a:endParaRPr>
          </a:p>
          <a:p>
            <a:pPr marL="50800">
              <a:lnSpc>
                <a:spcPts val="930"/>
              </a:lnSpc>
            </a:pPr>
            <a:r>
              <a:rPr sz="1200" baseline="6944" dirty="0">
                <a:latin typeface="Tahoma"/>
                <a:cs typeface="Tahoma"/>
              </a:rPr>
              <a:t>13:</a:t>
            </a:r>
            <a:r>
              <a:rPr sz="1200" spc="120" baseline="6944" dirty="0">
                <a:latin typeface="Tahoma"/>
                <a:cs typeface="Tahoma"/>
              </a:rPr>
              <a:t> </a:t>
            </a:r>
            <a:r>
              <a:rPr sz="1050" b="1" spc="-15" baseline="7936" dirty="0">
                <a:latin typeface="Arial"/>
                <a:cs typeface="Arial"/>
              </a:rPr>
              <a:t>return</a:t>
            </a:r>
            <a:r>
              <a:rPr sz="1050" b="1" spc="37" baseline="7936" dirty="0">
                <a:latin typeface="Arial"/>
                <a:cs typeface="Arial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55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(stable matching </a:t>
            </a:r>
            <a:r>
              <a:rPr sz="1050" spc="-30" baseline="7936" dirty="0">
                <a:latin typeface="Tahoma"/>
                <a:cs typeface="Tahoma"/>
              </a:rPr>
              <a:t>set)</a:t>
            </a:r>
            <a:endParaRPr sz="1050" baseline="7936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353" y="2515793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356" y="977201"/>
            <a:ext cx="59601" cy="596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884081" y="672357"/>
            <a:ext cx="245618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Concepts: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4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triplets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U</a:t>
            </a:r>
            <a:r>
              <a:rPr sz="1050" i="1" spc="-37" baseline="-11904" dirty="0">
                <a:latin typeface="Arial"/>
                <a:cs typeface="Arial"/>
              </a:rPr>
              <a:t>k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S</a:t>
            </a:r>
            <a:r>
              <a:rPr sz="1050" i="1" spc="-7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2356" y="1166990"/>
            <a:ext cx="59601" cy="596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265982" y="1184791"/>
            <a:ext cx="787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37128" y="1089893"/>
            <a:ext cx="2186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4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preferred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match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2356" y="1356779"/>
            <a:ext cx="59601" cy="596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37128" y="1279682"/>
            <a:ext cx="2543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50" spc="-247" baseline="27777" dirty="0">
                <a:latin typeface="Lucida Sans Unicode"/>
                <a:cs typeface="Lucida Sans Unicode"/>
              </a:rPr>
              <a:t>∗</a:t>
            </a:r>
            <a:r>
              <a:rPr sz="1050" spc="-22" baseline="27777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available capacity 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suitable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37128" y="1366128"/>
            <a:ext cx="233045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">
              <a:lnSpc>
                <a:spcPts val="675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38100">
              <a:lnSpc>
                <a:spcPts val="1035"/>
              </a:lnSpc>
            </a:pPr>
            <a:r>
              <a:rPr sz="1000" spc="-25" dirty="0">
                <a:latin typeface="Tahoma"/>
                <a:cs typeface="Tahoma"/>
              </a:rPr>
              <a:t>ES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2356" y="1698396"/>
            <a:ext cx="59601" cy="596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137128" y="1621299"/>
            <a:ext cx="2238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130" dirty="0">
                <a:latin typeface="Arial"/>
                <a:cs typeface="Arial"/>
              </a:rPr>
              <a:t>Z</a:t>
            </a:r>
            <a:r>
              <a:rPr sz="1500" spc="-195" baseline="13888" dirty="0">
                <a:latin typeface="Tahoma"/>
                <a:cs typeface="Tahoma"/>
              </a:rPr>
              <a:t>ˆ</a:t>
            </a:r>
            <a:r>
              <a:rPr sz="1500" spc="292" baseline="13888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can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accept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delay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37128" y="1690893"/>
            <a:ext cx="600710" cy="259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">
              <a:lnSpc>
                <a:spcPts val="745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38100">
              <a:lnSpc>
                <a:spcPts val="1105"/>
              </a:lnSpc>
            </a:pPr>
            <a:r>
              <a:rPr sz="1000" spc="-10" dirty="0">
                <a:latin typeface="Tahoma"/>
                <a:cs typeface="Tahoma"/>
              </a:rPr>
              <a:t>constraint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2" name="object 3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R-</a:t>
            </a:r>
            <a:r>
              <a:rPr spc="50" dirty="0"/>
              <a:t>TMSC</a:t>
            </a:r>
            <a:r>
              <a:rPr spc="5" dirty="0"/>
              <a:t> </a:t>
            </a:r>
            <a:r>
              <a:rPr dirty="0"/>
              <a:t>Matching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84353" y="918565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53" y="897577"/>
            <a:ext cx="1812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5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R-TMSC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353" y="1089240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526" y="1082229"/>
            <a:ext cx="1127760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30"/>
              </a:lnSpc>
              <a:spcBef>
                <a:spcPts val="95"/>
              </a:spcBef>
            </a:pPr>
            <a:r>
              <a:rPr sz="1200" baseline="6944" dirty="0">
                <a:latin typeface="Tahoma"/>
                <a:cs typeface="Tahoma"/>
              </a:rPr>
              <a:t>1:</a:t>
            </a:r>
            <a:r>
              <a:rPr sz="1200" spc="127" baseline="6944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Initialize</a:t>
            </a:r>
            <a:r>
              <a:rPr sz="1050" spc="15" baseline="7936" dirty="0">
                <a:latin typeface="Tahoma"/>
                <a:cs typeface="Tahoma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40" dirty="0">
                <a:latin typeface="Arial"/>
                <a:cs typeface="Arial"/>
              </a:rPr>
              <a:t> </a:t>
            </a:r>
            <a:r>
              <a:rPr sz="1050" spc="89" baseline="7936" dirty="0">
                <a:latin typeface="Tahoma"/>
                <a:cs typeface="Tahoma"/>
              </a:rPr>
              <a:t>=</a:t>
            </a:r>
            <a:r>
              <a:rPr sz="1050" spc="-22" baseline="7936" dirty="0">
                <a:latin typeface="Tahoma"/>
                <a:cs typeface="Tahoma"/>
              </a:rPr>
              <a:t> </a:t>
            </a:r>
            <a:r>
              <a:rPr sz="1050" spc="-502" baseline="7936" dirty="0">
                <a:latin typeface="Lucida Sans Unicode"/>
                <a:cs typeface="Lucida Sans Unicode"/>
              </a:rPr>
              <a:t>∅</a:t>
            </a:r>
            <a:endParaRPr sz="1050" baseline="7936">
              <a:latin typeface="Lucida Sans Unicode"/>
              <a:cs typeface="Lucida Sans Unicode"/>
            </a:endParaRPr>
          </a:p>
          <a:p>
            <a:pPr marL="38100">
              <a:lnSpc>
                <a:spcPts val="830"/>
              </a:lnSpc>
            </a:pPr>
            <a:r>
              <a:rPr sz="800" dirty="0">
                <a:latin typeface="Tahoma"/>
                <a:cs typeface="Tahoma"/>
              </a:rPr>
              <a:t>2: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700" b="1" spc="-20" dirty="0">
                <a:latin typeface="Arial"/>
                <a:cs typeface="Arial"/>
              </a:rPr>
              <a:t>while</a:t>
            </a:r>
            <a:r>
              <a:rPr sz="700" b="1" spc="20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not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converged </a:t>
            </a:r>
            <a:r>
              <a:rPr sz="700" b="1" spc="-25" dirty="0">
                <a:latin typeface="Arial"/>
                <a:cs typeface="Arial"/>
              </a:rPr>
              <a:t>do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383" y="1297332"/>
            <a:ext cx="812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="1" baseline="7936" dirty="0">
                <a:latin typeface="Arial"/>
                <a:cs typeface="Arial"/>
              </a:rPr>
              <a:t>for</a:t>
            </a:r>
            <a:r>
              <a:rPr sz="1050" b="1" spc="52" baseline="7936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each</a:t>
            </a:r>
            <a:r>
              <a:rPr sz="1050" spc="7" baseline="7936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IoT </a:t>
            </a:r>
            <a:r>
              <a:rPr sz="1050" i="1" baseline="7936" dirty="0">
                <a:latin typeface="Arial"/>
                <a:cs typeface="Arial"/>
              </a:rPr>
              <a:t>I</a:t>
            </a:r>
            <a:r>
              <a:rPr sz="500" i="1" dirty="0">
                <a:latin typeface="Arial"/>
                <a:cs typeface="Arial"/>
              </a:rPr>
              <a:t>m</a:t>
            </a:r>
            <a:r>
              <a:rPr sz="500" i="1" spc="135" dirty="0">
                <a:latin typeface="Arial"/>
                <a:cs typeface="Arial"/>
              </a:rPr>
              <a:t> </a:t>
            </a:r>
            <a:r>
              <a:rPr sz="1050" b="1" spc="-37" baseline="7936" dirty="0">
                <a:latin typeface="Arial"/>
                <a:cs typeface="Arial"/>
              </a:rPr>
              <a:t>do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3" y="1385890"/>
            <a:ext cx="908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Find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I</a:t>
            </a:r>
            <a:r>
              <a:rPr sz="750" i="1" spc="359" baseline="-11111" dirty="0">
                <a:latin typeface="Arial"/>
                <a:cs typeface="Arial"/>
              </a:rPr>
              <a:t> 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25" dirty="0">
                <a:latin typeface="Lucida Sans Unicode"/>
                <a:cs typeface="Lucida Sans Unicode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05" dirty="0">
                <a:latin typeface="Arial"/>
                <a:cs typeface="Arial"/>
              </a:rPr>
              <a:t> </a:t>
            </a:r>
            <a:r>
              <a:rPr sz="750" spc="-75" baseline="33333" dirty="0">
                <a:latin typeface="Lucida Sans Unicode"/>
                <a:cs typeface="Lucida Sans Unicode"/>
              </a:rPr>
              <a:t>∗</a:t>
            </a:r>
            <a:endParaRPr sz="750" baseline="33333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4877" y="1449155"/>
            <a:ext cx="4000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sz="750" i="1" spc="-75" baseline="11111" dirty="0">
                <a:latin typeface="Arial"/>
                <a:cs typeface="Arial"/>
              </a:rPr>
              <a:t>m</a:t>
            </a:r>
            <a:r>
              <a:rPr sz="750" i="1" baseline="11111" dirty="0">
                <a:latin typeface="Arial"/>
                <a:cs typeface="Arial"/>
              </a:rPr>
              <a:t>	</a:t>
            </a:r>
            <a:r>
              <a:rPr sz="750" i="1" spc="-37" baseline="11111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543" y="1504126"/>
            <a:ext cx="685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if</a:t>
            </a:r>
            <a:r>
              <a:rPr sz="700" b="1" spc="1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2" baseline="33333" dirty="0">
                <a:latin typeface="Lucida Sans Unicode"/>
                <a:cs typeface="Lucida Sans Unicode"/>
              </a:rPr>
              <a:t> </a:t>
            </a:r>
            <a:r>
              <a:rPr sz="700" dirty="0">
                <a:latin typeface="Lucida Sans Unicode"/>
                <a:cs typeface="Lucida Sans Unicode"/>
              </a:rPr>
              <a:t≯</a:t>
            </a:r>
            <a:r>
              <a:rPr sz="700" dirty="0">
                <a:latin typeface="Tahoma"/>
                <a:cs typeface="Tahoma"/>
              </a:rPr>
              <a:t>=</a:t>
            </a:r>
            <a:r>
              <a:rPr sz="700" spc="20" dirty="0">
                <a:latin typeface="Tahoma"/>
                <a:cs typeface="Tahoma"/>
              </a:rPr>
              <a:t> </a:t>
            </a:r>
            <a:r>
              <a:rPr sz="700" spc="-285" dirty="0">
                <a:latin typeface="Lucida Sans Unicode"/>
                <a:cs typeface="Lucida Sans Unicode"/>
              </a:rPr>
              <a:t>∅</a:t>
            </a:r>
            <a:r>
              <a:rPr sz="700" spc="40" dirty="0">
                <a:latin typeface="Lucida Sans Unicode"/>
                <a:cs typeface="Lucida Sans Unicode"/>
              </a:rPr>
              <a:t> </a:t>
            </a:r>
            <a:r>
              <a:rPr sz="700" b="1" spc="-20" dirty="0">
                <a:latin typeface="Arial"/>
                <a:cs typeface="Arial"/>
              </a:rPr>
              <a:t>then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704" y="1605346"/>
            <a:ext cx="7162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262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U</a:t>
            </a:r>
            <a:r>
              <a:rPr sz="750" spc="-15" baseline="33333" dirty="0">
                <a:latin typeface="Lucida Sans Unicode"/>
                <a:cs typeface="Lucida Sans Unicode"/>
              </a:rPr>
              <a:t>∗</a:t>
            </a:r>
            <a:r>
              <a:rPr sz="700" spc="-1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704" y="1723786"/>
            <a:ext cx="6648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65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17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U</a:t>
            </a:r>
            <a:r>
              <a:rPr sz="750" i="1" spc="652" baseline="-11111" dirty="0">
                <a:latin typeface="Arial"/>
                <a:cs typeface="Arial"/>
              </a:rPr>
              <a:t>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40" dirty="0">
                <a:latin typeface="Lucida Sans Unicode"/>
                <a:cs typeface="Lucida Sans Unicode"/>
              </a:rPr>
              <a:t> </a:t>
            </a:r>
            <a:r>
              <a:rPr sz="700" i="1" spc="-40" dirty="0">
                <a:latin typeface="Arial"/>
                <a:cs typeface="Arial"/>
              </a:rPr>
              <a:t>Z</a:t>
            </a:r>
            <a:r>
              <a:rPr sz="1050" spc="-60" baseline="11904" dirty="0">
                <a:latin typeface="Tahoma"/>
                <a:cs typeface="Tahoma"/>
              </a:rPr>
              <a:t>ˆ</a:t>
            </a:r>
            <a:r>
              <a:rPr sz="750" i="1" spc="-60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150" y="1784650"/>
            <a:ext cx="370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sz="500" i="1" spc="-50" dirty="0">
                <a:latin typeface="Arial"/>
                <a:cs typeface="Arial"/>
              </a:rPr>
              <a:t>k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750" i="1" spc="-75" baseline="5555" dirty="0">
                <a:latin typeface="Arial"/>
                <a:cs typeface="Arial"/>
              </a:rPr>
              <a:t>m</a:t>
            </a:r>
            <a:endParaRPr sz="750" baseline="555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704" y="1839622"/>
            <a:ext cx="6762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S</a:t>
            </a:r>
            <a:r>
              <a:rPr sz="750" i="1" baseline="-11111" dirty="0">
                <a:latin typeface="Arial"/>
                <a:cs typeface="Arial"/>
              </a:rPr>
              <a:t>l</a:t>
            </a:r>
            <a:r>
              <a:rPr sz="750" i="1" spc="247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spc="-37" baseline="33333" dirty="0">
                <a:latin typeface="Lucida Sans Unicode"/>
                <a:cs typeface="Lucida Sans Unicode"/>
              </a:rPr>
              <a:t>∗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704" y="1940841"/>
            <a:ext cx="11868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Update</a:t>
            </a:r>
            <a:r>
              <a:rPr sz="700" spc="50" dirty="0">
                <a:latin typeface="Tahoma"/>
                <a:cs typeface="Tahoma"/>
              </a:rPr>
              <a:t> </a:t>
            </a:r>
            <a:r>
              <a:rPr sz="700" i="1" spc="55" dirty="0">
                <a:latin typeface="Arial"/>
                <a:cs typeface="Arial"/>
              </a:rPr>
              <a:t>M</a:t>
            </a:r>
            <a:r>
              <a:rPr sz="750" i="1" spc="82" baseline="-11111" dirty="0">
                <a:latin typeface="Arial"/>
                <a:cs typeface="Arial"/>
              </a:rPr>
              <a:t>t</a:t>
            </a:r>
            <a:r>
              <a:rPr sz="750" i="1" spc="330" baseline="-11111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with</a:t>
            </a:r>
            <a:r>
              <a:rPr sz="700" spc="5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(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spc="-60" dirty="0">
                <a:latin typeface="Trebuchet MS"/>
                <a:cs typeface="Trebuchet MS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-67" baseline="-11111" dirty="0">
                <a:latin typeface="Arial"/>
                <a:cs typeface="Arial"/>
              </a:rPr>
              <a:t> </a:t>
            </a:r>
            <a:r>
              <a:rPr sz="700" i="1" spc="-35" dirty="0">
                <a:latin typeface="Trebuchet MS"/>
                <a:cs typeface="Trebuchet MS"/>
              </a:rPr>
              <a:t>,</a:t>
            </a:r>
            <a:r>
              <a:rPr sz="700" i="1" spc="-55" dirty="0">
                <a:latin typeface="Trebuchet MS"/>
                <a:cs typeface="Trebuchet MS"/>
              </a:rPr>
              <a:t> </a:t>
            </a:r>
            <a:r>
              <a:rPr sz="700" i="1" spc="-30" dirty="0">
                <a:latin typeface="Arial"/>
                <a:cs typeface="Arial"/>
              </a:rPr>
              <a:t>S</a:t>
            </a:r>
            <a:r>
              <a:rPr sz="750" i="1" spc="-44" baseline="-11111" dirty="0">
                <a:latin typeface="Arial"/>
                <a:cs typeface="Arial"/>
              </a:rPr>
              <a:t>l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-5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53" y="1272017"/>
            <a:ext cx="163195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ts val="88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4: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5: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6: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919"/>
              </a:lnSpc>
            </a:pPr>
            <a:r>
              <a:rPr sz="800" spc="-25" dirty="0">
                <a:latin typeface="Tahoma"/>
                <a:cs typeface="Tahoma"/>
              </a:rPr>
              <a:t>7: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55"/>
              </a:lnSpc>
            </a:pPr>
            <a:r>
              <a:rPr sz="800" spc="-25" dirty="0">
                <a:latin typeface="Tahoma"/>
                <a:cs typeface="Tahoma"/>
              </a:rPr>
              <a:t>8: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9: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10: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80"/>
              </a:lnSpc>
            </a:pPr>
            <a:r>
              <a:rPr sz="800" spc="-25" dirty="0">
                <a:latin typeface="Tahoma"/>
                <a:cs typeface="Tahoma"/>
              </a:rPr>
              <a:t>11: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281" y="2042061"/>
            <a:ext cx="39497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40970">
              <a:lnSpc>
                <a:spcPts val="800"/>
              </a:lnSpc>
              <a:spcBef>
                <a:spcPts val="155"/>
              </a:spcBef>
            </a:pP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40" dirty="0">
                <a:latin typeface="Arial"/>
                <a:cs typeface="Arial"/>
              </a:rPr>
              <a:t>if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for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3" y="2231845"/>
            <a:ext cx="155067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93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12: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while</a:t>
            </a:r>
            <a:endParaRPr sz="700">
              <a:latin typeface="Arial"/>
              <a:cs typeface="Arial"/>
            </a:endParaRPr>
          </a:p>
          <a:p>
            <a:pPr marL="50800">
              <a:lnSpc>
                <a:spcPts val="930"/>
              </a:lnSpc>
            </a:pPr>
            <a:r>
              <a:rPr sz="1200" baseline="6944" dirty="0">
                <a:latin typeface="Tahoma"/>
                <a:cs typeface="Tahoma"/>
              </a:rPr>
              <a:t>13:</a:t>
            </a:r>
            <a:r>
              <a:rPr sz="1200" spc="120" baseline="6944" dirty="0">
                <a:latin typeface="Tahoma"/>
                <a:cs typeface="Tahoma"/>
              </a:rPr>
              <a:t> </a:t>
            </a:r>
            <a:r>
              <a:rPr sz="1050" b="1" spc="-15" baseline="7936" dirty="0">
                <a:latin typeface="Arial"/>
                <a:cs typeface="Arial"/>
              </a:rPr>
              <a:t>return</a:t>
            </a:r>
            <a:r>
              <a:rPr sz="1050" b="1" spc="37" baseline="7936" dirty="0">
                <a:latin typeface="Arial"/>
                <a:cs typeface="Arial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55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(stable matching </a:t>
            </a:r>
            <a:r>
              <a:rPr sz="1050" spc="-30" baseline="7936" dirty="0">
                <a:latin typeface="Tahoma"/>
                <a:cs typeface="Tahoma"/>
              </a:rPr>
              <a:t>set)</a:t>
            </a:r>
            <a:endParaRPr sz="1050" baseline="7936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353" y="2515793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356" y="977201"/>
            <a:ext cx="59601" cy="596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884081" y="672357"/>
            <a:ext cx="245618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Concepts: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4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triplets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U</a:t>
            </a:r>
            <a:r>
              <a:rPr sz="1050" i="1" spc="-37" baseline="-11904" dirty="0">
                <a:latin typeface="Arial"/>
                <a:cs typeface="Arial"/>
              </a:rPr>
              <a:t>k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S</a:t>
            </a:r>
            <a:r>
              <a:rPr sz="1050" i="1" spc="-7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2356" y="1166990"/>
            <a:ext cx="59601" cy="596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265982" y="1184791"/>
            <a:ext cx="787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37128" y="1089893"/>
            <a:ext cx="2186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4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preferred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match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2356" y="1356779"/>
            <a:ext cx="59601" cy="596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37128" y="1279682"/>
            <a:ext cx="2543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50" spc="-247" baseline="27777" dirty="0">
                <a:latin typeface="Lucida Sans Unicode"/>
                <a:cs typeface="Lucida Sans Unicode"/>
              </a:rPr>
              <a:t>∗</a:t>
            </a:r>
            <a:r>
              <a:rPr sz="1050" spc="-22" baseline="27777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available capacity 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suitable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37128" y="1366128"/>
            <a:ext cx="233045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">
              <a:lnSpc>
                <a:spcPts val="675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38100">
              <a:lnSpc>
                <a:spcPts val="1035"/>
              </a:lnSpc>
            </a:pPr>
            <a:r>
              <a:rPr sz="1000" spc="-25" dirty="0">
                <a:latin typeface="Tahoma"/>
                <a:cs typeface="Tahoma"/>
              </a:rPr>
              <a:t>ES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2356" y="1698396"/>
            <a:ext cx="59601" cy="596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137128" y="1621299"/>
            <a:ext cx="2238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130" dirty="0">
                <a:latin typeface="Arial"/>
                <a:cs typeface="Arial"/>
              </a:rPr>
              <a:t>Z</a:t>
            </a:r>
            <a:r>
              <a:rPr sz="1500" spc="-195" baseline="13888" dirty="0">
                <a:latin typeface="Tahoma"/>
                <a:cs typeface="Tahoma"/>
              </a:rPr>
              <a:t>ˆ</a:t>
            </a:r>
            <a:r>
              <a:rPr sz="1500" spc="292" baseline="13888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can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accept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delay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37128" y="1690893"/>
            <a:ext cx="600710" cy="259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">
              <a:lnSpc>
                <a:spcPts val="745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38100">
              <a:lnSpc>
                <a:spcPts val="1105"/>
              </a:lnSpc>
            </a:pPr>
            <a:r>
              <a:rPr sz="1000" spc="-10" dirty="0">
                <a:latin typeface="Tahoma"/>
                <a:cs typeface="Tahoma"/>
              </a:rPr>
              <a:t>constraint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2" name="object 3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R-</a:t>
            </a:r>
            <a:r>
              <a:rPr spc="50" dirty="0"/>
              <a:t>TMSC</a:t>
            </a:r>
            <a:r>
              <a:rPr spc="5" dirty="0"/>
              <a:t> </a:t>
            </a:r>
            <a:r>
              <a:rPr dirty="0"/>
              <a:t>Matching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84353" y="918565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53" y="897577"/>
            <a:ext cx="1812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6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R-TMSC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Offloading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353" y="1089240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526" y="1082229"/>
            <a:ext cx="1127760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30"/>
              </a:lnSpc>
              <a:spcBef>
                <a:spcPts val="95"/>
              </a:spcBef>
            </a:pPr>
            <a:r>
              <a:rPr sz="1200" baseline="6944" dirty="0">
                <a:latin typeface="Tahoma"/>
                <a:cs typeface="Tahoma"/>
              </a:rPr>
              <a:t>1:</a:t>
            </a:r>
            <a:r>
              <a:rPr sz="1200" spc="127" baseline="6944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Initialize</a:t>
            </a:r>
            <a:r>
              <a:rPr sz="1050" spc="15" baseline="7936" dirty="0">
                <a:latin typeface="Tahoma"/>
                <a:cs typeface="Tahoma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40" dirty="0">
                <a:latin typeface="Arial"/>
                <a:cs typeface="Arial"/>
              </a:rPr>
              <a:t> </a:t>
            </a:r>
            <a:r>
              <a:rPr sz="1050" spc="89" baseline="7936" dirty="0">
                <a:latin typeface="Tahoma"/>
                <a:cs typeface="Tahoma"/>
              </a:rPr>
              <a:t>=</a:t>
            </a:r>
            <a:r>
              <a:rPr sz="1050" spc="-22" baseline="7936" dirty="0">
                <a:latin typeface="Tahoma"/>
                <a:cs typeface="Tahoma"/>
              </a:rPr>
              <a:t> </a:t>
            </a:r>
            <a:r>
              <a:rPr sz="1050" spc="-502" baseline="7936" dirty="0">
                <a:latin typeface="Lucida Sans Unicode"/>
                <a:cs typeface="Lucida Sans Unicode"/>
              </a:rPr>
              <a:t>∅</a:t>
            </a:r>
            <a:endParaRPr sz="1050" baseline="7936">
              <a:latin typeface="Lucida Sans Unicode"/>
              <a:cs typeface="Lucida Sans Unicode"/>
            </a:endParaRPr>
          </a:p>
          <a:p>
            <a:pPr marL="38100">
              <a:lnSpc>
                <a:spcPts val="830"/>
              </a:lnSpc>
            </a:pPr>
            <a:r>
              <a:rPr sz="800" dirty="0">
                <a:latin typeface="Tahoma"/>
                <a:cs typeface="Tahoma"/>
              </a:rPr>
              <a:t>2: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700" b="1" spc="-20" dirty="0">
                <a:latin typeface="Arial"/>
                <a:cs typeface="Arial"/>
              </a:rPr>
              <a:t>while</a:t>
            </a:r>
            <a:r>
              <a:rPr sz="700" b="1" spc="20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not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converged </a:t>
            </a:r>
            <a:r>
              <a:rPr sz="700" b="1" spc="-25" dirty="0">
                <a:latin typeface="Arial"/>
                <a:cs typeface="Arial"/>
              </a:rPr>
              <a:t>do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383" y="1297332"/>
            <a:ext cx="812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="1" baseline="7936" dirty="0">
                <a:latin typeface="Arial"/>
                <a:cs typeface="Arial"/>
              </a:rPr>
              <a:t>for</a:t>
            </a:r>
            <a:r>
              <a:rPr sz="1050" b="1" spc="52" baseline="7936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each</a:t>
            </a:r>
            <a:r>
              <a:rPr sz="1050" spc="7" baseline="7936" dirty="0">
                <a:latin typeface="Tahoma"/>
                <a:cs typeface="Tahoma"/>
              </a:rPr>
              <a:t> </a:t>
            </a:r>
            <a:r>
              <a:rPr sz="1050" baseline="7936" dirty="0">
                <a:latin typeface="Tahoma"/>
                <a:cs typeface="Tahoma"/>
              </a:rPr>
              <a:t>IoT </a:t>
            </a:r>
            <a:r>
              <a:rPr sz="1050" i="1" baseline="7936" dirty="0">
                <a:latin typeface="Arial"/>
                <a:cs typeface="Arial"/>
              </a:rPr>
              <a:t>I</a:t>
            </a:r>
            <a:r>
              <a:rPr sz="500" i="1" dirty="0">
                <a:latin typeface="Arial"/>
                <a:cs typeface="Arial"/>
              </a:rPr>
              <a:t>m</a:t>
            </a:r>
            <a:r>
              <a:rPr sz="500" i="1" spc="135" dirty="0">
                <a:latin typeface="Arial"/>
                <a:cs typeface="Arial"/>
              </a:rPr>
              <a:t> </a:t>
            </a:r>
            <a:r>
              <a:rPr sz="1050" b="1" spc="-37" baseline="7936" dirty="0">
                <a:latin typeface="Arial"/>
                <a:cs typeface="Arial"/>
              </a:rPr>
              <a:t>do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3" y="1385890"/>
            <a:ext cx="908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Find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I</a:t>
            </a:r>
            <a:r>
              <a:rPr sz="750" i="1" spc="359" baseline="-11111" dirty="0">
                <a:latin typeface="Arial"/>
                <a:cs typeface="Arial"/>
              </a:rPr>
              <a:t> 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25" dirty="0">
                <a:latin typeface="Lucida Sans Unicode"/>
                <a:cs typeface="Lucida Sans Unicode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05" dirty="0">
                <a:latin typeface="Arial"/>
                <a:cs typeface="Arial"/>
              </a:rPr>
              <a:t> </a:t>
            </a:r>
            <a:r>
              <a:rPr sz="750" spc="-75" baseline="33333" dirty="0">
                <a:latin typeface="Lucida Sans Unicode"/>
                <a:cs typeface="Lucida Sans Unicode"/>
              </a:rPr>
              <a:t>∗</a:t>
            </a:r>
            <a:endParaRPr sz="750" baseline="33333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4877" y="1449155"/>
            <a:ext cx="4000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sz="750" i="1" spc="-75" baseline="11111" dirty="0">
                <a:latin typeface="Arial"/>
                <a:cs typeface="Arial"/>
              </a:rPr>
              <a:t>m</a:t>
            </a:r>
            <a:r>
              <a:rPr sz="750" i="1" baseline="11111" dirty="0">
                <a:latin typeface="Arial"/>
                <a:cs typeface="Arial"/>
              </a:rPr>
              <a:t>	</a:t>
            </a:r>
            <a:r>
              <a:rPr sz="750" i="1" spc="-37" baseline="11111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543" y="1504126"/>
            <a:ext cx="685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if</a:t>
            </a:r>
            <a:r>
              <a:rPr sz="700" b="1" spc="1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202" baseline="33333" dirty="0">
                <a:latin typeface="Lucida Sans Unicode"/>
                <a:cs typeface="Lucida Sans Unicode"/>
              </a:rPr>
              <a:t> </a:t>
            </a:r>
            <a:r>
              <a:rPr sz="700" dirty="0">
                <a:latin typeface="Lucida Sans Unicode"/>
                <a:cs typeface="Lucida Sans Unicode"/>
              </a:rPr>
              <a:t≯</a:t>
            </a:r>
            <a:r>
              <a:rPr sz="700" dirty="0">
                <a:latin typeface="Tahoma"/>
                <a:cs typeface="Tahoma"/>
              </a:rPr>
              <a:t>=</a:t>
            </a:r>
            <a:r>
              <a:rPr sz="700" spc="20" dirty="0">
                <a:latin typeface="Tahoma"/>
                <a:cs typeface="Tahoma"/>
              </a:rPr>
              <a:t> </a:t>
            </a:r>
            <a:r>
              <a:rPr sz="700" spc="-285" dirty="0">
                <a:latin typeface="Lucida Sans Unicode"/>
                <a:cs typeface="Lucida Sans Unicode"/>
              </a:rPr>
              <a:t>∅</a:t>
            </a:r>
            <a:r>
              <a:rPr sz="700" spc="40" dirty="0">
                <a:latin typeface="Lucida Sans Unicode"/>
                <a:cs typeface="Lucida Sans Unicode"/>
              </a:rPr>
              <a:t> </a:t>
            </a:r>
            <a:r>
              <a:rPr sz="700" b="1" spc="-20" dirty="0">
                <a:latin typeface="Arial"/>
                <a:cs typeface="Arial"/>
              </a:rPr>
              <a:t>then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704" y="1605346"/>
            <a:ext cx="7162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262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U</a:t>
            </a:r>
            <a:r>
              <a:rPr sz="750" spc="-15" baseline="33333" dirty="0">
                <a:latin typeface="Lucida Sans Unicode"/>
                <a:cs typeface="Lucida Sans Unicode"/>
              </a:rPr>
              <a:t>∗</a:t>
            </a:r>
            <a:r>
              <a:rPr sz="700" spc="-1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704" y="1723786"/>
            <a:ext cx="6648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65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baseline="33333" dirty="0">
                <a:latin typeface="Lucida Sans Unicode"/>
                <a:cs typeface="Lucida Sans Unicode"/>
              </a:rPr>
              <a:t>∗</a:t>
            </a:r>
            <a:r>
              <a:rPr sz="750" spc="179" baseline="33333" dirty="0">
                <a:latin typeface="Lucida Sans Unicode"/>
                <a:cs typeface="Lucida Sans Unicode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-11111" dirty="0">
                <a:latin typeface="Arial"/>
                <a:cs typeface="Arial"/>
              </a:rPr>
              <a:t>U</a:t>
            </a:r>
            <a:r>
              <a:rPr sz="750" i="1" spc="652" baseline="-11111" dirty="0">
                <a:latin typeface="Arial"/>
                <a:cs typeface="Arial"/>
              </a:rPr>
              <a:t> </a:t>
            </a:r>
            <a:r>
              <a:rPr sz="700" spc="-30" dirty="0">
                <a:latin typeface="Lucida Sans Unicode"/>
                <a:cs typeface="Lucida Sans Unicode"/>
              </a:rPr>
              <a:t>∩</a:t>
            </a:r>
            <a:r>
              <a:rPr sz="700" spc="-40" dirty="0">
                <a:latin typeface="Lucida Sans Unicode"/>
                <a:cs typeface="Lucida Sans Unicode"/>
              </a:rPr>
              <a:t> </a:t>
            </a:r>
            <a:r>
              <a:rPr sz="700" i="1" spc="-40" dirty="0">
                <a:latin typeface="Arial"/>
                <a:cs typeface="Arial"/>
              </a:rPr>
              <a:t>Z</a:t>
            </a:r>
            <a:r>
              <a:rPr sz="1050" spc="-60" baseline="11904" dirty="0">
                <a:latin typeface="Tahoma"/>
                <a:cs typeface="Tahoma"/>
              </a:rPr>
              <a:t>ˆ</a:t>
            </a:r>
            <a:r>
              <a:rPr sz="750" i="1" spc="-60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150" y="1784650"/>
            <a:ext cx="370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sz="500" i="1" spc="-50" dirty="0">
                <a:latin typeface="Arial"/>
                <a:cs typeface="Arial"/>
              </a:rPr>
              <a:t>k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750" i="1" spc="-75" baseline="5555" dirty="0">
                <a:latin typeface="Arial"/>
                <a:cs typeface="Arial"/>
              </a:rPr>
              <a:t>m</a:t>
            </a:r>
            <a:endParaRPr sz="750" baseline="555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704" y="1839622"/>
            <a:ext cx="6762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S</a:t>
            </a:r>
            <a:r>
              <a:rPr sz="750" i="1" baseline="-11111" dirty="0">
                <a:latin typeface="Arial"/>
                <a:cs typeface="Arial"/>
              </a:rPr>
              <a:t>l</a:t>
            </a:r>
            <a:r>
              <a:rPr sz="750" i="1" spc="247" baseline="-11111" dirty="0">
                <a:latin typeface="Arial"/>
                <a:cs typeface="Arial"/>
              </a:rPr>
              <a:t> </a:t>
            </a:r>
            <a:r>
              <a:rPr sz="700" spc="60" dirty="0">
                <a:latin typeface="Tahoma"/>
                <a:cs typeface="Tahoma"/>
              </a:rPr>
              <a:t>=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Head(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50" spc="-37" baseline="33333" dirty="0">
                <a:latin typeface="Lucida Sans Unicode"/>
                <a:cs typeface="Lucida Sans Unicode"/>
              </a:rPr>
              <a:t>∗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704" y="1940841"/>
            <a:ext cx="11868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ahoma"/>
                <a:cs typeface="Tahoma"/>
              </a:rPr>
              <a:t>Update</a:t>
            </a:r>
            <a:r>
              <a:rPr sz="700" spc="50" dirty="0">
                <a:latin typeface="Tahoma"/>
                <a:cs typeface="Tahoma"/>
              </a:rPr>
              <a:t> </a:t>
            </a:r>
            <a:r>
              <a:rPr sz="700" i="1" spc="55" dirty="0">
                <a:latin typeface="Arial"/>
                <a:cs typeface="Arial"/>
              </a:rPr>
              <a:t>M</a:t>
            </a:r>
            <a:r>
              <a:rPr sz="750" i="1" spc="82" baseline="-11111" dirty="0">
                <a:latin typeface="Arial"/>
                <a:cs typeface="Arial"/>
              </a:rPr>
              <a:t>t</a:t>
            </a:r>
            <a:r>
              <a:rPr sz="750" i="1" spc="330" baseline="-11111" dirty="0">
                <a:latin typeface="Arial"/>
                <a:cs typeface="Arial"/>
              </a:rPr>
              <a:t> </a:t>
            </a:r>
            <a:r>
              <a:rPr sz="700" dirty="0">
                <a:latin typeface="Tahoma"/>
                <a:cs typeface="Tahoma"/>
              </a:rPr>
              <a:t>with</a:t>
            </a:r>
            <a:r>
              <a:rPr sz="700" spc="5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(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00" i="1" dirty="0">
                <a:latin typeface="Trebuchet MS"/>
                <a:cs typeface="Trebuchet MS"/>
              </a:rPr>
              <a:t>,</a:t>
            </a:r>
            <a:r>
              <a:rPr sz="700" i="1" spc="-60" dirty="0">
                <a:latin typeface="Trebuchet MS"/>
                <a:cs typeface="Trebuchet MS"/>
              </a:rPr>
              <a:t> </a:t>
            </a:r>
            <a:r>
              <a:rPr sz="700" i="1" dirty="0">
                <a:latin typeface="Arial"/>
                <a:cs typeface="Arial"/>
              </a:rPr>
              <a:t>U</a:t>
            </a:r>
            <a:r>
              <a:rPr sz="750" i="1" baseline="-11111" dirty="0">
                <a:latin typeface="Arial"/>
                <a:cs typeface="Arial"/>
              </a:rPr>
              <a:t>k</a:t>
            </a:r>
            <a:r>
              <a:rPr sz="750" i="1" spc="-67" baseline="-11111" dirty="0">
                <a:latin typeface="Arial"/>
                <a:cs typeface="Arial"/>
              </a:rPr>
              <a:t> </a:t>
            </a:r>
            <a:r>
              <a:rPr sz="700" i="1" spc="-35" dirty="0">
                <a:latin typeface="Trebuchet MS"/>
                <a:cs typeface="Trebuchet MS"/>
              </a:rPr>
              <a:t>,</a:t>
            </a:r>
            <a:r>
              <a:rPr sz="700" i="1" spc="-55" dirty="0">
                <a:latin typeface="Trebuchet MS"/>
                <a:cs typeface="Trebuchet MS"/>
              </a:rPr>
              <a:t> </a:t>
            </a:r>
            <a:r>
              <a:rPr sz="700" i="1" spc="-30" dirty="0">
                <a:latin typeface="Arial"/>
                <a:cs typeface="Arial"/>
              </a:rPr>
              <a:t>S</a:t>
            </a:r>
            <a:r>
              <a:rPr sz="750" i="1" spc="-44" baseline="-11111" dirty="0">
                <a:latin typeface="Arial"/>
                <a:cs typeface="Arial"/>
              </a:rPr>
              <a:t>l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-50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53" y="1272017"/>
            <a:ext cx="163195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ts val="88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4: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5: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65"/>
              </a:lnSpc>
            </a:pPr>
            <a:r>
              <a:rPr sz="800" spc="-25" dirty="0">
                <a:latin typeface="Tahoma"/>
                <a:cs typeface="Tahoma"/>
              </a:rPr>
              <a:t>6: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919"/>
              </a:lnSpc>
            </a:pPr>
            <a:r>
              <a:rPr sz="800" spc="-25" dirty="0">
                <a:latin typeface="Tahoma"/>
                <a:cs typeface="Tahoma"/>
              </a:rPr>
              <a:t>7: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855"/>
              </a:lnSpc>
            </a:pPr>
            <a:r>
              <a:rPr sz="800" spc="-25" dirty="0">
                <a:latin typeface="Tahoma"/>
                <a:cs typeface="Tahoma"/>
              </a:rPr>
              <a:t>8:</a:t>
            </a:r>
            <a:endParaRPr sz="800">
              <a:latin typeface="Tahoma"/>
              <a:cs typeface="Tahoma"/>
            </a:endParaRPr>
          </a:p>
          <a:p>
            <a:pPr marL="4191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9: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795"/>
              </a:lnSpc>
            </a:pPr>
            <a:r>
              <a:rPr sz="800" spc="-25" dirty="0">
                <a:latin typeface="Tahoma"/>
                <a:cs typeface="Tahoma"/>
              </a:rPr>
              <a:t>10: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80"/>
              </a:lnSpc>
            </a:pPr>
            <a:r>
              <a:rPr sz="800" spc="-25" dirty="0">
                <a:latin typeface="Tahoma"/>
                <a:cs typeface="Tahoma"/>
              </a:rPr>
              <a:t>11: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281" y="2042061"/>
            <a:ext cx="39497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40970">
              <a:lnSpc>
                <a:spcPts val="800"/>
              </a:lnSpc>
              <a:spcBef>
                <a:spcPts val="155"/>
              </a:spcBef>
            </a:pP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40" dirty="0">
                <a:latin typeface="Arial"/>
                <a:cs typeface="Arial"/>
              </a:rPr>
              <a:t>if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2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for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53" y="2231845"/>
            <a:ext cx="592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12: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700" b="1" spc="-10" dirty="0">
                <a:latin typeface="Arial"/>
                <a:cs typeface="Arial"/>
              </a:rPr>
              <a:t>end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while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253" y="2345726"/>
            <a:ext cx="15252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6944" dirty="0">
                <a:latin typeface="Tahoma"/>
                <a:cs typeface="Tahoma"/>
              </a:rPr>
              <a:t>13:</a:t>
            </a:r>
            <a:r>
              <a:rPr sz="1200" spc="120" baseline="6944" dirty="0">
                <a:latin typeface="Tahoma"/>
                <a:cs typeface="Tahoma"/>
              </a:rPr>
              <a:t> </a:t>
            </a:r>
            <a:r>
              <a:rPr sz="1050" b="1" spc="-15" baseline="7936" dirty="0">
                <a:latin typeface="Arial"/>
                <a:cs typeface="Arial"/>
              </a:rPr>
              <a:t>return</a:t>
            </a:r>
            <a:r>
              <a:rPr sz="1050" b="1" spc="37" baseline="7936" dirty="0">
                <a:latin typeface="Arial"/>
                <a:cs typeface="Arial"/>
              </a:rPr>
              <a:t> </a:t>
            </a:r>
            <a:r>
              <a:rPr sz="1050" i="1" spc="82" baseline="7936" dirty="0">
                <a:latin typeface="Arial"/>
                <a:cs typeface="Arial"/>
              </a:rPr>
              <a:t>M</a:t>
            </a:r>
            <a:r>
              <a:rPr sz="500" i="1" spc="55" dirty="0">
                <a:latin typeface="Arial"/>
                <a:cs typeface="Arial"/>
              </a:rPr>
              <a:t>t</a:t>
            </a:r>
            <a:r>
              <a:rPr sz="500" i="1" spc="155" dirty="0">
                <a:latin typeface="Arial"/>
                <a:cs typeface="Arial"/>
              </a:rPr>
              <a:t> </a:t>
            </a:r>
            <a:r>
              <a:rPr sz="1050" baseline="7936" dirty="0">
                <a:latin typeface="Tahoma"/>
                <a:cs typeface="Tahoma"/>
              </a:rPr>
              <a:t>(stable matching </a:t>
            </a:r>
            <a:r>
              <a:rPr sz="1050" spc="-30" baseline="7936" dirty="0">
                <a:latin typeface="Tahoma"/>
                <a:cs typeface="Tahoma"/>
              </a:rPr>
              <a:t>set)</a:t>
            </a:r>
            <a:endParaRPr sz="1050" baseline="7936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353" y="2515793"/>
            <a:ext cx="2753995" cy="0"/>
          </a:xfrm>
          <a:custGeom>
            <a:avLst/>
            <a:gdLst/>
            <a:ahLst/>
            <a:cxnLst/>
            <a:rect l="l" t="t" r="r" b="b"/>
            <a:pathLst>
              <a:path w="2753995">
                <a:moveTo>
                  <a:pt x="0" y="0"/>
                </a:moveTo>
                <a:lnTo>
                  <a:pt x="27534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356" y="977201"/>
            <a:ext cx="59601" cy="596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884081" y="672357"/>
            <a:ext cx="245618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Key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Concepts: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4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triplets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U</a:t>
            </a:r>
            <a:r>
              <a:rPr sz="1050" i="1" spc="-37" baseline="-11904" dirty="0">
                <a:latin typeface="Arial"/>
                <a:cs typeface="Arial"/>
              </a:rPr>
              <a:t>k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S</a:t>
            </a:r>
            <a:r>
              <a:rPr sz="1050" i="1" spc="-75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2356" y="1166990"/>
            <a:ext cx="59601" cy="5960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265982" y="1184791"/>
            <a:ext cx="787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37128" y="1089893"/>
            <a:ext cx="2186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4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preferred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match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2356" y="1356779"/>
            <a:ext cx="59601" cy="596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137128" y="1279682"/>
            <a:ext cx="2543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50" spc="-247" baseline="27777" dirty="0">
                <a:latin typeface="Lucida Sans Unicode"/>
                <a:cs typeface="Lucida Sans Unicode"/>
              </a:rPr>
              <a:t>∗</a:t>
            </a:r>
            <a:r>
              <a:rPr sz="1050" spc="-22" baseline="27777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available capacity 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suitable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7128" y="1366128"/>
            <a:ext cx="233045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">
              <a:lnSpc>
                <a:spcPts val="675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38100">
              <a:lnSpc>
                <a:spcPts val="1035"/>
              </a:lnSpc>
            </a:pPr>
            <a:r>
              <a:rPr sz="1000" spc="-25" dirty="0">
                <a:latin typeface="Tahoma"/>
                <a:cs typeface="Tahoma"/>
              </a:rPr>
              <a:t>ES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2356" y="1698396"/>
            <a:ext cx="59601" cy="59601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137128" y="1621299"/>
            <a:ext cx="2238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130" dirty="0">
                <a:latin typeface="Arial"/>
                <a:cs typeface="Arial"/>
              </a:rPr>
              <a:t>Z</a:t>
            </a:r>
            <a:r>
              <a:rPr sz="1500" spc="-195" baseline="13888" dirty="0">
                <a:latin typeface="Tahoma"/>
                <a:cs typeface="Tahoma"/>
              </a:rPr>
              <a:t>ˆ</a:t>
            </a:r>
            <a:r>
              <a:rPr sz="1500" spc="292" baseline="13888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can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accept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delay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356" y="2229802"/>
            <a:ext cx="59601" cy="5960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2356" y="2419591"/>
            <a:ext cx="59601" cy="5960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2356" y="2609380"/>
            <a:ext cx="59601" cy="5960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884081" y="1690893"/>
            <a:ext cx="2111375" cy="1019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>
              <a:lnSpc>
                <a:spcPts val="745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290830">
              <a:lnSpc>
                <a:spcPts val="1105"/>
              </a:lnSpc>
            </a:pPr>
            <a:r>
              <a:rPr sz="1000" spc="-10" dirty="0">
                <a:latin typeface="Tahoma"/>
                <a:cs typeface="Tahoma"/>
              </a:rPr>
              <a:t>constraint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10" dirty="0">
                <a:latin typeface="Arial"/>
                <a:cs typeface="Arial"/>
              </a:rPr>
              <a:t>Properties:</a:t>
            </a:r>
            <a:endParaRPr sz="1000">
              <a:latin typeface="Arial"/>
              <a:cs typeface="Arial"/>
            </a:endParaRPr>
          </a:p>
          <a:p>
            <a:pPr marL="290830" marR="605790">
              <a:lnSpc>
                <a:spcPct val="124500"/>
              </a:lnSpc>
            </a:pPr>
            <a:r>
              <a:rPr sz="1000" spc="-10" dirty="0">
                <a:latin typeface="Tahoma"/>
                <a:cs typeface="Tahoma"/>
              </a:rPr>
              <a:t>Finds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stable</a:t>
            </a:r>
            <a:r>
              <a:rPr sz="1000" spc="-40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994C"/>
                </a:solidFill>
                <a:latin typeface="Tahoma"/>
                <a:cs typeface="Tahoma"/>
              </a:rPr>
              <a:t>matching </a:t>
            </a:r>
            <a:r>
              <a:rPr sz="1000" spc="-25" dirty="0">
                <a:latin typeface="Tahoma"/>
                <a:cs typeface="Tahoma"/>
              </a:rPr>
              <a:t>Satisfies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constraints</a:t>
            </a:r>
            <a:endParaRPr sz="10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20" dirty="0">
                <a:latin typeface="Tahoma"/>
                <a:cs typeface="Tahoma"/>
              </a:rPr>
              <a:t>Maximizes </a:t>
            </a:r>
            <a:r>
              <a:rPr sz="1000" spc="-40" dirty="0">
                <a:latin typeface="Tahoma"/>
                <a:cs typeface="Tahoma"/>
              </a:rPr>
              <a:t>number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served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IoTs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6" name="object 3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653" y="59877"/>
            <a:ext cx="3689985" cy="7334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UAV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Topology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Optimization:</a:t>
            </a:r>
            <a:r>
              <a:rPr sz="14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K-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means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Approach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5" name="object 5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253" y="388029"/>
            <a:ext cx="245808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7" name="object 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8" name="object 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8" name="object 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Process: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47" y="1425450"/>
            <a:ext cx="104301" cy="1043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8404" y="14160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300" y="1374932"/>
            <a:ext cx="16040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K</a:t>
            </a:r>
            <a:r>
              <a:rPr sz="1050" i="1" spc="15" baseline="-11904" dirty="0">
                <a:latin typeface="Arial"/>
                <a:cs typeface="Arial"/>
              </a:rPr>
              <a:t>initial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10" dirty="0">
                <a:latin typeface="Lucida Sans Unicode"/>
                <a:cs typeface="Lucida Sans Unicode"/>
              </a:rPr>
              <a:t>⌈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N</a:t>
            </a:r>
            <a:r>
              <a:rPr sz="1050" i="1" spc="15" baseline="-11904" dirty="0">
                <a:latin typeface="Arial"/>
                <a:cs typeface="Arial"/>
              </a:rPr>
              <a:t>U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21826" y="634773"/>
            <a:ext cx="1954530" cy="1954530"/>
            <a:chOff x="3321826" y="634773"/>
            <a:chExt cx="1954530" cy="1954530"/>
          </a:xfrm>
        </p:grpSpPr>
        <p:sp>
          <p:nvSpPr>
            <p:cNvPr id="11" name="object 11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0" y="1944010"/>
                  </a:moveTo>
                  <a:lnTo>
                    <a:pt x="0" y="0"/>
                  </a:lnTo>
                  <a:lnTo>
                    <a:pt x="1944010" y="0"/>
                  </a:lnTo>
                  <a:lnTo>
                    <a:pt x="1944010" y="1944010"/>
                  </a:lnTo>
                  <a:lnTo>
                    <a:pt x="0" y="1944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1806" y="2115480"/>
              <a:ext cx="306451" cy="2964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37608" y="2273465"/>
              <a:ext cx="123189" cy="205740"/>
            </a:xfrm>
            <a:custGeom>
              <a:avLst/>
              <a:gdLst/>
              <a:ahLst/>
              <a:cxnLst/>
              <a:rect l="l" t="t" r="r" b="b"/>
              <a:pathLst>
                <a:path w="123189" h="205739">
                  <a:moveTo>
                    <a:pt x="122720" y="59639"/>
                  </a:moveTo>
                  <a:lnTo>
                    <a:pt x="118021" y="36423"/>
                  </a:lnTo>
                  <a:lnTo>
                    <a:pt x="105244" y="17462"/>
                  </a:lnTo>
                  <a:lnTo>
                    <a:pt x="86283" y="4686"/>
                  </a:lnTo>
                  <a:lnTo>
                    <a:pt x="63068" y="0"/>
                  </a:lnTo>
                  <a:lnTo>
                    <a:pt x="39852" y="4686"/>
                  </a:lnTo>
                  <a:lnTo>
                    <a:pt x="20891" y="17462"/>
                  </a:lnTo>
                  <a:lnTo>
                    <a:pt x="8115" y="36423"/>
                  </a:lnTo>
                  <a:lnTo>
                    <a:pt x="3429" y="59639"/>
                  </a:lnTo>
                  <a:lnTo>
                    <a:pt x="8115" y="82854"/>
                  </a:lnTo>
                  <a:lnTo>
                    <a:pt x="20523" y="101295"/>
                  </a:lnTo>
                  <a:lnTo>
                    <a:pt x="17462" y="103352"/>
                  </a:lnTo>
                  <a:lnTo>
                    <a:pt x="4686" y="122313"/>
                  </a:lnTo>
                  <a:lnTo>
                    <a:pt x="0" y="145529"/>
                  </a:lnTo>
                  <a:lnTo>
                    <a:pt x="4686" y="168744"/>
                  </a:lnTo>
                  <a:lnTo>
                    <a:pt x="17462" y="187706"/>
                  </a:lnTo>
                  <a:lnTo>
                    <a:pt x="36423" y="200482"/>
                  </a:lnTo>
                  <a:lnTo>
                    <a:pt x="59639" y="205168"/>
                  </a:lnTo>
                  <a:lnTo>
                    <a:pt x="82854" y="200482"/>
                  </a:lnTo>
                  <a:lnTo>
                    <a:pt x="101815" y="187706"/>
                  </a:lnTo>
                  <a:lnTo>
                    <a:pt x="114592" y="168744"/>
                  </a:lnTo>
                  <a:lnTo>
                    <a:pt x="119278" y="145529"/>
                  </a:lnTo>
                  <a:lnTo>
                    <a:pt x="114592" y="122313"/>
                  </a:lnTo>
                  <a:lnTo>
                    <a:pt x="102171" y="103886"/>
                  </a:lnTo>
                  <a:lnTo>
                    <a:pt x="105244" y="101815"/>
                  </a:lnTo>
                  <a:lnTo>
                    <a:pt x="118021" y="82854"/>
                  </a:lnTo>
                  <a:lnTo>
                    <a:pt x="122720" y="596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33428" y="2057479"/>
              <a:ext cx="119286" cy="1192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4245" y="2197455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6"/>
                  </a:lnTo>
                  <a:lnTo>
                    <a:pt x="17468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6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3539" y="2255214"/>
              <a:ext cx="119286" cy="1192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8151" y="969619"/>
              <a:ext cx="334241" cy="2915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39989" y="781282"/>
              <a:ext cx="256335" cy="40057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5790" y="838903"/>
              <a:ext cx="119286" cy="1192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648003" y="1620008"/>
                  </a:moveTo>
                  <a:lnTo>
                    <a:pt x="644490" y="1572129"/>
                  </a:lnTo>
                  <a:lnTo>
                    <a:pt x="634285" y="1526431"/>
                  </a:lnTo>
                  <a:lnTo>
                    <a:pt x="617890" y="1483416"/>
                  </a:lnTo>
                  <a:lnTo>
                    <a:pt x="595805" y="1443585"/>
                  </a:lnTo>
                  <a:lnTo>
                    <a:pt x="568531" y="1407438"/>
                  </a:lnTo>
                  <a:lnTo>
                    <a:pt x="536571" y="1375478"/>
                  </a:lnTo>
                  <a:lnTo>
                    <a:pt x="500424" y="1348205"/>
                  </a:lnTo>
                  <a:lnTo>
                    <a:pt x="460593" y="1326120"/>
                  </a:lnTo>
                  <a:lnTo>
                    <a:pt x="417578" y="1309724"/>
                  </a:lnTo>
                  <a:lnTo>
                    <a:pt x="371880" y="1299519"/>
                  </a:lnTo>
                  <a:lnTo>
                    <a:pt x="324001" y="1296006"/>
                  </a:lnTo>
                  <a:lnTo>
                    <a:pt x="276122" y="1299519"/>
                  </a:lnTo>
                  <a:lnTo>
                    <a:pt x="230424" y="1309724"/>
                  </a:lnTo>
                  <a:lnTo>
                    <a:pt x="187409" y="1326120"/>
                  </a:lnTo>
                  <a:lnTo>
                    <a:pt x="147578" y="1348205"/>
                  </a:lnTo>
                  <a:lnTo>
                    <a:pt x="111431" y="1375478"/>
                  </a:lnTo>
                  <a:lnTo>
                    <a:pt x="79471" y="1407438"/>
                  </a:lnTo>
                  <a:lnTo>
                    <a:pt x="52198" y="1443585"/>
                  </a:lnTo>
                  <a:lnTo>
                    <a:pt x="30113" y="1483416"/>
                  </a:lnTo>
                  <a:lnTo>
                    <a:pt x="13717" y="1526431"/>
                  </a:lnTo>
                  <a:lnTo>
                    <a:pt x="3512" y="1572129"/>
                  </a:lnTo>
                  <a:lnTo>
                    <a:pt x="0" y="1620008"/>
                  </a:lnTo>
                  <a:lnTo>
                    <a:pt x="3512" y="1667887"/>
                  </a:lnTo>
                  <a:lnTo>
                    <a:pt x="13717" y="1713585"/>
                  </a:lnTo>
                  <a:lnTo>
                    <a:pt x="30113" y="1756600"/>
                  </a:lnTo>
                  <a:lnTo>
                    <a:pt x="52198" y="1796431"/>
                  </a:lnTo>
                  <a:lnTo>
                    <a:pt x="79471" y="1832578"/>
                  </a:lnTo>
                  <a:lnTo>
                    <a:pt x="111431" y="1864538"/>
                  </a:lnTo>
                  <a:lnTo>
                    <a:pt x="147578" y="1891812"/>
                  </a:lnTo>
                  <a:lnTo>
                    <a:pt x="187409" y="1913897"/>
                  </a:lnTo>
                  <a:lnTo>
                    <a:pt x="230424" y="1930292"/>
                  </a:lnTo>
                  <a:lnTo>
                    <a:pt x="276122" y="1940497"/>
                  </a:lnTo>
                  <a:lnTo>
                    <a:pt x="324001" y="1944010"/>
                  </a:lnTo>
                  <a:lnTo>
                    <a:pt x="371880" y="1940497"/>
                  </a:lnTo>
                  <a:lnTo>
                    <a:pt x="417578" y="1930292"/>
                  </a:lnTo>
                  <a:lnTo>
                    <a:pt x="460593" y="1913897"/>
                  </a:lnTo>
                  <a:lnTo>
                    <a:pt x="500424" y="1891812"/>
                  </a:lnTo>
                  <a:lnTo>
                    <a:pt x="536571" y="1864538"/>
                  </a:lnTo>
                  <a:lnTo>
                    <a:pt x="568531" y="1832578"/>
                  </a:lnTo>
                  <a:lnTo>
                    <a:pt x="595805" y="1796431"/>
                  </a:lnTo>
                  <a:lnTo>
                    <a:pt x="617890" y="1756600"/>
                  </a:lnTo>
                  <a:lnTo>
                    <a:pt x="634285" y="1713585"/>
                  </a:lnTo>
                  <a:lnTo>
                    <a:pt x="644490" y="1667887"/>
                  </a:lnTo>
                  <a:lnTo>
                    <a:pt x="648003" y="1620008"/>
                  </a:lnTo>
                  <a:close/>
                </a:path>
                <a:path w="1944370" h="1944370">
                  <a:moveTo>
                    <a:pt x="1782009" y="1620008"/>
                  </a:moveTo>
                  <a:lnTo>
                    <a:pt x="1778496" y="1572129"/>
                  </a:lnTo>
                  <a:lnTo>
                    <a:pt x="1768291" y="1526431"/>
                  </a:lnTo>
                  <a:lnTo>
                    <a:pt x="1751896" y="1483416"/>
                  </a:lnTo>
                  <a:lnTo>
                    <a:pt x="1729811" y="1443585"/>
                  </a:lnTo>
                  <a:lnTo>
                    <a:pt x="1702537" y="1407438"/>
                  </a:lnTo>
                  <a:lnTo>
                    <a:pt x="1670577" y="1375478"/>
                  </a:lnTo>
                  <a:lnTo>
                    <a:pt x="1634430" y="1348205"/>
                  </a:lnTo>
                  <a:lnTo>
                    <a:pt x="1594599" y="1326120"/>
                  </a:lnTo>
                  <a:lnTo>
                    <a:pt x="1551584" y="1309724"/>
                  </a:lnTo>
                  <a:lnTo>
                    <a:pt x="1505886" y="1299519"/>
                  </a:lnTo>
                  <a:lnTo>
                    <a:pt x="1458007" y="1296006"/>
                  </a:lnTo>
                  <a:lnTo>
                    <a:pt x="1410128" y="1299519"/>
                  </a:lnTo>
                  <a:lnTo>
                    <a:pt x="1364430" y="1309724"/>
                  </a:lnTo>
                  <a:lnTo>
                    <a:pt x="1321415" y="1326120"/>
                  </a:lnTo>
                  <a:lnTo>
                    <a:pt x="1281584" y="1348205"/>
                  </a:lnTo>
                  <a:lnTo>
                    <a:pt x="1245437" y="1375478"/>
                  </a:lnTo>
                  <a:lnTo>
                    <a:pt x="1213477" y="1407438"/>
                  </a:lnTo>
                  <a:lnTo>
                    <a:pt x="1186204" y="1443585"/>
                  </a:lnTo>
                  <a:lnTo>
                    <a:pt x="1164119" y="1483416"/>
                  </a:lnTo>
                  <a:lnTo>
                    <a:pt x="1147723" y="1526431"/>
                  </a:lnTo>
                  <a:lnTo>
                    <a:pt x="1137518" y="1572129"/>
                  </a:lnTo>
                  <a:lnTo>
                    <a:pt x="1134005" y="1620008"/>
                  </a:lnTo>
                  <a:lnTo>
                    <a:pt x="1137518" y="1667887"/>
                  </a:lnTo>
                  <a:lnTo>
                    <a:pt x="1147723" y="1713585"/>
                  </a:lnTo>
                  <a:lnTo>
                    <a:pt x="1164119" y="1756600"/>
                  </a:lnTo>
                  <a:lnTo>
                    <a:pt x="1186204" y="1796431"/>
                  </a:lnTo>
                  <a:lnTo>
                    <a:pt x="1213477" y="1832578"/>
                  </a:lnTo>
                  <a:lnTo>
                    <a:pt x="1245437" y="1864538"/>
                  </a:lnTo>
                  <a:lnTo>
                    <a:pt x="1281584" y="1891812"/>
                  </a:lnTo>
                  <a:lnTo>
                    <a:pt x="1321415" y="1913897"/>
                  </a:lnTo>
                  <a:lnTo>
                    <a:pt x="1364430" y="1930292"/>
                  </a:lnTo>
                  <a:lnTo>
                    <a:pt x="1410128" y="1940497"/>
                  </a:lnTo>
                  <a:lnTo>
                    <a:pt x="1458007" y="1944010"/>
                  </a:lnTo>
                  <a:lnTo>
                    <a:pt x="1505886" y="1940497"/>
                  </a:lnTo>
                  <a:lnTo>
                    <a:pt x="1551584" y="1930292"/>
                  </a:lnTo>
                  <a:lnTo>
                    <a:pt x="1594599" y="1913897"/>
                  </a:lnTo>
                  <a:lnTo>
                    <a:pt x="1634430" y="1891812"/>
                  </a:lnTo>
                  <a:lnTo>
                    <a:pt x="1670577" y="1864538"/>
                  </a:lnTo>
                  <a:lnTo>
                    <a:pt x="1702537" y="1832578"/>
                  </a:lnTo>
                  <a:lnTo>
                    <a:pt x="1729811" y="1796431"/>
                  </a:lnTo>
                  <a:lnTo>
                    <a:pt x="1751896" y="1756600"/>
                  </a:lnTo>
                  <a:lnTo>
                    <a:pt x="1768291" y="1713585"/>
                  </a:lnTo>
                  <a:lnTo>
                    <a:pt x="1778496" y="1667887"/>
                  </a:lnTo>
                  <a:lnTo>
                    <a:pt x="1782009" y="1620008"/>
                  </a:lnTo>
                  <a:close/>
                </a:path>
                <a:path w="1944370" h="1944370">
                  <a:moveTo>
                    <a:pt x="810004" y="486002"/>
                  </a:moveTo>
                  <a:lnTo>
                    <a:pt x="806491" y="438123"/>
                  </a:lnTo>
                  <a:lnTo>
                    <a:pt x="796286" y="392425"/>
                  </a:lnTo>
                  <a:lnTo>
                    <a:pt x="779891" y="349410"/>
                  </a:lnTo>
                  <a:lnTo>
                    <a:pt x="757806" y="309579"/>
                  </a:lnTo>
                  <a:lnTo>
                    <a:pt x="730532" y="273432"/>
                  </a:lnTo>
                  <a:lnTo>
                    <a:pt x="698572" y="241472"/>
                  </a:lnTo>
                  <a:lnTo>
                    <a:pt x="662425" y="214199"/>
                  </a:lnTo>
                  <a:lnTo>
                    <a:pt x="622594" y="192114"/>
                  </a:lnTo>
                  <a:lnTo>
                    <a:pt x="579579" y="175718"/>
                  </a:lnTo>
                  <a:lnTo>
                    <a:pt x="533881" y="165513"/>
                  </a:lnTo>
                  <a:lnTo>
                    <a:pt x="486002" y="162000"/>
                  </a:lnTo>
                  <a:lnTo>
                    <a:pt x="438123" y="165513"/>
                  </a:lnTo>
                  <a:lnTo>
                    <a:pt x="392425" y="175718"/>
                  </a:lnTo>
                  <a:lnTo>
                    <a:pt x="349410" y="192114"/>
                  </a:lnTo>
                  <a:lnTo>
                    <a:pt x="309579" y="214199"/>
                  </a:lnTo>
                  <a:lnTo>
                    <a:pt x="273432" y="241472"/>
                  </a:lnTo>
                  <a:lnTo>
                    <a:pt x="241472" y="273432"/>
                  </a:lnTo>
                  <a:lnTo>
                    <a:pt x="214199" y="309579"/>
                  </a:lnTo>
                  <a:lnTo>
                    <a:pt x="192114" y="349410"/>
                  </a:lnTo>
                  <a:lnTo>
                    <a:pt x="175718" y="392425"/>
                  </a:lnTo>
                  <a:lnTo>
                    <a:pt x="165513" y="438123"/>
                  </a:lnTo>
                  <a:lnTo>
                    <a:pt x="162000" y="486002"/>
                  </a:lnTo>
                  <a:lnTo>
                    <a:pt x="165513" y="533881"/>
                  </a:lnTo>
                  <a:lnTo>
                    <a:pt x="175718" y="579579"/>
                  </a:lnTo>
                  <a:lnTo>
                    <a:pt x="192114" y="622594"/>
                  </a:lnTo>
                  <a:lnTo>
                    <a:pt x="214199" y="662425"/>
                  </a:lnTo>
                  <a:lnTo>
                    <a:pt x="241472" y="698572"/>
                  </a:lnTo>
                  <a:lnTo>
                    <a:pt x="273432" y="730532"/>
                  </a:lnTo>
                  <a:lnTo>
                    <a:pt x="309579" y="757806"/>
                  </a:lnTo>
                  <a:lnTo>
                    <a:pt x="349410" y="779891"/>
                  </a:lnTo>
                  <a:lnTo>
                    <a:pt x="392425" y="796286"/>
                  </a:lnTo>
                  <a:lnTo>
                    <a:pt x="438123" y="806491"/>
                  </a:lnTo>
                  <a:lnTo>
                    <a:pt x="486002" y="810004"/>
                  </a:lnTo>
                  <a:lnTo>
                    <a:pt x="533881" y="806491"/>
                  </a:lnTo>
                  <a:lnTo>
                    <a:pt x="579579" y="796286"/>
                  </a:lnTo>
                  <a:lnTo>
                    <a:pt x="622594" y="779891"/>
                  </a:lnTo>
                  <a:lnTo>
                    <a:pt x="662425" y="757806"/>
                  </a:lnTo>
                  <a:lnTo>
                    <a:pt x="698572" y="730532"/>
                  </a:lnTo>
                  <a:lnTo>
                    <a:pt x="730532" y="698572"/>
                  </a:lnTo>
                  <a:lnTo>
                    <a:pt x="757806" y="662425"/>
                  </a:lnTo>
                  <a:lnTo>
                    <a:pt x="779891" y="622594"/>
                  </a:lnTo>
                  <a:lnTo>
                    <a:pt x="796286" y="579579"/>
                  </a:lnTo>
                  <a:lnTo>
                    <a:pt x="806491" y="533881"/>
                  </a:lnTo>
                  <a:lnTo>
                    <a:pt x="810004" y="486002"/>
                  </a:lnTo>
                  <a:close/>
                </a:path>
                <a:path w="1944370" h="1944370">
                  <a:moveTo>
                    <a:pt x="1944010" y="324001"/>
                  </a:moveTo>
                  <a:lnTo>
                    <a:pt x="1940497" y="276122"/>
                  </a:lnTo>
                  <a:lnTo>
                    <a:pt x="1930292" y="230424"/>
                  </a:lnTo>
                  <a:lnTo>
                    <a:pt x="1913897" y="187409"/>
                  </a:lnTo>
                  <a:lnTo>
                    <a:pt x="1891812" y="147578"/>
                  </a:lnTo>
                  <a:lnTo>
                    <a:pt x="1864538" y="111431"/>
                  </a:lnTo>
                  <a:lnTo>
                    <a:pt x="1832578" y="79471"/>
                  </a:lnTo>
                  <a:lnTo>
                    <a:pt x="1796431" y="52198"/>
                  </a:lnTo>
                  <a:lnTo>
                    <a:pt x="1756600" y="30113"/>
                  </a:lnTo>
                  <a:lnTo>
                    <a:pt x="1713585" y="13717"/>
                  </a:lnTo>
                  <a:lnTo>
                    <a:pt x="1667887" y="3512"/>
                  </a:lnTo>
                  <a:lnTo>
                    <a:pt x="1620008" y="0"/>
                  </a:lnTo>
                  <a:lnTo>
                    <a:pt x="1572129" y="3512"/>
                  </a:lnTo>
                  <a:lnTo>
                    <a:pt x="1526431" y="13717"/>
                  </a:lnTo>
                  <a:lnTo>
                    <a:pt x="1483416" y="30113"/>
                  </a:lnTo>
                  <a:lnTo>
                    <a:pt x="1443585" y="52198"/>
                  </a:lnTo>
                  <a:lnTo>
                    <a:pt x="1407438" y="79471"/>
                  </a:lnTo>
                  <a:lnTo>
                    <a:pt x="1375478" y="111431"/>
                  </a:lnTo>
                  <a:lnTo>
                    <a:pt x="1348205" y="147578"/>
                  </a:lnTo>
                  <a:lnTo>
                    <a:pt x="1326120" y="187409"/>
                  </a:lnTo>
                  <a:lnTo>
                    <a:pt x="1309724" y="230424"/>
                  </a:lnTo>
                  <a:lnTo>
                    <a:pt x="1299519" y="276122"/>
                  </a:lnTo>
                  <a:lnTo>
                    <a:pt x="1296006" y="324001"/>
                  </a:lnTo>
                  <a:lnTo>
                    <a:pt x="1299519" y="371880"/>
                  </a:lnTo>
                  <a:lnTo>
                    <a:pt x="1309724" y="417578"/>
                  </a:lnTo>
                  <a:lnTo>
                    <a:pt x="1326120" y="460593"/>
                  </a:lnTo>
                  <a:lnTo>
                    <a:pt x="1348205" y="500424"/>
                  </a:lnTo>
                  <a:lnTo>
                    <a:pt x="1375478" y="536571"/>
                  </a:lnTo>
                  <a:lnTo>
                    <a:pt x="1407438" y="568531"/>
                  </a:lnTo>
                  <a:lnTo>
                    <a:pt x="1443585" y="595805"/>
                  </a:lnTo>
                  <a:lnTo>
                    <a:pt x="1483416" y="617890"/>
                  </a:lnTo>
                  <a:lnTo>
                    <a:pt x="1526431" y="634285"/>
                  </a:lnTo>
                  <a:lnTo>
                    <a:pt x="1572129" y="644490"/>
                  </a:lnTo>
                  <a:lnTo>
                    <a:pt x="1620008" y="648003"/>
                  </a:lnTo>
                  <a:lnTo>
                    <a:pt x="1667887" y="644490"/>
                  </a:lnTo>
                  <a:lnTo>
                    <a:pt x="1713585" y="634285"/>
                  </a:lnTo>
                  <a:lnTo>
                    <a:pt x="1756600" y="617890"/>
                  </a:lnTo>
                  <a:lnTo>
                    <a:pt x="1796431" y="595805"/>
                  </a:lnTo>
                  <a:lnTo>
                    <a:pt x="1832578" y="568531"/>
                  </a:lnTo>
                  <a:lnTo>
                    <a:pt x="1864538" y="536571"/>
                  </a:lnTo>
                  <a:lnTo>
                    <a:pt x="1891812" y="500424"/>
                  </a:lnTo>
                  <a:lnTo>
                    <a:pt x="1913897" y="460593"/>
                  </a:lnTo>
                  <a:lnTo>
                    <a:pt x="1930292" y="417578"/>
                  </a:lnTo>
                  <a:lnTo>
                    <a:pt x="1940497" y="371880"/>
                  </a:lnTo>
                  <a:lnTo>
                    <a:pt x="1944010" y="324001"/>
                  </a:lnTo>
                  <a:close/>
                </a:path>
              </a:pathLst>
            </a:custGeom>
            <a:ln w="10122">
              <a:solidFill>
                <a:srgbClr val="3399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1265" y="2200218"/>
              <a:ext cx="119286" cy="11928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326906" y="639853"/>
            <a:ext cx="1944370" cy="194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53266" y="904211"/>
            <a:ext cx="1253490" cy="1415415"/>
            <a:chOff x="3753266" y="904211"/>
            <a:chExt cx="1253490" cy="1415415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5271" y="2200218"/>
              <a:ext cx="119286" cy="11928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3266" y="1066212"/>
              <a:ext cx="119286" cy="11928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87272" y="904211"/>
              <a:ext cx="119286" cy="119286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8" name="object 2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37432" y="2705589"/>
            <a:ext cx="1323340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0"/>
              </a:lnSpc>
            </a:pP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Clustering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Process: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47" y="1425450"/>
            <a:ext cx="104301" cy="1043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8404" y="14160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300" y="1336973"/>
            <a:ext cx="200088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K</a:t>
            </a:r>
            <a:r>
              <a:rPr sz="1050" i="1" spc="15" baseline="-11904" dirty="0">
                <a:latin typeface="Arial"/>
                <a:cs typeface="Arial"/>
              </a:rPr>
              <a:t>initial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10" dirty="0">
                <a:latin typeface="Lucida Sans Unicode"/>
                <a:cs typeface="Lucida Sans Unicode"/>
              </a:rPr>
              <a:t>⌈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N</a:t>
            </a:r>
            <a:r>
              <a:rPr sz="1050" i="1" spc="15" baseline="-11904" dirty="0">
                <a:latin typeface="Arial"/>
                <a:cs typeface="Arial"/>
              </a:rPr>
              <a:t>U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endParaRPr sz="10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Tahoma"/>
                <a:cs typeface="Tahoma"/>
              </a:rPr>
              <a:t>Cluster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</a:t>
            </a:r>
            <a:r>
              <a:rPr sz="1000" spc="-10" dirty="0">
                <a:latin typeface="Tahoma"/>
                <a:cs typeface="Tahoma"/>
              </a:rPr>
              <a:t>means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47" y="1615239"/>
            <a:ext cx="104301" cy="1043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8404" y="160586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21826" y="634773"/>
            <a:ext cx="1954530" cy="1954530"/>
            <a:chOff x="3321826" y="634773"/>
            <a:chExt cx="1954530" cy="1954530"/>
          </a:xfrm>
        </p:grpSpPr>
        <p:sp>
          <p:nvSpPr>
            <p:cNvPr id="13" name="object 13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0" y="1944010"/>
                  </a:moveTo>
                  <a:lnTo>
                    <a:pt x="0" y="0"/>
                  </a:lnTo>
                  <a:lnTo>
                    <a:pt x="1944010" y="0"/>
                  </a:lnTo>
                  <a:lnTo>
                    <a:pt x="1944010" y="1944010"/>
                  </a:lnTo>
                  <a:lnTo>
                    <a:pt x="0" y="1944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33931" y="2056223"/>
              <a:ext cx="438458" cy="39201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6174" y="2078109"/>
              <a:ext cx="119286" cy="1192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584306" y="2104885"/>
              <a:ext cx="404495" cy="309245"/>
            </a:xfrm>
            <a:custGeom>
              <a:avLst/>
              <a:gdLst/>
              <a:ahLst/>
              <a:cxnLst/>
              <a:rect l="l" t="t" r="r" b="b"/>
              <a:pathLst>
                <a:path w="404495" h="309244">
                  <a:moveTo>
                    <a:pt x="191033" y="209575"/>
                  </a:moveTo>
                  <a:lnTo>
                    <a:pt x="186347" y="186359"/>
                  </a:lnTo>
                  <a:lnTo>
                    <a:pt x="173570" y="167398"/>
                  </a:lnTo>
                  <a:lnTo>
                    <a:pt x="154609" y="154622"/>
                  </a:lnTo>
                  <a:lnTo>
                    <a:pt x="131394" y="149936"/>
                  </a:lnTo>
                  <a:lnTo>
                    <a:pt x="108178" y="154622"/>
                  </a:lnTo>
                  <a:lnTo>
                    <a:pt x="89217" y="167398"/>
                  </a:lnTo>
                  <a:lnTo>
                    <a:pt x="76441" y="186359"/>
                  </a:lnTo>
                  <a:lnTo>
                    <a:pt x="75107" y="192951"/>
                  </a:lnTo>
                  <a:lnTo>
                    <a:pt x="59651" y="189826"/>
                  </a:lnTo>
                  <a:lnTo>
                    <a:pt x="36436" y="194513"/>
                  </a:lnTo>
                  <a:lnTo>
                    <a:pt x="17475" y="207289"/>
                  </a:lnTo>
                  <a:lnTo>
                    <a:pt x="4686" y="226250"/>
                  </a:lnTo>
                  <a:lnTo>
                    <a:pt x="0" y="249466"/>
                  </a:lnTo>
                  <a:lnTo>
                    <a:pt x="4686" y="272681"/>
                  </a:lnTo>
                  <a:lnTo>
                    <a:pt x="17475" y="291642"/>
                  </a:lnTo>
                  <a:lnTo>
                    <a:pt x="36436" y="304419"/>
                  </a:lnTo>
                  <a:lnTo>
                    <a:pt x="59651" y="309105"/>
                  </a:lnTo>
                  <a:lnTo>
                    <a:pt x="82867" y="304419"/>
                  </a:lnTo>
                  <a:lnTo>
                    <a:pt x="101815" y="291642"/>
                  </a:lnTo>
                  <a:lnTo>
                    <a:pt x="114604" y="272681"/>
                  </a:lnTo>
                  <a:lnTo>
                    <a:pt x="115925" y="266103"/>
                  </a:lnTo>
                  <a:lnTo>
                    <a:pt x="131394" y="269214"/>
                  </a:lnTo>
                  <a:lnTo>
                    <a:pt x="154609" y="264528"/>
                  </a:lnTo>
                  <a:lnTo>
                    <a:pt x="173570" y="251752"/>
                  </a:lnTo>
                  <a:lnTo>
                    <a:pt x="186347" y="232791"/>
                  </a:lnTo>
                  <a:lnTo>
                    <a:pt x="191033" y="209575"/>
                  </a:lnTo>
                  <a:close/>
                </a:path>
                <a:path w="404495" h="309244">
                  <a:moveTo>
                    <a:pt x="404380" y="59639"/>
                  </a:moveTo>
                  <a:lnTo>
                    <a:pt x="399694" y="36423"/>
                  </a:lnTo>
                  <a:lnTo>
                    <a:pt x="386918" y="17475"/>
                  </a:lnTo>
                  <a:lnTo>
                    <a:pt x="367957" y="4686"/>
                  </a:lnTo>
                  <a:lnTo>
                    <a:pt x="344741" y="0"/>
                  </a:lnTo>
                  <a:lnTo>
                    <a:pt x="321525" y="4686"/>
                  </a:lnTo>
                  <a:lnTo>
                    <a:pt x="302564" y="17475"/>
                  </a:lnTo>
                  <a:lnTo>
                    <a:pt x="289788" y="36423"/>
                  </a:lnTo>
                  <a:lnTo>
                    <a:pt x="285102" y="59639"/>
                  </a:lnTo>
                  <a:lnTo>
                    <a:pt x="289788" y="82867"/>
                  </a:lnTo>
                  <a:lnTo>
                    <a:pt x="296265" y="92494"/>
                  </a:lnTo>
                  <a:lnTo>
                    <a:pt x="282524" y="101752"/>
                  </a:lnTo>
                  <a:lnTo>
                    <a:pt x="269735" y="120713"/>
                  </a:lnTo>
                  <a:lnTo>
                    <a:pt x="265049" y="143929"/>
                  </a:lnTo>
                  <a:lnTo>
                    <a:pt x="269735" y="167144"/>
                  </a:lnTo>
                  <a:lnTo>
                    <a:pt x="282524" y="186105"/>
                  </a:lnTo>
                  <a:lnTo>
                    <a:pt x="301472" y="198882"/>
                  </a:lnTo>
                  <a:lnTo>
                    <a:pt x="324688" y="203568"/>
                  </a:lnTo>
                  <a:lnTo>
                    <a:pt x="347903" y="198882"/>
                  </a:lnTo>
                  <a:lnTo>
                    <a:pt x="366864" y="186105"/>
                  </a:lnTo>
                  <a:lnTo>
                    <a:pt x="379653" y="167144"/>
                  </a:lnTo>
                  <a:lnTo>
                    <a:pt x="384340" y="143929"/>
                  </a:lnTo>
                  <a:lnTo>
                    <a:pt x="379653" y="120713"/>
                  </a:lnTo>
                  <a:lnTo>
                    <a:pt x="373164" y="111099"/>
                  </a:lnTo>
                  <a:lnTo>
                    <a:pt x="386918" y="101815"/>
                  </a:lnTo>
                  <a:lnTo>
                    <a:pt x="399694" y="82867"/>
                  </a:lnTo>
                  <a:lnTo>
                    <a:pt x="404380" y="596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19242" y="1045285"/>
              <a:ext cx="373935" cy="2349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3935" y="792450"/>
              <a:ext cx="319829" cy="3797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648003" y="1620008"/>
                  </a:moveTo>
                  <a:lnTo>
                    <a:pt x="644490" y="1572129"/>
                  </a:lnTo>
                  <a:lnTo>
                    <a:pt x="634285" y="1526431"/>
                  </a:lnTo>
                  <a:lnTo>
                    <a:pt x="617890" y="1483416"/>
                  </a:lnTo>
                  <a:lnTo>
                    <a:pt x="595805" y="1443585"/>
                  </a:lnTo>
                  <a:lnTo>
                    <a:pt x="568531" y="1407438"/>
                  </a:lnTo>
                  <a:lnTo>
                    <a:pt x="536571" y="1375478"/>
                  </a:lnTo>
                  <a:lnTo>
                    <a:pt x="500424" y="1348205"/>
                  </a:lnTo>
                  <a:lnTo>
                    <a:pt x="460593" y="1326120"/>
                  </a:lnTo>
                  <a:lnTo>
                    <a:pt x="417578" y="1309724"/>
                  </a:lnTo>
                  <a:lnTo>
                    <a:pt x="371880" y="1299519"/>
                  </a:lnTo>
                  <a:lnTo>
                    <a:pt x="324001" y="1296006"/>
                  </a:lnTo>
                  <a:lnTo>
                    <a:pt x="276122" y="1299519"/>
                  </a:lnTo>
                  <a:lnTo>
                    <a:pt x="230424" y="1309724"/>
                  </a:lnTo>
                  <a:lnTo>
                    <a:pt x="187409" y="1326120"/>
                  </a:lnTo>
                  <a:lnTo>
                    <a:pt x="147578" y="1348205"/>
                  </a:lnTo>
                  <a:lnTo>
                    <a:pt x="111431" y="1375478"/>
                  </a:lnTo>
                  <a:lnTo>
                    <a:pt x="79471" y="1407438"/>
                  </a:lnTo>
                  <a:lnTo>
                    <a:pt x="52198" y="1443585"/>
                  </a:lnTo>
                  <a:lnTo>
                    <a:pt x="30113" y="1483416"/>
                  </a:lnTo>
                  <a:lnTo>
                    <a:pt x="13717" y="1526431"/>
                  </a:lnTo>
                  <a:lnTo>
                    <a:pt x="3512" y="1572129"/>
                  </a:lnTo>
                  <a:lnTo>
                    <a:pt x="0" y="1620008"/>
                  </a:lnTo>
                  <a:lnTo>
                    <a:pt x="3512" y="1667887"/>
                  </a:lnTo>
                  <a:lnTo>
                    <a:pt x="13717" y="1713585"/>
                  </a:lnTo>
                  <a:lnTo>
                    <a:pt x="30113" y="1756600"/>
                  </a:lnTo>
                  <a:lnTo>
                    <a:pt x="52198" y="1796431"/>
                  </a:lnTo>
                  <a:lnTo>
                    <a:pt x="79471" y="1832578"/>
                  </a:lnTo>
                  <a:lnTo>
                    <a:pt x="111431" y="1864538"/>
                  </a:lnTo>
                  <a:lnTo>
                    <a:pt x="147578" y="1891812"/>
                  </a:lnTo>
                  <a:lnTo>
                    <a:pt x="187409" y="1913897"/>
                  </a:lnTo>
                  <a:lnTo>
                    <a:pt x="230424" y="1930292"/>
                  </a:lnTo>
                  <a:lnTo>
                    <a:pt x="276122" y="1940497"/>
                  </a:lnTo>
                  <a:lnTo>
                    <a:pt x="324001" y="1944010"/>
                  </a:lnTo>
                  <a:lnTo>
                    <a:pt x="371880" y="1940497"/>
                  </a:lnTo>
                  <a:lnTo>
                    <a:pt x="417578" y="1930292"/>
                  </a:lnTo>
                  <a:lnTo>
                    <a:pt x="460593" y="1913897"/>
                  </a:lnTo>
                  <a:lnTo>
                    <a:pt x="500424" y="1891812"/>
                  </a:lnTo>
                  <a:lnTo>
                    <a:pt x="536571" y="1864538"/>
                  </a:lnTo>
                  <a:lnTo>
                    <a:pt x="568531" y="1832578"/>
                  </a:lnTo>
                  <a:lnTo>
                    <a:pt x="595805" y="1796431"/>
                  </a:lnTo>
                  <a:lnTo>
                    <a:pt x="617890" y="1756600"/>
                  </a:lnTo>
                  <a:lnTo>
                    <a:pt x="634285" y="1713585"/>
                  </a:lnTo>
                  <a:lnTo>
                    <a:pt x="644490" y="1667887"/>
                  </a:lnTo>
                  <a:lnTo>
                    <a:pt x="648003" y="1620008"/>
                  </a:lnTo>
                  <a:close/>
                </a:path>
                <a:path w="1944370" h="1944370">
                  <a:moveTo>
                    <a:pt x="1782009" y="1620008"/>
                  </a:moveTo>
                  <a:lnTo>
                    <a:pt x="1778496" y="1572129"/>
                  </a:lnTo>
                  <a:lnTo>
                    <a:pt x="1768291" y="1526431"/>
                  </a:lnTo>
                  <a:lnTo>
                    <a:pt x="1751896" y="1483416"/>
                  </a:lnTo>
                  <a:lnTo>
                    <a:pt x="1729811" y="1443585"/>
                  </a:lnTo>
                  <a:lnTo>
                    <a:pt x="1702537" y="1407438"/>
                  </a:lnTo>
                  <a:lnTo>
                    <a:pt x="1670577" y="1375478"/>
                  </a:lnTo>
                  <a:lnTo>
                    <a:pt x="1634430" y="1348205"/>
                  </a:lnTo>
                  <a:lnTo>
                    <a:pt x="1594599" y="1326120"/>
                  </a:lnTo>
                  <a:lnTo>
                    <a:pt x="1551584" y="1309724"/>
                  </a:lnTo>
                  <a:lnTo>
                    <a:pt x="1505886" y="1299519"/>
                  </a:lnTo>
                  <a:lnTo>
                    <a:pt x="1458007" y="1296006"/>
                  </a:lnTo>
                  <a:lnTo>
                    <a:pt x="1410128" y="1299519"/>
                  </a:lnTo>
                  <a:lnTo>
                    <a:pt x="1364430" y="1309724"/>
                  </a:lnTo>
                  <a:lnTo>
                    <a:pt x="1321415" y="1326120"/>
                  </a:lnTo>
                  <a:lnTo>
                    <a:pt x="1281584" y="1348205"/>
                  </a:lnTo>
                  <a:lnTo>
                    <a:pt x="1245437" y="1375478"/>
                  </a:lnTo>
                  <a:lnTo>
                    <a:pt x="1213477" y="1407438"/>
                  </a:lnTo>
                  <a:lnTo>
                    <a:pt x="1186204" y="1443585"/>
                  </a:lnTo>
                  <a:lnTo>
                    <a:pt x="1164119" y="1483416"/>
                  </a:lnTo>
                  <a:lnTo>
                    <a:pt x="1147723" y="1526431"/>
                  </a:lnTo>
                  <a:lnTo>
                    <a:pt x="1137518" y="1572129"/>
                  </a:lnTo>
                  <a:lnTo>
                    <a:pt x="1134005" y="1620008"/>
                  </a:lnTo>
                  <a:lnTo>
                    <a:pt x="1137518" y="1667887"/>
                  </a:lnTo>
                  <a:lnTo>
                    <a:pt x="1147723" y="1713585"/>
                  </a:lnTo>
                  <a:lnTo>
                    <a:pt x="1164119" y="1756600"/>
                  </a:lnTo>
                  <a:lnTo>
                    <a:pt x="1186204" y="1796431"/>
                  </a:lnTo>
                  <a:lnTo>
                    <a:pt x="1213477" y="1832578"/>
                  </a:lnTo>
                  <a:lnTo>
                    <a:pt x="1245437" y="1864538"/>
                  </a:lnTo>
                  <a:lnTo>
                    <a:pt x="1281584" y="1891812"/>
                  </a:lnTo>
                  <a:lnTo>
                    <a:pt x="1321415" y="1913897"/>
                  </a:lnTo>
                  <a:lnTo>
                    <a:pt x="1364430" y="1930292"/>
                  </a:lnTo>
                  <a:lnTo>
                    <a:pt x="1410128" y="1940497"/>
                  </a:lnTo>
                  <a:lnTo>
                    <a:pt x="1458007" y="1944010"/>
                  </a:lnTo>
                  <a:lnTo>
                    <a:pt x="1505886" y="1940497"/>
                  </a:lnTo>
                  <a:lnTo>
                    <a:pt x="1551584" y="1930292"/>
                  </a:lnTo>
                  <a:lnTo>
                    <a:pt x="1594599" y="1913897"/>
                  </a:lnTo>
                  <a:lnTo>
                    <a:pt x="1634430" y="1891812"/>
                  </a:lnTo>
                  <a:lnTo>
                    <a:pt x="1670577" y="1864538"/>
                  </a:lnTo>
                  <a:lnTo>
                    <a:pt x="1702537" y="1832578"/>
                  </a:lnTo>
                  <a:lnTo>
                    <a:pt x="1729811" y="1796431"/>
                  </a:lnTo>
                  <a:lnTo>
                    <a:pt x="1751896" y="1756600"/>
                  </a:lnTo>
                  <a:lnTo>
                    <a:pt x="1768291" y="1713585"/>
                  </a:lnTo>
                  <a:lnTo>
                    <a:pt x="1778496" y="1667887"/>
                  </a:lnTo>
                  <a:lnTo>
                    <a:pt x="1782009" y="1620008"/>
                  </a:lnTo>
                  <a:close/>
                </a:path>
                <a:path w="1944370" h="1944370">
                  <a:moveTo>
                    <a:pt x="810004" y="486002"/>
                  </a:moveTo>
                  <a:lnTo>
                    <a:pt x="806491" y="438123"/>
                  </a:lnTo>
                  <a:lnTo>
                    <a:pt x="796286" y="392425"/>
                  </a:lnTo>
                  <a:lnTo>
                    <a:pt x="779891" y="349410"/>
                  </a:lnTo>
                  <a:lnTo>
                    <a:pt x="757806" y="309579"/>
                  </a:lnTo>
                  <a:lnTo>
                    <a:pt x="730532" y="273432"/>
                  </a:lnTo>
                  <a:lnTo>
                    <a:pt x="698572" y="241472"/>
                  </a:lnTo>
                  <a:lnTo>
                    <a:pt x="662425" y="214199"/>
                  </a:lnTo>
                  <a:lnTo>
                    <a:pt x="622594" y="192114"/>
                  </a:lnTo>
                  <a:lnTo>
                    <a:pt x="579579" y="175718"/>
                  </a:lnTo>
                  <a:lnTo>
                    <a:pt x="533881" y="165513"/>
                  </a:lnTo>
                  <a:lnTo>
                    <a:pt x="486002" y="162000"/>
                  </a:lnTo>
                  <a:lnTo>
                    <a:pt x="438123" y="165513"/>
                  </a:lnTo>
                  <a:lnTo>
                    <a:pt x="392425" y="175718"/>
                  </a:lnTo>
                  <a:lnTo>
                    <a:pt x="349410" y="192114"/>
                  </a:lnTo>
                  <a:lnTo>
                    <a:pt x="309579" y="214199"/>
                  </a:lnTo>
                  <a:lnTo>
                    <a:pt x="273432" y="241472"/>
                  </a:lnTo>
                  <a:lnTo>
                    <a:pt x="241472" y="273432"/>
                  </a:lnTo>
                  <a:lnTo>
                    <a:pt x="214199" y="309579"/>
                  </a:lnTo>
                  <a:lnTo>
                    <a:pt x="192114" y="349410"/>
                  </a:lnTo>
                  <a:lnTo>
                    <a:pt x="175718" y="392425"/>
                  </a:lnTo>
                  <a:lnTo>
                    <a:pt x="165513" y="438123"/>
                  </a:lnTo>
                  <a:lnTo>
                    <a:pt x="162000" y="486002"/>
                  </a:lnTo>
                  <a:lnTo>
                    <a:pt x="165513" y="533881"/>
                  </a:lnTo>
                  <a:lnTo>
                    <a:pt x="175718" y="579579"/>
                  </a:lnTo>
                  <a:lnTo>
                    <a:pt x="192114" y="622594"/>
                  </a:lnTo>
                  <a:lnTo>
                    <a:pt x="214199" y="662425"/>
                  </a:lnTo>
                  <a:lnTo>
                    <a:pt x="241472" y="698572"/>
                  </a:lnTo>
                  <a:lnTo>
                    <a:pt x="273432" y="730532"/>
                  </a:lnTo>
                  <a:lnTo>
                    <a:pt x="309579" y="757806"/>
                  </a:lnTo>
                  <a:lnTo>
                    <a:pt x="349410" y="779891"/>
                  </a:lnTo>
                  <a:lnTo>
                    <a:pt x="392425" y="796286"/>
                  </a:lnTo>
                  <a:lnTo>
                    <a:pt x="438123" y="806491"/>
                  </a:lnTo>
                  <a:lnTo>
                    <a:pt x="486002" y="810004"/>
                  </a:lnTo>
                  <a:lnTo>
                    <a:pt x="533881" y="806491"/>
                  </a:lnTo>
                  <a:lnTo>
                    <a:pt x="579579" y="796286"/>
                  </a:lnTo>
                  <a:lnTo>
                    <a:pt x="622594" y="779891"/>
                  </a:lnTo>
                  <a:lnTo>
                    <a:pt x="662425" y="757806"/>
                  </a:lnTo>
                  <a:lnTo>
                    <a:pt x="698572" y="730532"/>
                  </a:lnTo>
                  <a:lnTo>
                    <a:pt x="730532" y="698572"/>
                  </a:lnTo>
                  <a:lnTo>
                    <a:pt x="757806" y="662425"/>
                  </a:lnTo>
                  <a:lnTo>
                    <a:pt x="779891" y="622594"/>
                  </a:lnTo>
                  <a:lnTo>
                    <a:pt x="796286" y="579579"/>
                  </a:lnTo>
                  <a:lnTo>
                    <a:pt x="806491" y="533881"/>
                  </a:lnTo>
                  <a:lnTo>
                    <a:pt x="810004" y="486002"/>
                  </a:lnTo>
                  <a:close/>
                </a:path>
                <a:path w="1944370" h="1944370">
                  <a:moveTo>
                    <a:pt x="1944010" y="324001"/>
                  </a:moveTo>
                  <a:lnTo>
                    <a:pt x="1940497" y="276122"/>
                  </a:lnTo>
                  <a:lnTo>
                    <a:pt x="1930292" y="230424"/>
                  </a:lnTo>
                  <a:lnTo>
                    <a:pt x="1913897" y="187409"/>
                  </a:lnTo>
                  <a:lnTo>
                    <a:pt x="1891812" y="147578"/>
                  </a:lnTo>
                  <a:lnTo>
                    <a:pt x="1864538" y="111431"/>
                  </a:lnTo>
                  <a:lnTo>
                    <a:pt x="1832578" y="79471"/>
                  </a:lnTo>
                  <a:lnTo>
                    <a:pt x="1796431" y="52198"/>
                  </a:lnTo>
                  <a:lnTo>
                    <a:pt x="1756600" y="30113"/>
                  </a:lnTo>
                  <a:lnTo>
                    <a:pt x="1713585" y="13717"/>
                  </a:lnTo>
                  <a:lnTo>
                    <a:pt x="1667887" y="3512"/>
                  </a:lnTo>
                  <a:lnTo>
                    <a:pt x="1620008" y="0"/>
                  </a:lnTo>
                  <a:lnTo>
                    <a:pt x="1572129" y="3512"/>
                  </a:lnTo>
                  <a:lnTo>
                    <a:pt x="1526431" y="13717"/>
                  </a:lnTo>
                  <a:lnTo>
                    <a:pt x="1483416" y="30113"/>
                  </a:lnTo>
                  <a:lnTo>
                    <a:pt x="1443585" y="52198"/>
                  </a:lnTo>
                  <a:lnTo>
                    <a:pt x="1407438" y="79471"/>
                  </a:lnTo>
                  <a:lnTo>
                    <a:pt x="1375478" y="111431"/>
                  </a:lnTo>
                  <a:lnTo>
                    <a:pt x="1348205" y="147578"/>
                  </a:lnTo>
                  <a:lnTo>
                    <a:pt x="1326120" y="187409"/>
                  </a:lnTo>
                  <a:lnTo>
                    <a:pt x="1309724" y="230424"/>
                  </a:lnTo>
                  <a:lnTo>
                    <a:pt x="1299519" y="276122"/>
                  </a:lnTo>
                  <a:lnTo>
                    <a:pt x="1296006" y="324001"/>
                  </a:lnTo>
                  <a:lnTo>
                    <a:pt x="1299519" y="371880"/>
                  </a:lnTo>
                  <a:lnTo>
                    <a:pt x="1309724" y="417578"/>
                  </a:lnTo>
                  <a:lnTo>
                    <a:pt x="1326120" y="460593"/>
                  </a:lnTo>
                  <a:lnTo>
                    <a:pt x="1348205" y="500424"/>
                  </a:lnTo>
                  <a:lnTo>
                    <a:pt x="1375478" y="536571"/>
                  </a:lnTo>
                  <a:lnTo>
                    <a:pt x="1407438" y="568531"/>
                  </a:lnTo>
                  <a:lnTo>
                    <a:pt x="1443585" y="595805"/>
                  </a:lnTo>
                  <a:lnTo>
                    <a:pt x="1483416" y="617890"/>
                  </a:lnTo>
                  <a:lnTo>
                    <a:pt x="1526431" y="634285"/>
                  </a:lnTo>
                  <a:lnTo>
                    <a:pt x="1572129" y="644490"/>
                  </a:lnTo>
                  <a:lnTo>
                    <a:pt x="1620008" y="648003"/>
                  </a:lnTo>
                  <a:lnTo>
                    <a:pt x="1667887" y="644490"/>
                  </a:lnTo>
                  <a:lnTo>
                    <a:pt x="1713585" y="634285"/>
                  </a:lnTo>
                  <a:lnTo>
                    <a:pt x="1756600" y="617890"/>
                  </a:lnTo>
                  <a:lnTo>
                    <a:pt x="1796431" y="595805"/>
                  </a:lnTo>
                  <a:lnTo>
                    <a:pt x="1832578" y="568531"/>
                  </a:lnTo>
                  <a:lnTo>
                    <a:pt x="1864538" y="536571"/>
                  </a:lnTo>
                  <a:lnTo>
                    <a:pt x="1891812" y="500424"/>
                  </a:lnTo>
                  <a:lnTo>
                    <a:pt x="1913897" y="460593"/>
                  </a:lnTo>
                  <a:lnTo>
                    <a:pt x="1930292" y="417578"/>
                  </a:lnTo>
                  <a:lnTo>
                    <a:pt x="1940497" y="371880"/>
                  </a:lnTo>
                  <a:lnTo>
                    <a:pt x="1944010" y="324001"/>
                  </a:lnTo>
                  <a:close/>
                </a:path>
              </a:pathLst>
            </a:custGeom>
            <a:ln w="10122">
              <a:solidFill>
                <a:srgbClr val="3399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1265" y="2200218"/>
              <a:ext cx="119286" cy="11928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326906" y="639853"/>
            <a:ext cx="1944370" cy="194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53266" y="904211"/>
            <a:ext cx="1253490" cy="1415415"/>
            <a:chOff x="3753266" y="904211"/>
            <a:chExt cx="1253490" cy="1415415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5271" y="2200218"/>
              <a:ext cx="119286" cy="11928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3266" y="1066212"/>
              <a:ext cx="119286" cy="11928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87272" y="904211"/>
              <a:ext cx="119286" cy="11928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7" name="object 2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37432" y="2705589"/>
            <a:ext cx="1323340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0"/>
              </a:lnSpc>
            </a:pP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Clustering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Process: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47" y="1425450"/>
            <a:ext cx="104301" cy="1043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8404" y="14160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300" y="1336973"/>
            <a:ext cx="200088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K</a:t>
            </a:r>
            <a:r>
              <a:rPr sz="1050" i="1" spc="15" baseline="-11904" dirty="0">
                <a:latin typeface="Arial"/>
                <a:cs typeface="Arial"/>
              </a:rPr>
              <a:t>initial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10" dirty="0">
                <a:latin typeface="Lucida Sans Unicode"/>
                <a:cs typeface="Lucida Sans Unicode"/>
              </a:rPr>
              <a:t>⌈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N</a:t>
            </a:r>
            <a:r>
              <a:rPr sz="1050" i="1" spc="15" baseline="-11904" dirty="0">
                <a:latin typeface="Arial"/>
                <a:cs typeface="Arial"/>
              </a:rPr>
              <a:t>U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r>
              <a:rPr sz="1000" spc="50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Cluster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K-means </a:t>
            </a:r>
            <a:r>
              <a:rPr sz="1000" spc="-10" dirty="0">
                <a:latin typeface="Tahoma"/>
                <a:cs typeface="Tahoma"/>
              </a:rPr>
              <a:t>Position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 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cluster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centroid: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47" y="1615239"/>
            <a:ext cx="104301" cy="1043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8404" y="160586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747" y="1805028"/>
            <a:ext cx="104301" cy="1043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8404" y="17956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3393" y="2119162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0450" y="2062218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0680" y="2169820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42580" y="1937099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3532" y="2252360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4535" y="1942025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x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0747" y="2131811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393" y="2516571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0450" y="2459639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y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0680" y="2567228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42580" y="2334507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3532" y="2649781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4535" y="2339433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y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20747" y="2529220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321826" y="634773"/>
            <a:ext cx="1954530" cy="1954530"/>
            <a:chOff x="3321826" y="634773"/>
            <a:chExt cx="1954530" cy="1954530"/>
          </a:xfrm>
        </p:grpSpPr>
        <p:sp>
          <p:nvSpPr>
            <p:cNvPr id="29" name="object 29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0" y="1944010"/>
                  </a:moveTo>
                  <a:lnTo>
                    <a:pt x="0" y="0"/>
                  </a:lnTo>
                  <a:lnTo>
                    <a:pt x="1944010" y="0"/>
                  </a:lnTo>
                  <a:lnTo>
                    <a:pt x="1944010" y="1944010"/>
                  </a:lnTo>
                  <a:lnTo>
                    <a:pt x="0" y="1944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39007" y="2258148"/>
              <a:ext cx="321310" cy="207645"/>
            </a:xfrm>
            <a:custGeom>
              <a:avLst/>
              <a:gdLst/>
              <a:ahLst/>
              <a:cxnLst/>
              <a:rect l="l" t="t" r="r" b="b"/>
              <a:pathLst>
                <a:path w="321310" h="207644">
                  <a:moveTo>
                    <a:pt x="130060" y="59651"/>
                  </a:moveTo>
                  <a:lnTo>
                    <a:pt x="125374" y="36436"/>
                  </a:lnTo>
                  <a:lnTo>
                    <a:pt x="112598" y="17475"/>
                  </a:lnTo>
                  <a:lnTo>
                    <a:pt x="93637" y="4686"/>
                  </a:lnTo>
                  <a:lnTo>
                    <a:pt x="70421" y="0"/>
                  </a:lnTo>
                  <a:lnTo>
                    <a:pt x="47205" y="4686"/>
                  </a:lnTo>
                  <a:lnTo>
                    <a:pt x="28244" y="17475"/>
                  </a:lnTo>
                  <a:lnTo>
                    <a:pt x="15468" y="36436"/>
                  </a:lnTo>
                  <a:lnTo>
                    <a:pt x="4686" y="52451"/>
                  </a:lnTo>
                  <a:lnTo>
                    <a:pt x="0" y="75666"/>
                  </a:lnTo>
                  <a:lnTo>
                    <a:pt x="4686" y="98882"/>
                  </a:lnTo>
                  <a:lnTo>
                    <a:pt x="17475" y="117843"/>
                  </a:lnTo>
                  <a:lnTo>
                    <a:pt x="36436" y="130619"/>
                  </a:lnTo>
                  <a:lnTo>
                    <a:pt x="59651" y="135305"/>
                  </a:lnTo>
                  <a:lnTo>
                    <a:pt x="82867" y="130619"/>
                  </a:lnTo>
                  <a:lnTo>
                    <a:pt x="101815" y="117843"/>
                  </a:lnTo>
                  <a:lnTo>
                    <a:pt x="114604" y="98882"/>
                  </a:lnTo>
                  <a:lnTo>
                    <a:pt x="125374" y="82867"/>
                  </a:lnTo>
                  <a:lnTo>
                    <a:pt x="130060" y="59651"/>
                  </a:lnTo>
                  <a:close/>
                </a:path>
                <a:path w="321310" h="207644">
                  <a:moveTo>
                    <a:pt x="321157" y="147980"/>
                  </a:moveTo>
                  <a:lnTo>
                    <a:pt x="316471" y="124752"/>
                  </a:lnTo>
                  <a:lnTo>
                    <a:pt x="303695" y="105803"/>
                  </a:lnTo>
                  <a:lnTo>
                    <a:pt x="284734" y="93014"/>
                  </a:lnTo>
                  <a:lnTo>
                    <a:pt x="261518" y="88328"/>
                  </a:lnTo>
                  <a:lnTo>
                    <a:pt x="238302" y="93014"/>
                  </a:lnTo>
                  <a:lnTo>
                    <a:pt x="219341" y="105803"/>
                  </a:lnTo>
                  <a:lnTo>
                    <a:pt x="206565" y="124752"/>
                  </a:lnTo>
                  <a:lnTo>
                    <a:pt x="201879" y="147980"/>
                  </a:lnTo>
                  <a:lnTo>
                    <a:pt x="206565" y="171196"/>
                  </a:lnTo>
                  <a:lnTo>
                    <a:pt x="219341" y="190144"/>
                  </a:lnTo>
                  <a:lnTo>
                    <a:pt x="238302" y="202933"/>
                  </a:lnTo>
                  <a:lnTo>
                    <a:pt x="261518" y="207619"/>
                  </a:lnTo>
                  <a:lnTo>
                    <a:pt x="284734" y="202933"/>
                  </a:lnTo>
                  <a:lnTo>
                    <a:pt x="303695" y="190144"/>
                  </a:lnTo>
                  <a:lnTo>
                    <a:pt x="316471" y="171196"/>
                  </a:lnTo>
                  <a:lnTo>
                    <a:pt x="321157" y="1479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7116" y="2045119"/>
              <a:ext cx="119286" cy="11928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568471" y="2113114"/>
              <a:ext cx="1382395" cy="221615"/>
            </a:xfrm>
            <a:custGeom>
              <a:avLst/>
              <a:gdLst/>
              <a:ahLst/>
              <a:cxnLst/>
              <a:rect l="l" t="t" r="r" b="b"/>
              <a:pathLst>
                <a:path w="1382395" h="221614">
                  <a:moveTo>
                    <a:pt x="119278" y="161518"/>
                  </a:moveTo>
                  <a:lnTo>
                    <a:pt x="114592" y="138303"/>
                  </a:lnTo>
                  <a:lnTo>
                    <a:pt x="101815" y="119341"/>
                  </a:lnTo>
                  <a:lnTo>
                    <a:pt x="82854" y="106565"/>
                  </a:lnTo>
                  <a:lnTo>
                    <a:pt x="59639" y="101866"/>
                  </a:lnTo>
                  <a:lnTo>
                    <a:pt x="36423" y="106565"/>
                  </a:lnTo>
                  <a:lnTo>
                    <a:pt x="17462" y="119341"/>
                  </a:lnTo>
                  <a:lnTo>
                    <a:pt x="4686" y="138303"/>
                  </a:lnTo>
                  <a:lnTo>
                    <a:pt x="0" y="161518"/>
                  </a:lnTo>
                  <a:lnTo>
                    <a:pt x="4686" y="184734"/>
                  </a:lnTo>
                  <a:lnTo>
                    <a:pt x="17462" y="203695"/>
                  </a:lnTo>
                  <a:lnTo>
                    <a:pt x="36423" y="216471"/>
                  </a:lnTo>
                  <a:lnTo>
                    <a:pt x="59639" y="221157"/>
                  </a:lnTo>
                  <a:lnTo>
                    <a:pt x="82854" y="216471"/>
                  </a:lnTo>
                  <a:lnTo>
                    <a:pt x="101815" y="203695"/>
                  </a:lnTo>
                  <a:lnTo>
                    <a:pt x="114592" y="184734"/>
                  </a:lnTo>
                  <a:lnTo>
                    <a:pt x="119278" y="161518"/>
                  </a:lnTo>
                  <a:close/>
                </a:path>
                <a:path w="1382395" h="221614">
                  <a:moveTo>
                    <a:pt x="1381887" y="59639"/>
                  </a:moveTo>
                  <a:lnTo>
                    <a:pt x="1377200" y="36423"/>
                  </a:lnTo>
                  <a:lnTo>
                    <a:pt x="1364424" y="17462"/>
                  </a:lnTo>
                  <a:lnTo>
                    <a:pt x="1345463" y="4686"/>
                  </a:lnTo>
                  <a:lnTo>
                    <a:pt x="1322247" y="0"/>
                  </a:lnTo>
                  <a:lnTo>
                    <a:pt x="1299032" y="4686"/>
                  </a:lnTo>
                  <a:lnTo>
                    <a:pt x="1280071" y="17462"/>
                  </a:lnTo>
                  <a:lnTo>
                    <a:pt x="1267294" y="36423"/>
                  </a:lnTo>
                  <a:lnTo>
                    <a:pt x="1262608" y="59639"/>
                  </a:lnTo>
                  <a:lnTo>
                    <a:pt x="1267294" y="82854"/>
                  </a:lnTo>
                  <a:lnTo>
                    <a:pt x="1280071" y="101815"/>
                  </a:lnTo>
                  <a:lnTo>
                    <a:pt x="1299032" y="114604"/>
                  </a:lnTo>
                  <a:lnTo>
                    <a:pt x="1322247" y="119291"/>
                  </a:lnTo>
                  <a:lnTo>
                    <a:pt x="1345463" y="114604"/>
                  </a:lnTo>
                  <a:lnTo>
                    <a:pt x="1364424" y="101815"/>
                  </a:lnTo>
                  <a:lnTo>
                    <a:pt x="1377200" y="82854"/>
                  </a:lnTo>
                  <a:lnTo>
                    <a:pt x="1381887" y="596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3569" y="2346418"/>
              <a:ext cx="119286" cy="11928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563669" y="2082418"/>
              <a:ext cx="316865" cy="191770"/>
            </a:xfrm>
            <a:custGeom>
              <a:avLst/>
              <a:gdLst/>
              <a:ahLst/>
              <a:cxnLst/>
              <a:rect l="l" t="t" r="r" b="b"/>
              <a:pathLst>
                <a:path w="316864" h="191769">
                  <a:moveTo>
                    <a:pt x="177165" y="59651"/>
                  </a:moveTo>
                  <a:lnTo>
                    <a:pt x="172478" y="36436"/>
                  </a:lnTo>
                  <a:lnTo>
                    <a:pt x="159689" y="17475"/>
                  </a:lnTo>
                  <a:lnTo>
                    <a:pt x="140728" y="4686"/>
                  </a:lnTo>
                  <a:lnTo>
                    <a:pt x="117513" y="0"/>
                  </a:lnTo>
                  <a:lnTo>
                    <a:pt x="94297" y="4686"/>
                  </a:lnTo>
                  <a:lnTo>
                    <a:pt x="75336" y="17475"/>
                  </a:lnTo>
                  <a:lnTo>
                    <a:pt x="62560" y="36436"/>
                  </a:lnTo>
                  <a:lnTo>
                    <a:pt x="57873" y="59651"/>
                  </a:lnTo>
                  <a:lnTo>
                    <a:pt x="60413" y="72288"/>
                  </a:lnTo>
                  <a:lnTo>
                    <a:pt x="59639" y="72123"/>
                  </a:lnTo>
                  <a:lnTo>
                    <a:pt x="36423" y="76809"/>
                  </a:lnTo>
                  <a:lnTo>
                    <a:pt x="17462" y="89598"/>
                  </a:lnTo>
                  <a:lnTo>
                    <a:pt x="4686" y="108546"/>
                  </a:lnTo>
                  <a:lnTo>
                    <a:pt x="0" y="131762"/>
                  </a:lnTo>
                  <a:lnTo>
                    <a:pt x="4686" y="154978"/>
                  </a:lnTo>
                  <a:lnTo>
                    <a:pt x="17462" y="173939"/>
                  </a:lnTo>
                  <a:lnTo>
                    <a:pt x="36423" y="186728"/>
                  </a:lnTo>
                  <a:lnTo>
                    <a:pt x="59639" y="191414"/>
                  </a:lnTo>
                  <a:lnTo>
                    <a:pt x="82854" y="186728"/>
                  </a:lnTo>
                  <a:lnTo>
                    <a:pt x="101815" y="173939"/>
                  </a:lnTo>
                  <a:lnTo>
                    <a:pt x="114592" y="154978"/>
                  </a:lnTo>
                  <a:lnTo>
                    <a:pt x="119278" y="131762"/>
                  </a:lnTo>
                  <a:lnTo>
                    <a:pt x="116725" y="119138"/>
                  </a:lnTo>
                  <a:lnTo>
                    <a:pt x="117513" y="119291"/>
                  </a:lnTo>
                  <a:lnTo>
                    <a:pt x="140728" y="114604"/>
                  </a:lnTo>
                  <a:lnTo>
                    <a:pt x="159689" y="101815"/>
                  </a:lnTo>
                  <a:lnTo>
                    <a:pt x="172478" y="82867"/>
                  </a:lnTo>
                  <a:lnTo>
                    <a:pt x="177165" y="59651"/>
                  </a:lnTo>
                  <a:close/>
                </a:path>
                <a:path w="316864" h="191769">
                  <a:moveTo>
                    <a:pt x="316623" y="71094"/>
                  </a:moveTo>
                  <a:lnTo>
                    <a:pt x="311937" y="47879"/>
                  </a:lnTo>
                  <a:lnTo>
                    <a:pt x="299148" y="28917"/>
                  </a:lnTo>
                  <a:lnTo>
                    <a:pt x="280200" y="16141"/>
                  </a:lnTo>
                  <a:lnTo>
                    <a:pt x="256984" y="11455"/>
                  </a:lnTo>
                  <a:lnTo>
                    <a:pt x="233768" y="16141"/>
                  </a:lnTo>
                  <a:lnTo>
                    <a:pt x="214807" y="28917"/>
                  </a:lnTo>
                  <a:lnTo>
                    <a:pt x="202018" y="47879"/>
                  </a:lnTo>
                  <a:lnTo>
                    <a:pt x="197332" y="71094"/>
                  </a:lnTo>
                  <a:lnTo>
                    <a:pt x="202018" y="94310"/>
                  </a:lnTo>
                  <a:lnTo>
                    <a:pt x="214807" y="113271"/>
                  </a:lnTo>
                  <a:lnTo>
                    <a:pt x="233768" y="126047"/>
                  </a:lnTo>
                  <a:lnTo>
                    <a:pt x="256984" y="130733"/>
                  </a:lnTo>
                  <a:lnTo>
                    <a:pt x="280200" y="126047"/>
                  </a:lnTo>
                  <a:lnTo>
                    <a:pt x="299148" y="113271"/>
                  </a:lnTo>
                  <a:lnTo>
                    <a:pt x="311937" y="94310"/>
                  </a:lnTo>
                  <a:lnTo>
                    <a:pt x="316623" y="7109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74663" y="1005956"/>
              <a:ext cx="282305" cy="25105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29537" y="742621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7"/>
                  </a:lnTo>
                  <a:lnTo>
                    <a:pt x="17468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7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69271" y="941859"/>
              <a:ext cx="173654" cy="14577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859756" y="770534"/>
              <a:ext cx="212090" cy="120014"/>
            </a:xfrm>
            <a:custGeom>
              <a:avLst/>
              <a:gdLst/>
              <a:ahLst/>
              <a:cxnLst/>
              <a:rect l="l" t="t" r="r" b="b"/>
              <a:pathLst>
                <a:path w="212089" h="120015">
                  <a:moveTo>
                    <a:pt x="212064" y="59639"/>
                  </a:moveTo>
                  <a:lnTo>
                    <a:pt x="207378" y="36423"/>
                  </a:lnTo>
                  <a:lnTo>
                    <a:pt x="194589" y="17475"/>
                  </a:lnTo>
                  <a:lnTo>
                    <a:pt x="175628" y="4686"/>
                  </a:lnTo>
                  <a:lnTo>
                    <a:pt x="152412" y="0"/>
                  </a:lnTo>
                  <a:lnTo>
                    <a:pt x="129197" y="4686"/>
                  </a:lnTo>
                  <a:lnTo>
                    <a:pt x="110236" y="17475"/>
                  </a:lnTo>
                  <a:lnTo>
                    <a:pt x="105879" y="23939"/>
                  </a:lnTo>
                  <a:lnTo>
                    <a:pt x="101815" y="17894"/>
                  </a:lnTo>
                  <a:lnTo>
                    <a:pt x="82854" y="5105"/>
                  </a:lnTo>
                  <a:lnTo>
                    <a:pt x="59639" y="419"/>
                  </a:lnTo>
                  <a:lnTo>
                    <a:pt x="36423" y="5105"/>
                  </a:lnTo>
                  <a:lnTo>
                    <a:pt x="17475" y="17894"/>
                  </a:lnTo>
                  <a:lnTo>
                    <a:pt x="4686" y="36855"/>
                  </a:lnTo>
                  <a:lnTo>
                    <a:pt x="0" y="60071"/>
                  </a:lnTo>
                  <a:lnTo>
                    <a:pt x="4686" y="83286"/>
                  </a:lnTo>
                  <a:lnTo>
                    <a:pt x="17475" y="102235"/>
                  </a:lnTo>
                  <a:lnTo>
                    <a:pt x="36423" y="115023"/>
                  </a:lnTo>
                  <a:lnTo>
                    <a:pt x="59639" y="119710"/>
                  </a:lnTo>
                  <a:lnTo>
                    <a:pt x="82854" y="115023"/>
                  </a:lnTo>
                  <a:lnTo>
                    <a:pt x="101815" y="102235"/>
                  </a:lnTo>
                  <a:lnTo>
                    <a:pt x="106159" y="95783"/>
                  </a:lnTo>
                  <a:lnTo>
                    <a:pt x="110236" y="101815"/>
                  </a:lnTo>
                  <a:lnTo>
                    <a:pt x="129197" y="114604"/>
                  </a:lnTo>
                  <a:lnTo>
                    <a:pt x="152412" y="119291"/>
                  </a:lnTo>
                  <a:lnTo>
                    <a:pt x="175628" y="114604"/>
                  </a:lnTo>
                  <a:lnTo>
                    <a:pt x="194589" y="101815"/>
                  </a:lnTo>
                  <a:lnTo>
                    <a:pt x="207378" y="82854"/>
                  </a:lnTo>
                  <a:lnTo>
                    <a:pt x="212064" y="596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648003" y="1620008"/>
                  </a:moveTo>
                  <a:lnTo>
                    <a:pt x="644490" y="1572129"/>
                  </a:lnTo>
                  <a:lnTo>
                    <a:pt x="634285" y="1526431"/>
                  </a:lnTo>
                  <a:lnTo>
                    <a:pt x="617890" y="1483416"/>
                  </a:lnTo>
                  <a:lnTo>
                    <a:pt x="595805" y="1443585"/>
                  </a:lnTo>
                  <a:lnTo>
                    <a:pt x="568531" y="1407438"/>
                  </a:lnTo>
                  <a:lnTo>
                    <a:pt x="536571" y="1375478"/>
                  </a:lnTo>
                  <a:lnTo>
                    <a:pt x="500424" y="1348205"/>
                  </a:lnTo>
                  <a:lnTo>
                    <a:pt x="460593" y="1326120"/>
                  </a:lnTo>
                  <a:lnTo>
                    <a:pt x="417578" y="1309724"/>
                  </a:lnTo>
                  <a:lnTo>
                    <a:pt x="371880" y="1299519"/>
                  </a:lnTo>
                  <a:lnTo>
                    <a:pt x="324001" y="1296006"/>
                  </a:lnTo>
                  <a:lnTo>
                    <a:pt x="276122" y="1299519"/>
                  </a:lnTo>
                  <a:lnTo>
                    <a:pt x="230424" y="1309724"/>
                  </a:lnTo>
                  <a:lnTo>
                    <a:pt x="187409" y="1326120"/>
                  </a:lnTo>
                  <a:lnTo>
                    <a:pt x="147578" y="1348205"/>
                  </a:lnTo>
                  <a:lnTo>
                    <a:pt x="111431" y="1375478"/>
                  </a:lnTo>
                  <a:lnTo>
                    <a:pt x="79471" y="1407438"/>
                  </a:lnTo>
                  <a:lnTo>
                    <a:pt x="52198" y="1443585"/>
                  </a:lnTo>
                  <a:lnTo>
                    <a:pt x="30113" y="1483416"/>
                  </a:lnTo>
                  <a:lnTo>
                    <a:pt x="13717" y="1526431"/>
                  </a:lnTo>
                  <a:lnTo>
                    <a:pt x="3512" y="1572129"/>
                  </a:lnTo>
                  <a:lnTo>
                    <a:pt x="0" y="1620008"/>
                  </a:lnTo>
                  <a:lnTo>
                    <a:pt x="3512" y="1667887"/>
                  </a:lnTo>
                  <a:lnTo>
                    <a:pt x="13717" y="1713585"/>
                  </a:lnTo>
                  <a:lnTo>
                    <a:pt x="30113" y="1756600"/>
                  </a:lnTo>
                  <a:lnTo>
                    <a:pt x="52198" y="1796431"/>
                  </a:lnTo>
                  <a:lnTo>
                    <a:pt x="79471" y="1832578"/>
                  </a:lnTo>
                  <a:lnTo>
                    <a:pt x="111431" y="1864538"/>
                  </a:lnTo>
                  <a:lnTo>
                    <a:pt x="147578" y="1891812"/>
                  </a:lnTo>
                  <a:lnTo>
                    <a:pt x="187409" y="1913897"/>
                  </a:lnTo>
                  <a:lnTo>
                    <a:pt x="230424" y="1930292"/>
                  </a:lnTo>
                  <a:lnTo>
                    <a:pt x="276122" y="1940497"/>
                  </a:lnTo>
                  <a:lnTo>
                    <a:pt x="324001" y="1944010"/>
                  </a:lnTo>
                  <a:lnTo>
                    <a:pt x="371880" y="1940497"/>
                  </a:lnTo>
                  <a:lnTo>
                    <a:pt x="417578" y="1930292"/>
                  </a:lnTo>
                  <a:lnTo>
                    <a:pt x="460593" y="1913897"/>
                  </a:lnTo>
                  <a:lnTo>
                    <a:pt x="500424" y="1891812"/>
                  </a:lnTo>
                  <a:lnTo>
                    <a:pt x="536571" y="1864538"/>
                  </a:lnTo>
                  <a:lnTo>
                    <a:pt x="568531" y="1832578"/>
                  </a:lnTo>
                  <a:lnTo>
                    <a:pt x="595805" y="1796431"/>
                  </a:lnTo>
                  <a:lnTo>
                    <a:pt x="617890" y="1756600"/>
                  </a:lnTo>
                  <a:lnTo>
                    <a:pt x="634285" y="1713585"/>
                  </a:lnTo>
                  <a:lnTo>
                    <a:pt x="644490" y="1667887"/>
                  </a:lnTo>
                  <a:lnTo>
                    <a:pt x="648003" y="1620008"/>
                  </a:lnTo>
                  <a:close/>
                </a:path>
                <a:path w="1944370" h="1944370">
                  <a:moveTo>
                    <a:pt x="1782009" y="1620008"/>
                  </a:moveTo>
                  <a:lnTo>
                    <a:pt x="1778496" y="1572129"/>
                  </a:lnTo>
                  <a:lnTo>
                    <a:pt x="1768291" y="1526431"/>
                  </a:lnTo>
                  <a:lnTo>
                    <a:pt x="1751896" y="1483416"/>
                  </a:lnTo>
                  <a:lnTo>
                    <a:pt x="1729811" y="1443585"/>
                  </a:lnTo>
                  <a:lnTo>
                    <a:pt x="1702537" y="1407438"/>
                  </a:lnTo>
                  <a:lnTo>
                    <a:pt x="1670577" y="1375478"/>
                  </a:lnTo>
                  <a:lnTo>
                    <a:pt x="1634430" y="1348205"/>
                  </a:lnTo>
                  <a:lnTo>
                    <a:pt x="1594599" y="1326120"/>
                  </a:lnTo>
                  <a:lnTo>
                    <a:pt x="1551584" y="1309724"/>
                  </a:lnTo>
                  <a:lnTo>
                    <a:pt x="1505886" y="1299519"/>
                  </a:lnTo>
                  <a:lnTo>
                    <a:pt x="1458007" y="1296006"/>
                  </a:lnTo>
                  <a:lnTo>
                    <a:pt x="1410128" y="1299519"/>
                  </a:lnTo>
                  <a:lnTo>
                    <a:pt x="1364430" y="1309724"/>
                  </a:lnTo>
                  <a:lnTo>
                    <a:pt x="1321415" y="1326120"/>
                  </a:lnTo>
                  <a:lnTo>
                    <a:pt x="1281584" y="1348205"/>
                  </a:lnTo>
                  <a:lnTo>
                    <a:pt x="1245437" y="1375478"/>
                  </a:lnTo>
                  <a:lnTo>
                    <a:pt x="1213477" y="1407438"/>
                  </a:lnTo>
                  <a:lnTo>
                    <a:pt x="1186204" y="1443585"/>
                  </a:lnTo>
                  <a:lnTo>
                    <a:pt x="1164119" y="1483416"/>
                  </a:lnTo>
                  <a:lnTo>
                    <a:pt x="1147723" y="1526431"/>
                  </a:lnTo>
                  <a:lnTo>
                    <a:pt x="1137518" y="1572129"/>
                  </a:lnTo>
                  <a:lnTo>
                    <a:pt x="1134005" y="1620008"/>
                  </a:lnTo>
                  <a:lnTo>
                    <a:pt x="1137518" y="1667887"/>
                  </a:lnTo>
                  <a:lnTo>
                    <a:pt x="1147723" y="1713585"/>
                  </a:lnTo>
                  <a:lnTo>
                    <a:pt x="1164119" y="1756600"/>
                  </a:lnTo>
                  <a:lnTo>
                    <a:pt x="1186204" y="1796431"/>
                  </a:lnTo>
                  <a:lnTo>
                    <a:pt x="1213477" y="1832578"/>
                  </a:lnTo>
                  <a:lnTo>
                    <a:pt x="1245437" y="1864538"/>
                  </a:lnTo>
                  <a:lnTo>
                    <a:pt x="1281584" y="1891812"/>
                  </a:lnTo>
                  <a:lnTo>
                    <a:pt x="1321415" y="1913897"/>
                  </a:lnTo>
                  <a:lnTo>
                    <a:pt x="1364430" y="1930292"/>
                  </a:lnTo>
                  <a:lnTo>
                    <a:pt x="1410128" y="1940497"/>
                  </a:lnTo>
                  <a:lnTo>
                    <a:pt x="1458007" y="1944010"/>
                  </a:lnTo>
                  <a:lnTo>
                    <a:pt x="1505886" y="1940497"/>
                  </a:lnTo>
                  <a:lnTo>
                    <a:pt x="1551584" y="1930292"/>
                  </a:lnTo>
                  <a:lnTo>
                    <a:pt x="1594599" y="1913897"/>
                  </a:lnTo>
                  <a:lnTo>
                    <a:pt x="1634430" y="1891812"/>
                  </a:lnTo>
                  <a:lnTo>
                    <a:pt x="1670577" y="1864538"/>
                  </a:lnTo>
                  <a:lnTo>
                    <a:pt x="1702537" y="1832578"/>
                  </a:lnTo>
                  <a:lnTo>
                    <a:pt x="1729811" y="1796431"/>
                  </a:lnTo>
                  <a:lnTo>
                    <a:pt x="1751896" y="1756600"/>
                  </a:lnTo>
                  <a:lnTo>
                    <a:pt x="1768291" y="1713585"/>
                  </a:lnTo>
                  <a:lnTo>
                    <a:pt x="1778496" y="1667887"/>
                  </a:lnTo>
                  <a:lnTo>
                    <a:pt x="1782009" y="1620008"/>
                  </a:lnTo>
                  <a:close/>
                </a:path>
                <a:path w="1944370" h="1944370">
                  <a:moveTo>
                    <a:pt x="810004" y="486002"/>
                  </a:moveTo>
                  <a:lnTo>
                    <a:pt x="806491" y="438123"/>
                  </a:lnTo>
                  <a:lnTo>
                    <a:pt x="796286" y="392425"/>
                  </a:lnTo>
                  <a:lnTo>
                    <a:pt x="779891" y="349410"/>
                  </a:lnTo>
                  <a:lnTo>
                    <a:pt x="757806" y="309579"/>
                  </a:lnTo>
                  <a:lnTo>
                    <a:pt x="730532" y="273432"/>
                  </a:lnTo>
                  <a:lnTo>
                    <a:pt x="698572" y="241472"/>
                  </a:lnTo>
                  <a:lnTo>
                    <a:pt x="662425" y="214199"/>
                  </a:lnTo>
                  <a:lnTo>
                    <a:pt x="622594" y="192114"/>
                  </a:lnTo>
                  <a:lnTo>
                    <a:pt x="579579" y="175718"/>
                  </a:lnTo>
                  <a:lnTo>
                    <a:pt x="533881" y="165513"/>
                  </a:lnTo>
                  <a:lnTo>
                    <a:pt x="486002" y="162000"/>
                  </a:lnTo>
                  <a:lnTo>
                    <a:pt x="438123" y="165513"/>
                  </a:lnTo>
                  <a:lnTo>
                    <a:pt x="392425" y="175718"/>
                  </a:lnTo>
                  <a:lnTo>
                    <a:pt x="349410" y="192114"/>
                  </a:lnTo>
                  <a:lnTo>
                    <a:pt x="309579" y="214199"/>
                  </a:lnTo>
                  <a:lnTo>
                    <a:pt x="273432" y="241472"/>
                  </a:lnTo>
                  <a:lnTo>
                    <a:pt x="241472" y="273432"/>
                  </a:lnTo>
                  <a:lnTo>
                    <a:pt x="214199" y="309579"/>
                  </a:lnTo>
                  <a:lnTo>
                    <a:pt x="192114" y="349410"/>
                  </a:lnTo>
                  <a:lnTo>
                    <a:pt x="175718" y="392425"/>
                  </a:lnTo>
                  <a:lnTo>
                    <a:pt x="165513" y="438123"/>
                  </a:lnTo>
                  <a:lnTo>
                    <a:pt x="162000" y="486002"/>
                  </a:lnTo>
                  <a:lnTo>
                    <a:pt x="165513" y="533881"/>
                  </a:lnTo>
                  <a:lnTo>
                    <a:pt x="175718" y="579579"/>
                  </a:lnTo>
                  <a:lnTo>
                    <a:pt x="192114" y="622594"/>
                  </a:lnTo>
                  <a:lnTo>
                    <a:pt x="214199" y="662425"/>
                  </a:lnTo>
                  <a:lnTo>
                    <a:pt x="241472" y="698572"/>
                  </a:lnTo>
                  <a:lnTo>
                    <a:pt x="273432" y="730532"/>
                  </a:lnTo>
                  <a:lnTo>
                    <a:pt x="309579" y="757806"/>
                  </a:lnTo>
                  <a:lnTo>
                    <a:pt x="349410" y="779891"/>
                  </a:lnTo>
                  <a:lnTo>
                    <a:pt x="392425" y="796286"/>
                  </a:lnTo>
                  <a:lnTo>
                    <a:pt x="438123" y="806491"/>
                  </a:lnTo>
                  <a:lnTo>
                    <a:pt x="486002" y="810004"/>
                  </a:lnTo>
                  <a:lnTo>
                    <a:pt x="533881" y="806491"/>
                  </a:lnTo>
                  <a:lnTo>
                    <a:pt x="579579" y="796286"/>
                  </a:lnTo>
                  <a:lnTo>
                    <a:pt x="622594" y="779891"/>
                  </a:lnTo>
                  <a:lnTo>
                    <a:pt x="662425" y="757806"/>
                  </a:lnTo>
                  <a:lnTo>
                    <a:pt x="698572" y="730532"/>
                  </a:lnTo>
                  <a:lnTo>
                    <a:pt x="730532" y="698572"/>
                  </a:lnTo>
                  <a:lnTo>
                    <a:pt x="757806" y="662425"/>
                  </a:lnTo>
                  <a:lnTo>
                    <a:pt x="779891" y="622594"/>
                  </a:lnTo>
                  <a:lnTo>
                    <a:pt x="796286" y="579579"/>
                  </a:lnTo>
                  <a:lnTo>
                    <a:pt x="806491" y="533881"/>
                  </a:lnTo>
                  <a:lnTo>
                    <a:pt x="810004" y="486002"/>
                  </a:lnTo>
                  <a:close/>
                </a:path>
                <a:path w="1944370" h="1944370">
                  <a:moveTo>
                    <a:pt x="1944010" y="324001"/>
                  </a:moveTo>
                  <a:lnTo>
                    <a:pt x="1940497" y="276122"/>
                  </a:lnTo>
                  <a:lnTo>
                    <a:pt x="1930292" y="230424"/>
                  </a:lnTo>
                  <a:lnTo>
                    <a:pt x="1913897" y="187409"/>
                  </a:lnTo>
                  <a:lnTo>
                    <a:pt x="1891812" y="147578"/>
                  </a:lnTo>
                  <a:lnTo>
                    <a:pt x="1864538" y="111431"/>
                  </a:lnTo>
                  <a:lnTo>
                    <a:pt x="1832578" y="79471"/>
                  </a:lnTo>
                  <a:lnTo>
                    <a:pt x="1796431" y="52198"/>
                  </a:lnTo>
                  <a:lnTo>
                    <a:pt x="1756600" y="30113"/>
                  </a:lnTo>
                  <a:lnTo>
                    <a:pt x="1713585" y="13717"/>
                  </a:lnTo>
                  <a:lnTo>
                    <a:pt x="1667887" y="3512"/>
                  </a:lnTo>
                  <a:lnTo>
                    <a:pt x="1620008" y="0"/>
                  </a:lnTo>
                  <a:lnTo>
                    <a:pt x="1572129" y="3512"/>
                  </a:lnTo>
                  <a:lnTo>
                    <a:pt x="1526431" y="13717"/>
                  </a:lnTo>
                  <a:lnTo>
                    <a:pt x="1483416" y="30113"/>
                  </a:lnTo>
                  <a:lnTo>
                    <a:pt x="1443585" y="52198"/>
                  </a:lnTo>
                  <a:lnTo>
                    <a:pt x="1407438" y="79471"/>
                  </a:lnTo>
                  <a:lnTo>
                    <a:pt x="1375478" y="111431"/>
                  </a:lnTo>
                  <a:lnTo>
                    <a:pt x="1348205" y="147578"/>
                  </a:lnTo>
                  <a:lnTo>
                    <a:pt x="1326120" y="187409"/>
                  </a:lnTo>
                  <a:lnTo>
                    <a:pt x="1309724" y="230424"/>
                  </a:lnTo>
                  <a:lnTo>
                    <a:pt x="1299519" y="276122"/>
                  </a:lnTo>
                  <a:lnTo>
                    <a:pt x="1296006" y="324001"/>
                  </a:lnTo>
                  <a:lnTo>
                    <a:pt x="1299519" y="371880"/>
                  </a:lnTo>
                  <a:lnTo>
                    <a:pt x="1309724" y="417578"/>
                  </a:lnTo>
                  <a:lnTo>
                    <a:pt x="1326120" y="460593"/>
                  </a:lnTo>
                  <a:lnTo>
                    <a:pt x="1348205" y="500424"/>
                  </a:lnTo>
                  <a:lnTo>
                    <a:pt x="1375478" y="536571"/>
                  </a:lnTo>
                  <a:lnTo>
                    <a:pt x="1407438" y="568531"/>
                  </a:lnTo>
                  <a:lnTo>
                    <a:pt x="1443585" y="595805"/>
                  </a:lnTo>
                  <a:lnTo>
                    <a:pt x="1483416" y="617890"/>
                  </a:lnTo>
                  <a:lnTo>
                    <a:pt x="1526431" y="634285"/>
                  </a:lnTo>
                  <a:lnTo>
                    <a:pt x="1572129" y="644490"/>
                  </a:lnTo>
                  <a:lnTo>
                    <a:pt x="1620008" y="648003"/>
                  </a:lnTo>
                  <a:lnTo>
                    <a:pt x="1667887" y="644490"/>
                  </a:lnTo>
                  <a:lnTo>
                    <a:pt x="1713585" y="634285"/>
                  </a:lnTo>
                  <a:lnTo>
                    <a:pt x="1756600" y="617890"/>
                  </a:lnTo>
                  <a:lnTo>
                    <a:pt x="1796431" y="595805"/>
                  </a:lnTo>
                  <a:lnTo>
                    <a:pt x="1832578" y="568531"/>
                  </a:lnTo>
                  <a:lnTo>
                    <a:pt x="1864538" y="536571"/>
                  </a:lnTo>
                  <a:lnTo>
                    <a:pt x="1891812" y="500424"/>
                  </a:lnTo>
                  <a:lnTo>
                    <a:pt x="1913897" y="460593"/>
                  </a:lnTo>
                  <a:lnTo>
                    <a:pt x="1930292" y="417578"/>
                  </a:lnTo>
                  <a:lnTo>
                    <a:pt x="1940497" y="371880"/>
                  </a:lnTo>
                  <a:lnTo>
                    <a:pt x="1944010" y="324001"/>
                  </a:lnTo>
                  <a:close/>
                </a:path>
              </a:pathLst>
            </a:custGeom>
            <a:ln w="10122">
              <a:solidFill>
                <a:srgbClr val="3399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1265" y="2200218"/>
              <a:ext cx="119286" cy="11928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326906" y="639853"/>
            <a:ext cx="1944370" cy="194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753266" y="904211"/>
            <a:ext cx="1253490" cy="1415415"/>
            <a:chOff x="3753266" y="904211"/>
            <a:chExt cx="1253490" cy="1415415"/>
          </a:xfrm>
        </p:grpSpPr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5271" y="2200218"/>
              <a:ext cx="119286" cy="11928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3266" y="1066212"/>
              <a:ext cx="119286" cy="11928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87272" y="904211"/>
              <a:ext cx="119286" cy="11928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637432" y="2678259"/>
            <a:ext cx="1323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K-</a:t>
            </a:r>
            <a:r>
              <a:rPr sz="900" spc="-45" dirty="0">
                <a:latin typeface="Arial MT"/>
                <a:cs typeface="Arial MT"/>
              </a:rPr>
              <a:t>means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Clustering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8" name="object 4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Process: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47" y="1425450"/>
            <a:ext cx="104301" cy="1043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8404" y="14160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300" y="1336973"/>
            <a:ext cx="200088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K</a:t>
            </a:r>
            <a:r>
              <a:rPr sz="1050" i="1" spc="15" baseline="-11904" dirty="0">
                <a:latin typeface="Arial"/>
                <a:cs typeface="Arial"/>
              </a:rPr>
              <a:t>initial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10" dirty="0">
                <a:latin typeface="Lucida Sans Unicode"/>
                <a:cs typeface="Lucida Sans Unicode"/>
              </a:rPr>
              <a:t>⌈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N</a:t>
            </a:r>
            <a:r>
              <a:rPr sz="1050" i="1" spc="15" baseline="-11904" dirty="0">
                <a:latin typeface="Arial"/>
                <a:cs typeface="Arial"/>
              </a:rPr>
              <a:t>U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r>
              <a:rPr sz="1000" spc="50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Cluster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K-means </a:t>
            </a:r>
            <a:r>
              <a:rPr sz="1000" spc="-10" dirty="0">
                <a:latin typeface="Tahoma"/>
                <a:cs typeface="Tahoma"/>
              </a:rPr>
              <a:t>Position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 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cluster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centroid: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47" y="1615239"/>
            <a:ext cx="104301" cy="1043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8404" y="160586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747" y="1805028"/>
            <a:ext cx="104301" cy="1043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8404" y="17956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3393" y="2119162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0450" y="2062218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0680" y="2169820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42580" y="1937099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3532" y="2252360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4535" y="1942025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x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0747" y="2131811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393" y="2516571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0450" y="2459639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y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0680" y="2567228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42580" y="2334507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3532" y="2649781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4535" y="2339433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y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20747" y="2529220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747" y="2920380"/>
            <a:ext cx="104301" cy="1043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88404" y="291100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4700" y="2869862"/>
            <a:ext cx="19551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Update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35" dirty="0">
                <a:latin typeface="Arial"/>
                <a:cs typeface="Arial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service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coverage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321826" y="634773"/>
            <a:ext cx="1954530" cy="1954530"/>
            <a:chOff x="3321826" y="634773"/>
            <a:chExt cx="1954530" cy="1954530"/>
          </a:xfrm>
        </p:grpSpPr>
        <p:sp>
          <p:nvSpPr>
            <p:cNvPr id="32" name="object 32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0" y="1944010"/>
                  </a:moveTo>
                  <a:lnTo>
                    <a:pt x="0" y="0"/>
                  </a:lnTo>
                  <a:lnTo>
                    <a:pt x="1944010" y="0"/>
                  </a:lnTo>
                  <a:lnTo>
                    <a:pt x="1944010" y="1944010"/>
                  </a:lnTo>
                  <a:lnTo>
                    <a:pt x="0" y="1944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6659" y="2056732"/>
              <a:ext cx="317185" cy="31356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6137" y="2047813"/>
              <a:ext cx="304755" cy="40363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7164" y="933306"/>
              <a:ext cx="154985" cy="15096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13245" y="1119008"/>
              <a:ext cx="119286" cy="1192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71652" y="1088559"/>
              <a:ext cx="146072" cy="18796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753953" y="779132"/>
              <a:ext cx="354330" cy="278765"/>
            </a:xfrm>
            <a:custGeom>
              <a:avLst/>
              <a:gdLst/>
              <a:ahLst/>
              <a:cxnLst/>
              <a:rect l="l" t="t" r="r" b="b"/>
              <a:pathLst>
                <a:path w="354329" h="278765">
                  <a:moveTo>
                    <a:pt x="136931" y="62979"/>
                  </a:moveTo>
                  <a:lnTo>
                    <a:pt x="132245" y="39763"/>
                  </a:lnTo>
                  <a:lnTo>
                    <a:pt x="119468" y="20802"/>
                  </a:lnTo>
                  <a:lnTo>
                    <a:pt x="100507" y="8026"/>
                  </a:lnTo>
                  <a:lnTo>
                    <a:pt x="77292" y="3340"/>
                  </a:lnTo>
                  <a:lnTo>
                    <a:pt x="76708" y="3467"/>
                  </a:lnTo>
                  <a:lnTo>
                    <a:pt x="59639" y="0"/>
                  </a:lnTo>
                  <a:lnTo>
                    <a:pt x="36423" y="4699"/>
                  </a:lnTo>
                  <a:lnTo>
                    <a:pt x="17475" y="17475"/>
                  </a:lnTo>
                  <a:lnTo>
                    <a:pt x="4686" y="36436"/>
                  </a:lnTo>
                  <a:lnTo>
                    <a:pt x="0" y="59651"/>
                  </a:lnTo>
                  <a:lnTo>
                    <a:pt x="4686" y="82867"/>
                  </a:lnTo>
                  <a:lnTo>
                    <a:pt x="17475" y="101828"/>
                  </a:lnTo>
                  <a:lnTo>
                    <a:pt x="36423" y="114604"/>
                  </a:lnTo>
                  <a:lnTo>
                    <a:pt x="59639" y="119291"/>
                  </a:lnTo>
                  <a:lnTo>
                    <a:pt x="60223" y="119176"/>
                  </a:lnTo>
                  <a:lnTo>
                    <a:pt x="77292" y="122618"/>
                  </a:lnTo>
                  <a:lnTo>
                    <a:pt x="100507" y="117932"/>
                  </a:lnTo>
                  <a:lnTo>
                    <a:pt x="119468" y="105156"/>
                  </a:lnTo>
                  <a:lnTo>
                    <a:pt x="132245" y="86194"/>
                  </a:lnTo>
                  <a:lnTo>
                    <a:pt x="136931" y="62979"/>
                  </a:lnTo>
                  <a:close/>
                </a:path>
                <a:path w="354329" h="278765">
                  <a:moveTo>
                    <a:pt x="354025" y="195516"/>
                  </a:moveTo>
                  <a:lnTo>
                    <a:pt x="349338" y="172300"/>
                  </a:lnTo>
                  <a:lnTo>
                    <a:pt x="336550" y="153339"/>
                  </a:lnTo>
                  <a:lnTo>
                    <a:pt x="318058" y="140881"/>
                  </a:lnTo>
                  <a:lnTo>
                    <a:pt x="323443" y="132905"/>
                  </a:lnTo>
                  <a:lnTo>
                    <a:pt x="328142" y="109689"/>
                  </a:lnTo>
                  <a:lnTo>
                    <a:pt x="323443" y="86474"/>
                  </a:lnTo>
                  <a:lnTo>
                    <a:pt x="310667" y="67513"/>
                  </a:lnTo>
                  <a:lnTo>
                    <a:pt x="291706" y="54737"/>
                  </a:lnTo>
                  <a:lnTo>
                    <a:pt x="268490" y="50050"/>
                  </a:lnTo>
                  <a:lnTo>
                    <a:pt x="245275" y="54737"/>
                  </a:lnTo>
                  <a:lnTo>
                    <a:pt x="226314" y="67513"/>
                  </a:lnTo>
                  <a:lnTo>
                    <a:pt x="213537" y="86474"/>
                  </a:lnTo>
                  <a:lnTo>
                    <a:pt x="208851" y="109689"/>
                  </a:lnTo>
                  <a:lnTo>
                    <a:pt x="213537" y="132905"/>
                  </a:lnTo>
                  <a:lnTo>
                    <a:pt x="226314" y="151866"/>
                  </a:lnTo>
                  <a:lnTo>
                    <a:pt x="244792" y="164325"/>
                  </a:lnTo>
                  <a:lnTo>
                    <a:pt x="239420" y="172300"/>
                  </a:lnTo>
                  <a:lnTo>
                    <a:pt x="234734" y="195516"/>
                  </a:lnTo>
                  <a:lnTo>
                    <a:pt x="236270" y="203174"/>
                  </a:lnTo>
                  <a:lnTo>
                    <a:pt x="233133" y="218757"/>
                  </a:lnTo>
                  <a:lnTo>
                    <a:pt x="237820" y="241973"/>
                  </a:lnTo>
                  <a:lnTo>
                    <a:pt x="250609" y="260921"/>
                  </a:lnTo>
                  <a:lnTo>
                    <a:pt x="269570" y="273710"/>
                  </a:lnTo>
                  <a:lnTo>
                    <a:pt x="292785" y="278396"/>
                  </a:lnTo>
                  <a:lnTo>
                    <a:pt x="316001" y="273710"/>
                  </a:lnTo>
                  <a:lnTo>
                    <a:pt x="334962" y="260921"/>
                  </a:lnTo>
                  <a:lnTo>
                    <a:pt x="347738" y="241973"/>
                  </a:lnTo>
                  <a:lnTo>
                    <a:pt x="352425" y="218757"/>
                  </a:lnTo>
                  <a:lnTo>
                    <a:pt x="350875" y="211112"/>
                  </a:lnTo>
                  <a:lnTo>
                    <a:pt x="354025" y="19551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648003" y="1620008"/>
                  </a:moveTo>
                  <a:lnTo>
                    <a:pt x="644490" y="1572129"/>
                  </a:lnTo>
                  <a:lnTo>
                    <a:pt x="634285" y="1526431"/>
                  </a:lnTo>
                  <a:lnTo>
                    <a:pt x="617890" y="1483416"/>
                  </a:lnTo>
                  <a:lnTo>
                    <a:pt x="595805" y="1443585"/>
                  </a:lnTo>
                  <a:lnTo>
                    <a:pt x="568531" y="1407438"/>
                  </a:lnTo>
                  <a:lnTo>
                    <a:pt x="536571" y="1375478"/>
                  </a:lnTo>
                  <a:lnTo>
                    <a:pt x="500424" y="1348205"/>
                  </a:lnTo>
                  <a:lnTo>
                    <a:pt x="460593" y="1326120"/>
                  </a:lnTo>
                  <a:lnTo>
                    <a:pt x="417578" y="1309724"/>
                  </a:lnTo>
                  <a:lnTo>
                    <a:pt x="371880" y="1299519"/>
                  </a:lnTo>
                  <a:lnTo>
                    <a:pt x="324001" y="1296006"/>
                  </a:lnTo>
                  <a:lnTo>
                    <a:pt x="276122" y="1299519"/>
                  </a:lnTo>
                  <a:lnTo>
                    <a:pt x="230424" y="1309724"/>
                  </a:lnTo>
                  <a:lnTo>
                    <a:pt x="187409" y="1326120"/>
                  </a:lnTo>
                  <a:lnTo>
                    <a:pt x="147578" y="1348205"/>
                  </a:lnTo>
                  <a:lnTo>
                    <a:pt x="111431" y="1375478"/>
                  </a:lnTo>
                  <a:lnTo>
                    <a:pt x="79471" y="1407438"/>
                  </a:lnTo>
                  <a:lnTo>
                    <a:pt x="52198" y="1443585"/>
                  </a:lnTo>
                  <a:lnTo>
                    <a:pt x="30113" y="1483416"/>
                  </a:lnTo>
                  <a:lnTo>
                    <a:pt x="13717" y="1526431"/>
                  </a:lnTo>
                  <a:lnTo>
                    <a:pt x="3512" y="1572129"/>
                  </a:lnTo>
                  <a:lnTo>
                    <a:pt x="0" y="1620008"/>
                  </a:lnTo>
                  <a:lnTo>
                    <a:pt x="3512" y="1667887"/>
                  </a:lnTo>
                  <a:lnTo>
                    <a:pt x="13717" y="1713585"/>
                  </a:lnTo>
                  <a:lnTo>
                    <a:pt x="30113" y="1756600"/>
                  </a:lnTo>
                  <a:lnTo>
                    <a:pt x="52198" y="1796431"/>
                  </a:lnTo>
                  <a:lnTo>
                    <a:pt x="79471" y="1832578"/>
                  </a:lnTo>
                  <a:lnTo>
                    <a:pt x="111431" y="1864538"/>
                  </a:lnTo>
                  <a:lnTo>
                    <a:pt x="147578" y="1891812"/>
                  </a:lnTo>
                  <a:lnTo>
                    <a:pt x="187409" y="1913897"/>
                  </a:lnTo>
                  <a:lnTo>
                    <a:pt x="230424" y="1930292"/>
                  </a:lnTo>
                  <a:lnTo>
                    <a:pt x="276122" y="1940497"/>
                  </a:lnTo>
                  <a:lnTo>
                    <a:pt x="324001" y="1944010"/>
                  </a:lnTo>
                  <a:lnTo>
                    <a:pt x="371880" y="1940497"/>
                  </a:lnTo>
                  <a:lnTo>
                    <a:pt x="417578" y="1930292"/>
                  </a:lnTo>
                  <a:lnTo>
                    <a:pt x="460593" y="1913897"/>
                  </a:lnTo>
                  <a:lnTo>
                    <a:pt x="500424" y="1891812"/>
                  </a:lnTo>
                  <a:lnTo>
                    <a:pt x="536571" y="1864538"/>
                  </a:lnTo>
                  <a:lnTo>
                    <a:pt x="568531" y="1832578"/>
                  </a:lnTo>
                  <a:lnTo>
                    <a:pt x="595805" y="1796431"/>
                  </a:lnTo>
                  <a:lnTo>
                    <a:pt x="617890" y="1756600"/>
                  </a:lnTo>
                  <a:lnTo>
                    <a:pt x="634285" y="1713585"/>
                  </a:lnTo>
                  <a:lnTo>
                    <a:pt x="644490" y="1667887"/>
                  </a:lnTo>
                  <a:lnTo>
                    <a:pt x="648003" y="1620008"/>
                  </a:lnTo>
                  <a:close/>
                </a:path>
                <a:path w="1944370" h="1944370">
                  <a:moveTo>
                    <a:pt x="1782009" y="1620008"/>
                  </a:moveTo>
                  <a:lnTo>
                    <a:pt x="1778496" y="1572129"/>
                  </a:lnTo>
                  <a:lnTo>
                    <a:pt x="1768291" y="1526431"/>
                  </a:lnTo>
                  <a:lnTo>
                    <a:pt x="1751896" y="1483416"/>
                  </a:lnTo>
                  <a:lnTo>
                    <a:pt x="1729811" y="1443585"/>
                  </a:lnTo>
                  <a:lnTo>
                    <a:pt x="1702537" y="1407438"/>
                  </a:lnTo>
                  <a:lnTo>
                    <a:pt x="1670577" y="1375478"/>
                  </a:lnTo>
                  <a:lnTo>
                    <a:pt x="1634430" y="1348205"/>
                  </a:lnTo>
                  <a:lnTo>
                    <a:pt x="1594599" y="1326120"/>
                  </a:lnTo>
                  <a:lnTo>
                    <a:pt x="1551584" y="1309724"/>
                  </a:lnTo>
                  <a:lnTo>
                    <a:pt x="1505886" y="1299519"/>
                  </a:lnTo>
                  <a:lnTo>
                    <a:pt x="1458007" y="1296006"/>
                  </a:lnTo>
                  <a:lnTo>
                    <a:pt x="1410128" y="1299519"/>
                  </a:lnTo>
                  <a:lnTo>
                    <a:pt x="1364430" y="1309724"/>
                  </a:lnTo>
                  <a:lnTo>
                    <a:pt x="1321415" y="1326120"/>
                  </a:lnTo>
                  <a:lnTo>
                    <a:pt x="1281584" y="1348205"/>
                  </a:lnTo>
                  <a:lnTo>
                    <a:pt x="1245437" y="1375478"/>
                  </a:lnTo>
                  <a:lnTo>
                    <a:pt x="1213477" y="1407438"/>
                  </a:lnTo>
                  <a:lnTo>
                    <a:pt x="1186204" y="1443585"/>
                  </a:lnTo>
                  <a:lnTo>
                    <a:pt x="1164119" y="1483416"/>
                  </a:lnTo>
                  <a:lnTo>
                    <a:pt x="1147723" y="1526431"/>
                  </a:lnTo>
                  <a:lnTo>
                    <a:pt x="1137518" y="1572129"/>
                  </a:lnTo>
                  <a:lnTo>
                    <a:pt x="1134005" y="1620008"/>
                  </a:lnTo>
                  <a:lnTo>
                    <a:pt x="1137518" y="1667887"/>
                  </a:lnTo>
                  <a:lnTo>
                    <a:pt x="1147723" y="1713585"/>
                  </a:lnTo>
                  <a:lnTo>
                    <a:pt x="1164119" y="1756600"/>
                  </a:lnTo>
                  <a:lnTo>
                    <a:pt x="1186204" y="1796431"/>
                  </a:lnTo>
                  <a:lnTo>
                    <a:pt x="1213477" y="1832578"/>
                  </a:lnTo>
                  <a:lnTo>
                    <a:pt x="1245437" y="1864538"/>
                  </a:lnTo>
                  <a:lnTo>
                    <a:pt x="1281584" y="1891812"/>
                  </a:lnTo>
                  <a:lnTo>
                    <a:pt x="1321415" y="1913897"/>
                  </a:lnTo>
                  <a:lnTo>
                    <a:pt x="1364430" y="1930292"/>
                  </a:lnTo>
                  <a:lnTo>
                    <a:pt x="1410128" y="1940497"/>
                  </a:lnTo>
                  <a:lnTo>
                    <a:pt x="1458007" y="1944010"/>
                  </a:lnTo>
                  <a:lnTo>
                    <a:pt x="1505886" y="1940497"/>
                  </a:lnTo>
                  <a:lnTo>
                    <a:pt x="1551584" y="1930292"/>
                  </a:lnTo>
                  <a:lnTo>
                    <a:pt x="1594599" y="1913897"/>
                  </a:lnTo>
                  <a:lnTo>
                    <a:pt x="1634430" y="1891812"/>
                  </a:lnTo>
                  <a:lnTo>
                    <a:pt x="1670577" y="1864538"/>
                  </a:lnTo>
                  <a:lnTo>
                    <a:pt x="1702537" y="1832578"/>
                  </a:lnTo>
                  <a:lnTo>
                    <a:pt x="1729811" y="1796431"/>
                  </a:lnTo>
                  <a:lnTo>
                    <a:pt x="1751896" y="1756600"/>
                  </a:lnTo>
                  <a:lnTo>
                    <a:pt x="1768291" y="1713585"/>
                  </a:lnTo>
                  <a:lnTo>
                    <a:pt x="1778496" y="1667887"/>
                  </a:lnTo>
                  <a:lnTo>
                    <a:pt x="1782009" y="1620008"/>
                  </a:lnTo>
                  <a:close/>
                </a:path>
                <a:path w="1944370" h="1944370">
                  <a:moveTo>
                    <a:pt x="810004" y="486002"/>
                  </a:moveTo>
                  <a:lnTo>
                    <a:pt x="806491" y="438123"/>
                  </a:lnTo>
                  <a:lnTo>
                    <a:pt x="796286" y="392425"/>
                  </a:lnTo>
                  <a:lnTo>
                    <a:pt x="779891" y="349410"/>
                  </a:lnTo>
                  <a:lnTo>
                    <a:pt x="757806" y="309579"/>
                  </a:lnTo>
                  <a:lnTo>
                    <a:pt x="730532" y="273432"/>
                  </a:lnTo>
                  <a:lnTo>
                    <a:pt x="698572" y="241472"/>
                  </a:lnTo>
                  <a:lnTo>
                    <a:pt x="662425" y="214199"/>
                  </a:lnTo>
                  <a:lnTo>
                    <a:pt x="622594" y="192114"/>
                  </a:lnTo>
                  <a:lnTo>
                    <a:pt x="579579" y="175718"/>
                  </a:lnTo>
                  <a:lnTo>
                    <a:pt x="533881" y="165513"/>
                  </a:lnTo>
                  <a:lnTo>
                    <a:pt x="486002" y="162000"/>
                  </a:lnTo>
                  <a:lnTo>
                    <a:pt x="438123" y="165513"/>
                  </a:lnTo>
                  <a:lnTo>
                    <a:pt x="392425" y="175718"/>
                  </a:lnTo>
                  <a:lnTo>
                    <a:pt x="349410" y="192114"/>
                  </a:lnTo>
                  <a:lnTo>
                    <a:pt x="309579" y="214199"/>
                  </a:lnTo>
                  <a:lnTo>
                    <a:pt x="273432" y="241472"/>
                  </a:lnTo>
                  <a:lnTo>
                    <a:pt x="241472" y="273432"/>
                  </a:lnTo>
                  <a:lnTo>
                    <a:pt x="214199" y="309579"/>
                  </a:lnTo>
                  <a:lnTo>
                    <a:pt x="192114" y="349410"/>
                  </a:lnTo>
                  <a:lnTo>
                    <a:pt x="175718" y="392425"/>
                  </a:lnTo>
                  <a:lnTo>
                    <a:pt x="165513" y="438123"/>
                  </a:lnTo>
                  <a:lnTo>
                    <a:pt x="162000" y="486002"/>
                  </a:lnTo>
                  <a:lnTo>
                    <a:pt x="165513" y="533881"/>
                  </a:lnTo>
                  <a:lnTo>
                    <a:pt x="175718" y="579579"/>
                  </a:lnTo>
                  <a:lnTo>
                    <a:pt x="192114" y="622594"/>
                  </a:lnTo>
                  <a:lnTo>
                    <a:pt x="214199" y="662425"/>
                  </a:lnTo>
                  <a:lnTo>
                    <a:pt x="241472" y="698572"/>
                  </a:lnTo>
                  <a:lnTo>
                    <a:pt x="273432" y="730532"/>
                  </a:lnTo>
                  <a:lnTo>
                    <a:pt x="309579" y="757806"/>
                  </a:lnTo>
                  <a:lnTo>
                    <a:pt x="349410" y="779891"/>
                  </a:lnTo>
                  <a:lnTo>
                    <a:pt x="392425" y="796286"/>
                  </a:lnTo>
                  <a:lnTo>
                    <a:pt x="438123" y="806491"/>
                  </a:lnTo>
                  <a:lnTo>
                    <a:pt x="486002" y="810004"/>
                  </a:lnTo>
                  <a:lnTo>
                    <a:pt x="533881" y="806491"/>
                  </a:lnTo>
                  <a:lnTo>
                    <a:pt x="579579" y="796286"/>
                  </a:lnTo>
                  <a:lnTo>
                    <a:pt x="622594" y="779891"/>
                  </a:lnTo>
                  <a:lnTo>
                    <a:pt x="662425" y="757806"/>
                  </a:lnTo>
                  <a:lnTo>
                    <a:pt x="698572" y="730532"/>
                  </a:lnTo>
                  <a:lnTo>
                    <a:pt x="730532" y="698572"/>
                  </a:lnTo>
                  <a:lnTo>
                    <a:pt x="757806" y="662425"/>
                  </a:lnTo>
                  <a:lnTo>
                    <a:pt x="779891" y="622594"/>
                  </a:lnTo>
                  <a:lnTo>
                    <a:pt x="796286" y="579579"/>
                  </a:lnTo>
                  <a:lnTo>
                    <a:pt x="806491" y="533881"/>
                  </a:lnTo>
                  <a:lnTo>
                    <a:pt x="810004" y="486002"/>
                  </a:lnTo>
                  <a:close/>
                </a:path>
                <a:path w="1944370" h="1944370">
                  <a:moveTo>
                    <a:pt x="1944010" y="324001"/>
                  </a:moveTo>
                  <a:lnTo>
                    <a:pt x="1940497" y="276122"/>
                  </a:lnTo>
                  <a:lnTo>
                    <a:pt x="1930292" y="230424"/>
                  </a:lnTo>
                  <a:lnTo>
                    <a:pt x="1913897" y="187409"/>
                  </a:lnTo>
                  <a:lnTo>
                    <a:pt x="1891812" y="147578"/>
                  </a:lnTo>
                  <a:lnTo>
                    <a:pt x="1864538" y="111431"/>
                  </a:lnTo>
                  <a:lnTo>
                    <a:pt x="1832578" y="79471"/>
                  </a:lnTo>
                  <a:lnTo>
                    <a:pt x="1796431" y="52198"/>
                  </a:lnTo>
                  <a:lnTo>
                    <a:pt x="1756600" y="30113"/>
                  </a:lnTo>
                  <a:lnTo>
                    <a:pt x="1713585" y="13717"/>
                  </a:lnTo>
                  <a:lnTo>
                    <a:pt x="1667887" y="3512"/>
                  </a:lnTo>
                  <a:lnTo>
                    <a:pt x="1620008" y="0"/>
                  </a:lnTo>
                  <a:lnTo>
                    <a:pt x="1572129" y="3512"/>
                  </a:lnTo>
                  <a:lnTo>
                    <a:pt x="1526431" y="13717"/>
                  </a:lnTo>
                  <a:lnTo>
                    <a:pt x="1483416" y="30113"/>
                  </a:lnTo>
                  <a:lnTo>
                    <a:pt x="1443585" y="52198"/>
                  </a:lnTo>
                  <a:lnTo>
                    <a:pt x="1407438" y="79471"/>
                  </a:lnTo>
                  <a:lnTo>
                    <a:pt x="1375478" y="111431"/>
                  </a:lnTo>
                  <a:lnTo>
                    <a:pt x="1348205" y="147578"/>
                  </a:lnTo>
                  <a:lnTo>
                    <a:pt x="1326120" y="187409"/>
                  </a:lnTo>
                  <a:lnTo>
                    <a:pt x="1309724" y="230424"/>
                  </a:lnTo>
                  <a:lnTo>
                    <a:pt x="1299519" y="276122"/>
                  </a:lnTo>
                  <a:lnTo>
                    <a:pt x="1296006" y="324001"/>
                  </a:lnTo>
                  <a:lnTo>
                    <a:pt x="1299519" y="371880"/>
                  </a:lnTo>
                  <a:lnTo>
                    <a:pt x="1309724" y="417578"/>
                  </a:lnTo>
                  <a:lnTo>
                    <a:pt x="1326120" y="460593"/>
                  </a:lnTo>
                  <a:lnTo>
                    <a:pt x="1348205" y="500424"/>
                  </a:lnTo>
                  <a:lnTo>
                    <a:pt x="1375478" y="536571"/>
                  </a:lnTo>
                  <a:lnTo>
                    <a:pt x="1407438" y="568531"/>
                  </a:lnTo>
                  <a:lnTo>
                    <a:pt x="1443585" y="595805"/>
                  </a:lnTo>
                  <a:lnTo>
                    <a:pt x="1483416" y="617890"/>
                  </a:lnTo>
                  <a:lnTo>
                    <a:pt x="1526431" y="634285"/>
                  </a:lnTo>
                  <a:lnTo>
                    <a:pt x="1572129" y="644490"/>
                  </a:lnTo>
                  <a:lnTo>
                    <a:pt x="1620008" y="648003"/>
                  </a:lnTo>
                  <a:lnTo>
                    <a:pt x="1667887" y="644490"/>
                  </a:lnTo>
                  <a:lnTo>
                    <a:pt x="1713585" y="634285"/>
                  </a:lnTo>
                  <a:lnTo>
                    <a:pt x="1756600" y="617890"/>
                  </a:lnTo>
                  <a:lnTo>
                    <a:pt x="1796431" y="595805"/>
                  </a:lnTo>
                  <a:lnTo>
                    <a:pt x="1832578" y="568531"/>
                  </a:lnTo>
                  <a:lnTo>
                    <a:pt x="1864538" y="536571"/>
                  </a:lnTo>
                  <a:lnTo>
                    <a:pt x="1891812" y="500424"/>
                  </a:lnTo>
                  <a:lnTo>
                    <a:pt x="1913897" y="460593"/>
                  </a:lnTo>
                  <a:lnTo>
                    <a:pt x="1930292" y="417578"/>
                  </a:lnTo>
                  <a:lnTo>
                    <a:pt x="1940497" y="371880"/>
                  </a:lnTo>
                  <a:lnTo>
                    <a:pt x="1944010" y="324001"/>
                  </a:lnTo>
                  <a:close/>
                </a:path>
              </a:pathLst>
            </a:custGeom>
            <a:ln w="10122">
              <a:solidFill>
                <a:srgbClr val="3399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91265" y="2200218"/>
              <a:ext cx="119286" cy="11928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326906" y="639853"/>
            <a:ext cx="1944370" cy="194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753266" y="904211"/>
            <a:ext cx="1253490" cy="1415415"/>
            <a:chOff x="3753266" y="904211"/>
            <a:chExt cx="1253490" cy="1415415"/>
          </a:xfrm>
        </p:grpSpPr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25271" y="2200218"/>
              <a:ext cx="119286" cy="11928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87272" y="904211"/>
              <a:ext cx="119286" cy="11928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53266" y="1066212"/>
              <a:ext cx="119286" cy="11928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637432" y="2678259"/>
            <a:ext cx="1323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K-</a:t>
            </a:r>
            <a:r>
              <a:rPr sz="900" spc="-45" dirty="0">
                <a:latin typeface="Arial MT"/>
                <a:cs typeface="Arial MT"/>
              </a:rPr>
              <a:t>means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Clustering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8" name="object 4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 dirty="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 dirty="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Process: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47" y="1425450"/>
            <a:ext cx="104301" cy="1043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8404" y="14160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300" y="1336973"/>
            <a:ext cx="200088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K</a:t>
            </a:r>
            <a:r>
              <a:rPr sz="1050" i="1" spc="15" baseline="-11904" dirty="0">
                <a:latin typeface="Arial"/>
                <a:cs typeface="Arial"/>
              </a:rPr>
              <a:t>initial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10" dirty="0">
                <a:latin typeface="Lucida Sans Unicode"/>
                <a:cs typeface="Lucida Sans Unicode"/>
              </a:rPr>
              <a:t>⌈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N</a:t>
            </a:r>
            <a:r>
              <a:rPr sz="1050" i="1" spc="15" baseline="-11904" dirty="0">
                <a:latin typeface="Arial"/>
                <a:cs typeface="Arial"/>
              </a:rPr>
              <a:t>U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r>
              <a:rPr sz="1000" spc="50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Cluster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K-means </a:t>
            </a:r>
            <a:r>
              <a:rPr sz="1000" spc="-10" dirty="0">
                <a:latin typeface="Tahoma"/>
                <a:cs typeface="Tahoma"/>
              </a:rPr>
              <a:t>Position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 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cluster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centroid: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47" y="1615239"/>
            <a:ext cx="104301" cy="1043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8404" y="160586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747" y="1805028"/>
            <a:ext cx="104301" cy="1043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8404" y="17956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3393" y="2119162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0450" y="2062218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0680" y="2169820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42580" y="1937099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3532" y="2252360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4535" y="1942025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x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0747" y="2131811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393" y="2516571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0450" y="2459639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y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0680" y="2567228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42580" y="2334507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3532" y="2649781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4535" y="2339433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y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20747" y="2529220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747" y="2920380"/>
            <a:ext cx="104301" cy="1043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88404" y="291100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4700" y="2869862"/>
            <a:ext cx="19551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Update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35" dirty="0">
                <a:latin typeface="Arial"/>
                <a:cs typeface="Arial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service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coverage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5747" y="3110169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88404" y="310078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7400" y="3102843"/>
            <a:ext cx="130492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35" dirty="0">
                <a:latin typeface="Tahoma"/>
                <a:cs typeface="Tahoma"/>
              </a:rPr>
              <a:t>Iterate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until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convergence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21826" y="634773"/>
            <a:ext cx="1954530" cy="1954530"/>
            <a:chOff x="3321826" y="634773"/>
            <a:chExt cx="1954530" cy="1954530"/>
          </a:xfrm>
        </p:grpSpPr>
        <p:sp>
          <p:nvSpPr>
            <p:cNvPr id="35" name="object 35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0" y="1944010"/>
                  </a:moveTo>
                  <a:lnTo>
                    <a:pt x="0" y="0"/>
                  </a:lnTo>
                  <a:lnTo>
                    <a:pt x="1944010" y="0"/>
                  </a:lnTo>
                  <a:lnTo>
                    <a:pt x="1944010" y="1944010"/>
                  </a:lnTo>
                  <a:lnTo>
                    <a:pt x="0" y="1944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90988" y="2070857"/>
              <a:ext cx="359573" cy="33497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9144" y="2354269"/>
              <a:ext cx="119286" cy="1192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748111" y="2108085"/>
              <a:ext cx="190500" cy="132715"/>
            </a:xfrm>
            <a:custGeom>
              <a:avLst/>
              <a:gdLst/>
              <a:ahLst/>
              <a:cxnLst/>
              <a:rect l="l" t="t" r="r" b="b"/>
              <a:pathLst>
                <a:path w="190500" h="132714">
                  <a:moveTo>
                    <a:pt x="190322" y="59639"/>
                  </a:moveTo>
                  <a:lnTo>
                    <a:pt x="185635" y="36423"/>
                  </a:lnTo>
                  <a:lnTo>
                    <a:pt x="172859" y="17462"/>
                  </a:lnTo>
                  <a:lnTo>
                    <a:pt x="153898" y="4686"/>
                  </a:lnTo>
                  <a:lnTo>
                    <a:pt x="130683" y="0"/>
                  </a:lnTo>
                  <a:lnTo>
                    <a:pt x="107467" y="4686"/>
                  </a:lnTo>
                  <a:lnTo>
                    <a:pt x="88506" y="17462"/>
                  </a:lnTo>
                  <a:lnTo>
                    <a:pt x="86563" y="20345"/>
                  </a:lnTo>
                  <a:lnTo>
                    <a:pt x="82854" y="17843"/>
                  </a:lnTo>
                  <a:lnTo>
                    <a:pt x="59639" y="13157"/>
                  </a:lnTo>
                  <a:lnTo>
                    <a:pt x="36423" y="17843"/>
                  </a:lnTo>
                  <a:lnTo>
                    <a:pt x="17462" y="30632"/>
                  </a:lnTo>
                  <a:lnTo>
                    <a:pt x="4686" y="49593"/>
                  </a:lnTo>
                  <a:lnTo>
                    <a:pt x="0" y="72809"/>
                  </a:lnTo>
                  <a:lnTo>
                    <a:pt x="4686" y="96024"/>
                  </a:lnTo>
                  <a:lnTo>
                    <a:pt x="17462" y="114973"/>
                  </a:lnTo>
                  <a:lnTo>
                    <a:pt x="36423" y="127762"/>
                  </a:lnTo>
                  <a:lnTo>
                    <a:pt x="59639" y="132448"/>
                  </a:lnTo>
                  <a:lnTo>
                    <a:pt x="82854" y="127762"/>
                  </a:lnTo>
                  <a:lnTo>
                    <a:pt x="101815" y="114973"/>
                  </a:lnTo>
                  <a:lnTo>
                    <a:pt x="103759" y="112102"/>
                  </a:lnTo>
                  <a:lnTo>
                    <a:pt x="107467" y="114592"/>
                  </a:lnTo>
                  <a:lnTo>
                    <a:pt x="130683" y="119278"/>
                  </a:lnTo>
                  <a:lnTo>
                    <a:pt x="153898" y="114592"/>
                  </a:lnTo>
                  <a:lnTo>
                    <a:pt x="172859" y="101815"/>
                  </a:lnTo>
                  <a:lnTo>
                    <a:pt x="185635" y="82854"/>
                  </a:lnTo>
                  <a:lnTo>
                    <a:pt x="190322" y="596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40720" y="2290656"/>
              <a:ext cx="119286" cy="11928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722720" y="2078638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7"/>
                  </a:lnTo>
                  <a:lnTo>
                    <a:pt x="17468" y="17468"/>
                  </a:lnTo>
                  <a:lnTo>
                    <a:pt x="4686" y="36427"/>
                  </a:lnTo>
                  <a:lnTo>
                    <a:pt x="0" y="59643"/>
                  </a:lnTo>
                  <a:lnTo>
                    <a:pt x="4686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7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03585" y="1005403"/>
              <a:ext cx="301013" cy="25385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7038" y="901057"/>
              <a:ext cx="119286" cy="11928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24331" y="753567"/>
              <a:ext cx="199213" cy="27202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648003" y="1620008"/>
                  </a:moveTo>
                  <a:lnTo>
                    <a:pt x="644490" y="1572129"/>
                  </a:lnTo>
                  <a:lnTo>
                    <a:pt x="634285" y="1526431"/>
                  </a:lnTo>
                  <a:lnTo>
                    <a:pt x="617890" y="1483416"/>
                  </a:lnTo>
                  <a:lnTo>
                    <a:pt x="595805" y="1443585"/>
                  </a:lnTo>
                  <a:lnTo>
                    <a:pt x="568531" y="1407438"/>
                  </a:lnTo>
                  <a:lnTo>
                    <a:pt x="536571" y="1375478"/>
                  </a:lnTo>
                  <a:lnTo>
                    <a:pt x="500424" y="1348205"/>
                  </a:lnTo>
                  <a:lnTo>
                    <a:pt x="460593" y="1326120"/>
                  </a:lnTo>
                  <a:lnTo>
                    <a:pt x="417578" y="1309724"/>
                  </a:lnTo>
                  <a:lnTo>
                    <a:pt x="371880" y="1299519"/>
                  </a:lnTo>
                  <a:lnTo>
                    <a:pt x="324001" y="1296006"/>
                  </a:lnTo>
                  <a:lnTo>
                    <a:pt x="276122" y="1299519"/>
                  </a:lnTo>
                  <a:lnTo>
                    <a:pt x="230424" y="1309724"/>
                  </a:lnTo>
                  <a:lnTo>
                    <a:pt x="187409" y="1326120"/>
                  </a:lnTo>
                  <a:lnTo>
                    <a:pt x="147578" y="1348205"/>
                  </a:lnTo>
                  <a:lnTo>
                    <a:pt x="111431" y="1375478"/>
                  </a:lnTo>
                  <a:lnTo>
                    <a:pt x="79471" y="1407438"/>
                  </a:lnTo>
                  <a:lnTo>
                    <a:pt x="52198" y="1443585"/>
                  </a:lnTo>
                  <a:lnTo>
                    <a:pt x="30113" y="1483416"/>
                  </a:lnTo>
                  <a:lnTo>
                    <a:pt x="13717" y="1526431"/>
                  </a:lnTo>
                  <a:lnTo>
                    <a:pt x="3512" y="1572129"/>
                  </a:lnTo>
                  <a:lnTo>
                    <a:pt x="0" y="1620008"/>
                  </a:lnTo>
                  <a:lnTo>
                    <a:pt x="3512" y="1667887"/>
                  </a:lnTo>
                  <a:lnTo>
                    <a:pt x="13717" y="1713585"/>
                  </a:lnTo>
                  <a:lnTo>
                    <a:pt x="30113" y="1756600"/>
                  </a:lnTo>
                  <a:lnTo>
                    <a:pt x="52198" y="1796431"/>
                  </a:lnTo>
                  <a:lnTo>
                    <a:pt x="79471" y="1832578"/>
                  </a:lnTo>
                  <a:lnTo>
                    <a:pt x="111431" y="1864538"/>
                  </a:lnTo>
                  <a:lnTo>
                    <a:pt x="147578" y="1891812"/>
                  </a:lnTo>
                  <a:lnTo>
                    <a:pt x="187409" y="1913897"/>
                  </a:lnTo>
                  <a:lnTo>
                    <a:pt x="230424" y="1930292"/>
                  </a:lnTo>
                  <a:lnTo>
                    <a:pt x="276122" y="1940497"/>
                  </a:lnTo>
                  <a:lnTo>
                    <a:pt x="324001" y="1944010"/>
                  </a:lnTo>
                  <a:lnTo>
                    <a:pt x="371880" y="1940497"/>
                  </a:lnTo>
                  <a:lnTo>
                    <a:pt x="417578" y="1930292"/>
                  </a:lnTo>
                  <a:lnTo>
                    <a:pt x="460593" y="1913897"/>
                  </a:lnTo>
                  <a:lnTo>
                    <a:pt x="500424" y="1891812"/>
                  </a:lnTo>
                  <a:lnTo>
                    <a:pt x="536571" y="1864538"/>
                  </a:lnTo>
                  <a:lnTo>
                    <a:pt x="568531" y="1832578"/>
                  </a:lnTo>
                  <a:lnTo>
                    <a:pt x="595805" y="1796431"/>
                  </a:lnTo>
                  <a:lnTo>
                    <a:pt x="617890" y="1756600"/>
                  </a:lnTo>
                  <a:lnTo>
                    <a:pt x="634285" y="1713585"/>
                  </a:lnTo>
                  <a:lnTo>
                    <a:pt x="644490" y="1667887"/>
                  </a:lnTo>
                  <a:lnTo>
                    <a:pt x="648003" y="1620008"/>
                  </a:lnTo>
                  <a:close/>
                </a:path>
                <a:path w="1944370" h="1944370">
                  <a:moveTo>
                    <a:pt x="1782009" y="1620008"/>
                  </a:moveTo>
                  <a:lnTo>
                    <a:pt x="1778496" y="1572129"/>
                  </a:lnTo>
                  <a:lnTo>
                    <a:pt x="1768291" y="1526431"/>
                  </a:lnTo>
                  <a:lnTo>
                    <a:pt x="1751896" y="1483416"/>
                  </a:lnTo>
                  <a:lnTo>
                    <a:pt x="1729811" y="1443585"/>
                  </a:lnTo>
                  <a:lnTo>
                    <a:pt x="1702537" y="1407438"/>
                  </a:lnTo>
                  <a:lnTo>
                    <a:pt x="1670577" y="1375478"/>
                  </a:lnTo>
                  <a:lnTo>
                    <a:pt x="1634430" y="1348205"/>
                  </a:lnTo>
                  <a:lnTo>
                    <a:pt x="1594599" y="1326120"/>
                  </a:lnTo>
                  <a:lnTo>
                    <a:pt x="1551584" y="1309724"/>
                  </a:lnTo>
                  <a:lnTo>
                    <a:pt x="1505886" y="1299519"/>
                  </a:lnTo>
                  <a:lnTo>
                    <a:pt x="1458007" y="1296006"/>
                  </a:lnTo>
                  <a:lnTo>
                    <a:pt x="1410128" y="1299519"/>
                  </a:lnTo>
                  <a:lnTo>
                    <a:pt x="1364430" y="1309724"/>
                  </a:lnTo>
                  <a:lnTo>
                    <a:pt x="1321415" y="1326120"/>
                  </a:lnTo>
                  <a:lnTo>
                    <a:pt x="1281584" y="1348205"/>
                  </a:lnTo>
                  <a:lnTo>
                    <a:pt x="1245437" y="1375478"/>
                  </a:lnTo>
                  <a:lnTo>
                    <a:pt x="1213477" y="1407438"/>
                  </a:lnTo>
                  <a:lnTo>
                    <a:pt x="1186204" y="1443585"/>
                  </a:lnTo>
                  <a:lnTo>
                    <a:pt x="1164119" y="1483416"/>
                  </a:lnTo>
                  <a:lnTo>
                    <a:pt x="1147723" y="1526431"/>
                  </a:lnTo>
                  <a:lnTo>
                    <a:pt x="1137518" y="1572129"/>
                  </a:lnTo>
                  <a:lnTo>
                    <a:pt x="1134005" y="1620008"/>
                  </a:lnTo>
                  <a:lnTo>
                    <a:pt x="1137518" y="1667887"/>
                  </a:lnTo>
                  <a:lnTo>
                    <a:pt x="1147723" y="1713585"/>
                  </a:lnTo>
                  <a:lnTo>
                    <a:pt x="1164119" y="1756600"/>
                  </a:lnTo>
                  <a:lnTo>
                    <a:pt x="1186204" y="1796431"/>
                  </a:lnTo>
                  <a:lnTo>
                    <a:pt x="1213477" y="1832578"/>
                  </a:lnTo>
                  <a:lnTo>
                    <a:pt x="1245437" y="1864538"/>
                  </a:lnTo>
                  <a:lnTo>
                    <a:pt x="1281584" y="1891812"/>
                  </a:lnTo>
                  <a:lnTo>
                    <a:pt x="1321415" y="1913897"/>
                  </a:lnTo>
                  <a:lnTo>
                    <a:pt x="1364430" y="1930292"/>
                  </a:lnTo>
                  <a:lnTo>
                    <a:pt x="1410128" y="1940497"/>
                  </a:lnTo>
                  <a:lnTo>
                    <a:pt x="1458007" y="1944010"/>
                  </a:lnTo>
                  <a:lnTo>
                    <a:pt x="1505886" y="1940497"/>
                  </a:lnTo>
                  <a:lnTo>
                    <a:pt x="1551584" y="1930292"/>
                  </a:lnTo>
                  <a:lnTo>
                    <a:pt x="1594599" y="1913897"/>
                  </a:lnTo>
                  <a:lnTo>
                    <a:pt x="1634430" y="1891812"/>
                  </a:lnTo>
                  <a:lnTo>
                    <a:pt x="1670577" y="1864538"/>
                  </a:lnTo>
                  <a:lnTo>
                    <a:pt x="1702537" y="1832578"/>
                  </a:lnTo>
                  <a:lnTo>
                    <a:pt x="1729811" y="1796431"/>
                  </a:lnTo>
                  <a:lnTo>
                    <a:pt x="1751896" y="1756600"/>
                  </a:lnTo>
                  <a:lnTo>
                    <a:pt x="1768291" y="1713585"/>
                  </a:lnTo>
                  <a:lnTo>
                    <a:pt x="1778496" y="1667887"/>
                  </a:lnTo>
                  <a:lnTo>
                    <a:pt x="1782009" y="1620008"/>
                  </a:lnTo>
                  <a:close/>
                </a:path>
                <a:path w="1944370" h="1944370">
                  <a:moveTo>
                    <a:pt x="810004" y="486002"/>
                  </a:moveTo>
                  <a:lnTo>
                    <a:pt x="806491" y="438123"/>
                  </a:lnTo>
                  <a:lnTo>
                    <a:pt x="796286" y="392425"/>
                  </a:lnTo>
                  <a:lnTo>
                    <a:pt x="779891" y="349410"/>
                  </a:lnTo>
                  <a:lnTo>
                    <a:pt x="757806" y="309579"/>
                  </a:lnTo>
                  <a:lnTo>
                    <a:pt x="730532" y="273432"/>
                  </a:lnTo>
                  <a:lnTo>
                    <a:pt x="698572" y="241472"/>
                  </a:lnTo>
                  <a:lnTo>
                    <a:pt x="662425" y="214199"/>
                  </a:lnTo>
                  <a:lnTo>
                    <a:pt x="622594" y="192114"/>
                  </a:lnTo>
                  <a:lnTo>
                    <a:pt x="579579" y="175718"/>
                  </a:lnTo>
                  <a:lnTo>
                    <a:pt x="533881" y="165513"/>
                  </a:lnTo>
                  <a:lnTo>
                    <a:pt x="486002" y="162000"/>
                  </a:lnTo>
                  <a:lnTo>
                    <a:pt x="438123" y="165513"/>
                  </a:lnTo>
                  <a:lnTo>
                    <a:pt x="392425" y="175718"/>
                  </a:lnTo>
                  <a:lnTo>
                    <a:pt x="349410" y="192114"/>
                  </a:lnTo>
                  <a:lnTo>
                    <a:pt x="309579" y="214199"/>
                  </a:lnTo>
                  <a:lnTo>
                    <a:pt x="273432" y="241472"/>
                  </a:lnTo>
                  <a:lnTo>
                    <a:pt x="241472" y="273432"/>
                  </a:lnTo>
                  <a:lnTo>
                    <a:pt x="214199" y="309579"/>
                  </a:lnTo>
                  <a:lnTo>
                    <a:pt x="192114" y="349410"/>
                  </a:lnTo>
                  <a:lnTo>
                    <a:pt x="175718" y="392425"/>
                  </a:lnTo>
                  <a:lnTo>
                    <a:pt x="165513" y="438123"/>
                  </a:lnTo>
                  <a:lnTo>
                    <a:pt x="162000" y="486002"/>
                  </a:lnTo>
                  <a:lnTo>
                    <a:pt x="165513" y="533881"/>
                  </a:lnTo>
                  <a:lnTo>
                    <a:pt x="175718" y="579579"/>
                  </a:lnTo>
                  <a:lnTo>
                    <a:pt x="192114" y="622594"/>
                  </a:lnTo>
                  <a:lnTo>
                    <a:pt x="214199" y="662425"/>
                  </a:lnTo>
                  <a:lnTo>
                    <a:pt x="241472" y="698572"/>
                  </a:lnTo>
                  <a:lnTo>
                    <a:pt x="273432" y="730532"/>
                  </a:lnTo>
                  <a:lnTo>
                    <a:pt x="309579" y="757806"/>
                  </a:lnTo>
                  <a:lnTo>
                    <a:pt x="349410" y="779891"/>
                  </a:lnTo>
                  <a:lnTo>
                    <a:pt x="392425" y="796286"/>
                  </a:lnTo>
                  <a:lnTo>
                    <a:pt x="438123" y="806491"/>
                  </a:lnTo>
                  <a:lnTo>
                    <a:pt x="486002" y="810004"/>
                  </a:lnTo>
                  <a:lnTo>
                    <a:pt x="533881" y="806491"/>
                  </a:lnTo>
                  <a:lnTo>
                    <a:pt x="579579" y="796286"/>
                  </a:lnTo>
                  <a:lnTo>
                    <a:pt x="622594" y="779891"/>
                  </a:lnTo>
                  <a:lnTo>
                    <a:pt x="662425" y="757806"/>
                  </a:lnTo>
                  <a:lnTo>
                    <a:pt x="698572" y="730532"/>
                  </a:lnTo>
                  <a:lnTo>
                    <a:pt x="730532" y="698572"/>
                  </a:lnTo>
                  <a:lnTo>
                    <a:pt x="757806" y="662425"/>
                  </a:lnTo>
                  <a:lnTo>
                    <a:pt x="779891" y="622594"/>
                  </a:lnTo>
                  <a:lnTo>
                    <a:pt x="796286" y="579579"/>
                  </a:lnTo>
                  <a:lnTo>
                    <a:pt x="806491" y="533881"/>
                  </a:lnTo>
                  <a:lnTo>
                    <a:pt x="810004" y="486002"/>
                  </a:lnTo>
                  <a:close/>
                </a:path>
                <a:path w="1944370" h="1944370">
                  <a:moveTo>
                    <a:pt x="1944010" y="324001"/>
                  </a:moveTo>
                  <a:lnTo>
                    <a:pt x="1940497" y="276122"/>
                  </a:lnTo>
                  <a:lnTo>
                    <a:pt x="1930292" y="230424"/>
                  </a:lnTo>
                  <a:lnTo>
                    <a:pt x="1913897" y="187409"/>
                  </a:lnTo>
                  <a:lnTo>
                    <a:pt x="1891812" y="147578"/>
                  </a:lnTo>
                  <a:lnTo>
                    <a:pt x="1864538" y="111431"/>
                  </a:lnTo>
                  <a:lnTo>
                    <a:pt x="1832578" y="79471"/>
                  </a:lnTo>
                  <a:lnTo>
                    <a:pt x="1796431" y="52198"/>
                  </a:lnTo>
                  <a:lnTo>
                    <a:pt x="1756600" y="30113"/>
                  </a:lnTo>
                  <a:lnTo>
                    <a:pt x="1713585" y="13717"/>
                  </a:lnTo>
                  <a:lnTo>
                    <a:pt x="1667887" y="3512"/>
                  </a:lnTo>
                  <a:lnTo>
                    <a:pt x="1620008" y="0"/>
                  </a:lnTo>
                  <a:lnTo>
                    <a:pt x="1572129" y="3512"/>
                  </a:lnTo>
                  <a:lnTo>
                    <a:pt x="1526431" y="13717"/>
                  </a:lnTo>
                  <a:lnTo>
                    <a:pt x="1483416" y="30113"/>
                  </a:lnTo>
                  <a:lnTo>
                    <a:pt x="1443585" y="52198"/>
                  </a:lnTo>
                  <a:lnTo>
                    <a:pt x="1407438" y="79471"/>
                  </a:lnTo>
                  <a:lnTo>
                    <a:pt x="1375478" y="111431"/>
                  </a:lnTo>
                  <a:lnTo>
                    <a:pt x="1348205" y="147578"/>
                  </a:lnTo>
                  <a:lnTo>
                    <a:pt x="1326120" y="187409"/>
                  </a:lnTo>
                  <a:lnTo>
                    <a:pt x="1309724" y="230424"/>
                  </a:lnTo>
                  <a:lnTo>
                    <a:pt x="1299519" y="276122"/>
                  </a:lnTo>
                  <a:lnTo>
                    <a:pt x="1296006" y="324001"/>
                  </a:lnTo>
                  <a:lnTo>
                    <a:pt x="1299519" y="371880"/>
                  </a:lnTo>
                  <a:lnTo>
                    <a:pt x="1309724" y="417578"/>
                  </a:lnTo>
                  <a:lnTo>
                    <a:pt x="1326120" y="460593"/>
                  </a:lnTo>
                  <a:lnTo>
                    <a:pt x="1348205" y="500424"/>
                  </a:lnTo>
                  <a:lnTo>
                    <a:pt x="1375478" y="536571"/>
                  </a:lnTo>
                  <a:lnTo>
                    <a:pt x="1407438" y="568531"/>
                  </a:lnTo>
                  <a:lnTo>
                    <a:pt x="1443585" y="595805"/>
                  </a:lnTo>
                  <a:lnTo>
                    <a:pt x="1483416" y="617890"/>
                  </a:lnTo>
                  <a:lnTo>
                    <a:pt x="1526431" y="634285"/>
                  </a:lnTo>
                  <a:lnTo>
                    <a:pt x="1572129" y="644490"/>
                  </a:lnTo>
                  <a:lnTo>
                    <a:pt x="1620008" y="648003"/>
                  </a:lnTo>
                  <a:lnTo>
                    <a:pt x="1667887" y="644490"/>
                  </a:lnTo>
                  <a:lnTo>
                    <a:pt x="1713585" y="634285"/>
                  </a:lnTo>
                  <a:lnTo>
                    <a:pt x="1756600" y="617890"/>
                  </a:lnTo>
                  <a:lnTo>
                    <a:pt x="1796431" y="595805"/>
                  </a:lnTo>
                  <a:lnTo>
                    <a:pt x="1832578" y="568531"/>
                  </a:lnTo>
                  <a:lnTo>
                    <a:pt x="1864538" y="536571"/>
                  </a:lnTo>
                  <a:lnTo>
                    <a:pt x="1891812" y="500424"/>
                  </a:lnTo>
                  <a:lnTo>
                    <a:pt x="1913897" y="460593"/>
                  </a:lnTo>
                  <a:lnTo>
                    <a:pt x="1930292" y="417578"/>
                  </a:lnTo>
                  <a:lnTo>
                    <a:pt x="1940497" y="371880"/>
                  </a:lnTo>
                  <a:lnTo>
                    <a:pt x="1944010" y="324001"/>
                  </a:lnTo>
                  <a:close/>
                </a:path>
              </a:pathLst>
            </a:custGeom>
            <a:ln w="10122">
              <a:solidFill>
                <a:srgbClr val="3399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91265" y="2200218"/>
              <a:ext cx="119286" cy="11928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326906" y="639853"/>
            <a:ext cx="1944370" cy="194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753266" y="904211"/>
            <a:ext cx="1253490" cy="1415415"/>
            <a:chOff x="3753266" y="904211"/>
            <a:chExt cx="1253490" cy="1415415"/>
          </a:xfrm>
        </p:grpSpPr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25271" y="2200218"/>
              <a:ext cx="119286" cy="11928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53266" y="1066212"/>
              <a:ext cx="119286" cy="11928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87272" y="904211"/>
              <a:ext cx="119286" cy="11928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637432" y="2678259"/>
            <a:ext cx="1323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K-</a:t>
            </a:r>
            <a:r>
              <a:rPr sz="900" spc="-45" dirty="0">
                <a:latin typeface="Arial MT"/>
                <a:cs typeface="Arial MT"/>
              </a:rPr>
              <a:t>means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Clustering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919973" y="3148621"/>
            <a:ext cx="3840479" cy="91440"/>
            <a:chOff x="1919973" y="3148621"/>
            <a:chExt cx="3840479" cy="91440"/>
          </a:xfrm>
        </p:grpSpPr>
        <p:sp>
          <p:nvSpPr>
            <p:cNvPr id="55" name="object 5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 dirty="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 dirty="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Process: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47" y="1425450"/>
            <a:ext cx="104301" cy="1043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8404" y="14160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300" y="1336973"/>
            <a:ext cx="200088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K</a:t>
            </a:r>
            <a:r>
              <a:rPr sz="1050" i="1" spc="15" baseline="-11904" dirty="0">
                <a:latin typeface="Arial"/>
                <a:cs typeface="Arial"/>
              </a:rPr>
              <a:t>initial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10" dirty="0">
                <a:latin typeface="Lucida Sans Unicode"/>
                <a:cs typeface="Lucida Sans Unicode"/>
              </a:rPr>
              <a:t>⌈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N</a:t>
            </a:r>
            <a:r>
              <a:rPr sz="1050" i="1" spc="15" baseline="-11904" dirty="0">
                <a:latin typeface="Arial"/>
                <a:cs typeface="Arial"/>
              </a:rPr>
              <a:t>U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r>
              <a:rPr sz="1000" spc="50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Cluster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K-means </a:t>
            </a:r>
            <a:r>
              <a:rPr sz="1000" spc="-10" dirty="0">
                <a:latin typeface="Tahoma"/>
                <a:cs typeface="Tahoma"/>
              </a:rPr>
              <a:t>Position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 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cluster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centroid:</a:t>
            </a:r>
            <a:endParaRPr sz="1000" dirty="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47" y="1615239"/>
            <a:ext cx="104301" cy="1043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8404" y="160586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747" y="1805028"/>
            <a:ext cx="104301" cy="1043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8404" y="17956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3393" y="2119162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0450" y="2062218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0680" y="2169820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42580" y="1937099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3532" y="2252360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4535" y="1942025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x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0747" y="2131811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393" y="2516571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0450" y="2459639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y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0680" y="2567228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42580" y="2334507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3532" y="2649781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4535" y="2339433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y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20747" y="2529220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747" y="2920380"/>
            <a:ext cx="104301" cy="1043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88404" y="291100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4700" y="2869862"/>
            <a:ext cx="19551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Update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35" dirty="0">
                <a:latin typeface="Arial"/>
                <a:cs typeface="Arial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service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coverage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110169"/>
            <a:ext cx="5760085" cy="130175"/>
            <a:chOff x="0" y="3110169"/>
            <a:chExt cx="5760085" cy="130175"/>
          </a:xfrm>
        </p:grpSpPr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747" y="3110169"/>
              <a:ext cx="104301" cy="10430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0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19973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39946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321826" y="634773"/>
            <a:ext cx="1954530" cy="1954530"/>
            <a:chOff x="3321826" y="634773"/>
            <a:chExt cx="1954530" cy="1954530"/>
          </a:xfrm>
        </p:grpSpPr>
        <p:sp>
          <p:nvSpPr>
            <p:cNvPr id="37" name="object 37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0" y="1944010"/>
                  </a:moveTo>
                  <a:lnTo>
                    <a:pt x="0" y="0"/>
                  </a:lnTo>
                  <a:lnTo>
                    <a:pt x="1944010" y="0"/>
                  </a:lnTo>
                  <a:lnTo>
                    <a:pt x="1944010" y="1944010"/>
                  </a:lnTo>
                  <a:lnTo>
                    <a:pt x="0" y="1944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68928" y="2168499"/>
              <a:ext cx="395605" cy="308610"/>
            </a:xfrm>
            <a:custGeom>
              <a:avLst/>
              <a:gdLst/>
              <a:ahLst/>
              <a:cxnLst/>
              <a:rect l="l" t="t" r="r" b="b"/>
              <a:pathLst>
                <a:path w="395604" h="308610">
                  <a:moveTo>
                    <a:pt x="182156" y="59651"/>
                  </a:moveTo>
                  <a:lnTo>
                    <a:pt x="177469" y="36436"/>
                  </a:lnTo>
                  <a:lnTo>
                    <a:pt x="164680" y="17475"/>
                  </a:lnTo>
                  <a:lnTo>
                    <a:pt x="145719" y="4686"/>
                  </a:lnTo>
                  <a:lnTo>
                    <a:pt x="122504" y="0"/>
                  </a:lnTo>
                  <a:lnTo>
                    <a:pt x="99288" y="4686"/>
                  </a:lnTo>
                  <a:lnTo>
                    <a:pt x="80340" y="17475"/>
                  </a:lnTo>
                  <a:lnTo>
                    <a:pt x="67551" y="36436"/>
                  </a:lnTo>
                  <a:lnTo>
                    <a:pt x="62865" y="59651"/>
                  </a:lnTo>
                  <a:lnTo>
                    <a:pt x="67551" y="82867"/>
                  </a:lnTo>
                  <a:lnTo>
                    <a:pt x="69964" y="86461"/>
                  </a:lnTo>
                  <a:lnTo>
                    <a:pt x="67221" y="88303"/>
                  </a:lnTo>
                  <a:lnTo>
                    <a:pt x="54432" y="107264"/>
                  </a:lnTo>
                  <a:lnTo>
                    <a:pt x="49745" y="130479"/>
                  </a:lnTo>
                  <a:lnTo>
                    <a:pt x="54432" y="153695"/>
                  </a:lnTo>
                  <a:lnTo>
                    <a:pt x="62623" y="165849"/>
                  </a:lnTo>
                  <a:lnTo>
                    <a:pt x="59639" y="165239"/>
                  </a:lnTo>
                  <a:lnTo>
                    <a:pt x="36423" y="169926"/>
                  </a:lnTo>
                  <a:lnTo>
                    <a:pt x="17462" y="182702"/>
                  </a:lnTo>
                  <a:lnTo>
                    <a:pt x="4686" y="201663"/>
                  </a:lnTo>
                  <a:lnTo>
                    <a:pt x="0" y="224878"/>
                  </a:lnTo>
                  <a:lnTo>
                    <a:pt x="4686" y="248094"/>
                  </a:lnTo>
                  <a:lnTo>
                    <a:pt x="17462" y="267055"/>
                  </a:lnTo>
                  <a:lnTo>
                    <a:pt x="36423" y="279831"/>
                  </a:lnTo>
                  <a:lnTo>
                    <a:pt x="59639" y="284518"/>
                  </a:lnTo>
                  <a:lnTo>
                    <a:pt x="82854" y="279831"/>
                  </a:lnTo>
                  <a:lnTo>
                    <a:pt x="101815" y="267055"/>
                  </a:lnTo>
                  <a:lnTo>
                    <a:pt x="114592" y="248094"/>
                  </a:lnTo>
                  <a:lnTo>
                    <a:pt x="119278" y="224878"/>
                  </a:lnTo>
                  <a:lnTo>
                    <a:pt x="114592" y="201663"/>
                  </a:lnTo>
                  <a:lnTo>
                    <a:pt x="106400" y="189522"/>
                  </a:lnTo>
                  <a:lnTo>
                    <a:pt x="109397" y="190119"/>
                  </a:lnTo>
                  <a:lnTo>
                    <a:pt x="132613" y="185432"/>
                  </a:lnTo>
                  <a:lnTo>
                    <a:pt x="151561" y="172656"/>
                  </a:lnTo>
                  <a:lnTo>
                    <a:pt x="164350" y="153695"/>
                  </a:lnTo>
                  <a:lnTo>
                    <a:pt x="169037" y="130479"/>
                  </a:lnTo>
                  <a:lnTo>
                    <a:pt x="164350" y="107264"/>
                  </a:lnTo>
                  <a:lnTo>
                    <a:pt x="161925" y="103682"/>
                  </a:lnTo>
                  <a:lnTo>
                    <a:pt x="164680" y="101828"/>
                  </a:lnTo>
                  <a:lnTo>
                    <a:pt x="177469" y="82867"/>
                  </a:lnTo>
                  <a:lnTo>
                    <a:pt x="182156" y="59651"/>
                  </a:lnTo>
                  <a:close/>
                </a:path>
                <a:path w="395604" h="308610">
                  <a:moveTo>
                    <a:pt x="395592" y="248704"/>
                  </a:moveTo>
                  <a:lnTo>
                    <a:pt x="390906" y="225488"/>
                  </a:lnTo>
                  <a:lnTo>
                    <a:pt x="378129" y="206527"/>
                  </a:lnTo>
                  <a:lnTo>
                    <a:pt x="359168" y="193751"/>
                  </a:lnTo>
                  <a:lnTo>
                    <a:pt x="346671" y="191236"/>
                  </a:lnTo>
                  <a:lnTo>
                    <a:pt x="358978" y="188747"/>
                  </a:lnTo>
                  <a:lnTo>
                    <a:pt x="377939" y="175958"/>
                  </a:lnTo>
                  <a:lnTo>
                    <a:pt x="390715" y="156997"/>
                  </a:lnTo>
                  <a:lnTo>
                    <a:pt x="395401" y="133781"/>
                  </a:lnTo>
                  <a:lnTo>
                    <a:pt x="390715" y="110566"/>
                  </a:lnTo>
                  <a:lnTo>
                    <a:pt x="377939" y="91617"/>
                  </a:lnTo>
                  <a:lnTo>
                    <a:pt x="358978" y="78828"/>
                  </a:lnTo>
                  <a:lnTo>
                    <a:pt x="335762" y="74142"/>
                  </a:lnTo>
                  <a:lnTo>
                    <a:pt x="312547" y="78828"/>
                  </a:lnTo>
                  <a:lnTo>
                    <a:pt x="293585" y="91617"/>
                  </a:lnTo>
                  <a:lnTo>
                    <a:pt x="280809" y="110566"/>
                  </a:lnTo>
                  <a:lnTo>
                    <a:pt x="276123" y="133781"/>
                  </a:lnTo>
                  <a:lnTo>
                    <a:pt x="280809" y="156997"/>
                  </a:lnTo>
                  <a:lnTo>
                    <a:pt x="293585" y="175958"/>
                  </a:lnTo>
                  <a:lnTo>
                    <a:pt x="312547" y="188747"/>
                  </a:lnTo>
                  <a:lnTo>
                    <a:pt x="325031" y="191274"/>
                  </a:lnTo>
                  <a:lnTo>
                    <a:pt x="312737" y="193751"/>
                  </a:lnTo>
                  <a:lnTo>
                    <a:pt x="293776" y="206527"/>
                  </a:lnTo>
                  <a:lnTo>
                    <a:pt x="281000" y="225488"/>
                  </a:lnTo>
                  <a:lnTo>
                    <a:pt x="276313" y="248704"/>
                  </a:lnTo>
                  <a:lnTo>
                    <a:pt x="281000" y="271919"/>
                  </a:lnTo>
                  <a:lnTo>
                    <a:pt x="293776" y="290880"/>
                  </a:lnTo>
                  <a:lnTo>
                    <a:pt x="312737" y="303669"/>
                  </a:lnTo>
                  <a:lnTo>
                    <a:pt x="335953" y="308356"/>
                  </a:lnTo>
                  <a:lnTo>
                    <a:pt x="359168" y="303669"/>
                  </a:lnTo>
                  <a:lnTo>
                    <a:pt x="378129" y="290880"/>
                  </a:lnTo>
                  <a:lnTo>
                    <a:pt x="390906" y="271919"/>
                  </a:lnTo>
                  <a:lnTo>
                    <a:pt x="395592" y="24870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88800" y="2053573"/>
              <a:ext cx="396895" cy="27438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771925" y="1072083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161671" y="92583"/>
                  </a:moveTo>
                  <a:lnTo>
                    <a:pt x="156984" y="69367"/>
                  </a:lnTo>
                  <a:lnTo>
                    <a:pt x="144195" y="50406"/>
                  </a:lnTo>
                  <a:lnTo>
                    <a:pt x="125234" y="37630"/>
                  </a:lnTo>
                  <a:lnTo>
                    <a:pt x="113855" y="35344"/>
                  </a:lnTo>
                  <a:lnTo>
                    <a:pt x="101815" y="17462"/>
                  </a:lnTo>
                  <a:lnTo>
                    <a:pt x="82854" y="4686"/>
                  </a:lnTo>
                  <a:lnTo>
                    <a:pt x="59639" y="0"/>
                  </a:lnTo>
                  <a:lnTo>
                    <a:pt x="36423" y="4686"/>
                  </a:lnTo>
                  <a:lnTo>
                    <a:pt x="17462" y="17462"/>
                  </a:lnTo>
                  <a:lnTo>
                    <a:pt x="4686" y="36423"/>
                  </a:lnTo>
                  <a:lnTo>
                    <a:pt x="0" y="59639"/>
                  </a:lnTo>
                  <a:lnTo>
                    <a:pt x="4686" y="82854"/>
                  </a:lnTo>
                  <a:lnTo>
                    <a:pt x="17462" y="101815"/>
                  </a:lnTo>
                  <a:lnTo>
                    <a:pt x="36423" y="114592"/>
                  </a:lnTo>
                  <a:lnTo>
                    <a:pt x="47790" y="116890"/>
                  </a:lnTo>
                  <a:lnTo>
                    <a:pt x="59855" y="134759"/>
                  </a:lnTo>
                  <a:lnTo>
                    <a:pt x="78803" y="147535"/>
                  </a:lnTo>
                  <a:lnTo>
                    <a:pt x="102019" y="152222"/>
                  </a:lnTo>
                  <a:lnTo>
                    <a:pt x="125234" y="147535"/>
                  </a:lnTo>
                  <a:lnTo>
                    <a:pt x="144195" y="134759"/>
                  </a:lnTo>
                  <a:lnTo>
                    <a:pt x="156984" y="115798"/>
                  </a:lnTo>
                  <a:lnTo>
                    <a:pt x="161671" y="9258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37297" y="933454"/>
              <a:ext cx="119286" cy="11928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14508" y="742441"/>
              <a:ext cx="1325245" cy="422275"/>
            </a:xfrm>
            <a:custGeom>
              <a:avLst/>
              <a:gdLst/>
              <a:ahLst/>
              <a:cxnLst/>
              <a:rect l="l" t="t" r="r" b="b"/>
              <a:pathLst>
                <a:path w="1325245" h="422275">
                  <a:moveTo>
                    <a:pt x="165404" y="284467"/>
                  </a:moveTo>
                  <a:lnTo>
                    <a:pt x="160705" y="261251"/>
                  </a:lnTo>
                  <a:lnTo>
                    <a:pt x="147929" y="242290"/>
                  </a:lnTo>
                  <a:lnTo>
                    <a:pt x="128968" y="229501"/>
                  </a:lnTo>
                  <a:lnTo>
                    <a:pt x="105752" y="224815"/>
                  </a:lnTo>
                  <a:lnTo>
                    <a:pt x="82537" y="229501"/>
                  </a:lnTo>
                  <a:lnTo>
                    <a:pt x="80733" y="230720"/>
                  </a:lnTo>
                  <a:lnTo>
                    <a:pt x="59639" y="226453"/>
                  </a:lnTo>
                  <a:lnTo>
                    <a:pt x="36423" y="231140"/>
                  </a:lnTo>
                  <a:lnTo>
                    <a:pt x="17462" y="243916"/>
                  </a:lnTo>
                  <a:lnTo>
                    <a:pt x="4686" y="262877"/>
                  </a:lnTo>
                  <a:lnTo>
                    <a:pt x="0" y="286092"/>
                  </a:lnTo>
                  <a:lnTo>
                    <a:pt x="4686" y="309308"/>
                  </a:lnTo>
                  <a:lnTo>
                    <a:pt x="17462" y="328269"/>
                  </a:lnTo>
                  <a:lnTo>
                    <a:pt x="36423" y="341045"/>
                  </a:lnTo>
                  <a:lnTo>
                    <a:pt x="59639" y="345732"/>
                  </a:lnTo>
                  <a:lnTo>
                    <a:pt x="82854" y="341045"/>
                  </a:lnTo>
                  <a:lnTo>
                    <a:pt x="84632" y="339852"/>
                  </a:lnTo>
                  <a:lnTo>
                    <a:pt x="105752" y="344106"/>
                  </a:lnTo>
                  <a:lnTo>
                    <a:pt x="128968" y="339420"/>
                  </a:lnTo>
                  <a:lnTo>
                    <a:pt x="147929" y="326644"/>
                  </a:lnTo>
                  <a:lnTo>
                    <a:pt x="160705" y="307682"/>
                  </a:lnTo>
                  <a:lnTo>
                    <a:pt x="165404" y="284467"/>
                  </a:lnTo>
                  <a:close/>
                </a:path>
                <a:path w="1325245" h="422275">
                  <a:moveTo>
                    <a:pt x="1196759" y="59639"/>
                  </a:moveTo>
                  <a:lnTo>
                    <a:pt x="1192072" y="36423"/>
                  </a:lnTo>
                  <a:lnTo>
                    <a:pt x="1179296" y="17462"/>
                  </a:lnTo>
                  <a:lnTo>
                    <a:pt x="1160335" y="4686"/>
                  </a:lnTo>
                  <a:lnTo>
                    <a:pt x="1137119" y="0"/>
                  </a:lnTo>
                  <a:lnTo>
                    <a:pt x="1113904" y="4686"/>
                  </a:lnTo>
                  <a:lnTo>
                    <a:pt x="1094943" y="17462"/>
                  </a:lnTo>
                  <a:lnTo>
                    <a:pt x="1082154" y="36423"/>
                  </a:lnTo>
                  <a:lnTo>
                    <a:pt x="1077468" y="59639"/>
                  </a:lnTo>
                  <a:lnTo>
                    <a:pt x="1082154" y="82854"/>
                  </a:lnTo>
                  <a:lnTo>
                    <a:pt x="1094943" y="101815"/>
                  </a:lnTo>
                  <a:lnTo>
                    <a:pt x="1113904" y="114592"/>
                  </a:lnTo>
                  <a:lnTo>
                    <a:pt x="1137119" y="119278"/>
                  </a:lnTo>
                  <a:lnTo>
                    <a:pt x="1160335" y="114592"/>
                  </a:lnTo>
                  <a:lnTo>
                    <a:pt x="1179296" y="101815"/>
                  </a:lnTo>
                  <a:lnTo>
                    <a:pt x="1192072" y="82854"/>
                  </a:lnTo>
                  <a:lnTo>
                    <a:pt x="1196759" y="59639"/>
                  </a:lnTo>
                  <a:close/>
                </a:path>
                <a:path w="1325245" h="422275">
                  <a:moveTo>
                    <a:pt x="1317091" y="95288"/>
                  </a:moveTo>
                  <a:lnTo>
                    <a:pt x="1312405" y="72072"/>
                  </a:lnTo>
                  <a:lnTo>
                    <a:pt x="1299616" y="53111"/>
                  </a:lnTo>
                  <a:lnTo>
                    <a:pt x="1280668" y="40335"/>
                  </a:lnTo>
                  <a:lnTo>
                    <a:pt x="1257439" y="35648"/>
                  </a:lnTo>
                  <a:lnTo>
                    <a:pt x="1234224" y="40335"/>
                  </a:lnTo>
                  <a:lnTo>
                    <a:pt x="1215275" y="53111"/>
                  </a:lnTo>
                  <a:lnTo>
                    <a:pt x="1202486" y="72072"/>
                  </a:lnTo>
                  <a:lnTo>
                    <a:pt x="1197800" y="95288"/>
                  </a:lnTo>
                  <a:lnTo>
                    <a:pt x="1202486" y="118503"/>
                  </a:lnTo>
                  <a:lnTo>
                    <a:pt x="1215275" y="137464"/>
                  </a:lnTo>
                  <a:lnTo>
                    <a:pt x="1234224" y="150253"/>
                  </a:lnTo>
                  <a:lnTo>
                    <a:pt x="1257439" y="154940"/>
                  </a:lnTo>
                  <a:lnTo>
                    <a:pt x="1280668" y="150253"/>
                  </a:lnTo>
                  <a:lnTo>
                    <a:pt x="1299616" y="137464"/>
                  </a:lnTo>
                  <a:lnTo>
                    <a:pt x="1312405" y="118503"/>
                  </a:lnTo>
                  <a:lnTo>
                    <a:pt x="1317091" y="95288"/>
                  </a:lnTo>
                  <a:close/>
                </a:path>
                <a:path w="1325245" h="422275">
                  <a:moveTo>
                    <a:pt x="1325118" y="361162"/>
                  </a:moveTo>
                  <a:lnTo>
                    <a:pt x="1320431" y="337947"/>
                  </a:lnTo>
                  <a:lnTo>
                    <a:pt x="1307655" y="318985"/>
                  </a:lnTo>
                  <a:lnTo>
                    <a:pt x="1288694" y="306209"/>
                  </a:lnTo>
                  <a:lnTo>
                    <a:pt x="1265478" y="301523"/>
                  </a:lnTo>
                  <a:lnTo>
                    <a:pt x="1242263" y="306209"/>
                  </a:lnTo>
                  <a:lnTo>
                    <a:pt x="1223302" y="318985"/>
                  </a:lnTo>
                  <a:lnTo>
                    <a:pt x="1211872" y="335953"/>
                  </a:lnTo>
                  <a:lnTo>
                    <a:pt x="1211262" y="332892"/>
                  </a:lnTo>
                  <a:lnTo>
                    <a:pt x="1198486" y="313931"/>
                  </a:lnTo>
                  <a:lnTo>
                    <a:pt x="1179525" y="301155"/>
                  </a:lnTo>
                  <a:lnTo>
                    <a:pt x="1156309" y="296468"/>
                  </a:lnTo>
                  <a:lnTo>
                    <a:pt x="1133094" y="301155"/>
                  </a:lnTo>
                  <a:lnTo>
                    <a:pt x="1129499" y="303580"/>
                  </a:lnTo>
                  <a:lnTo>
                    <a:pt x="1124534" y="302564"/>
                  </a:lnTo>
                  <a:lnTo>
                    <a:pt x="1101318" y="307251"/>
                  </a:lnTo>
                  <a:lnTo>
                    <a:pt x="1082357" y="320027"/>
                  </a:lnTo>
                  <a:lnTo>
                    <a:pt x="1069568" y="338988"/>
                  </a:lnTo>
                  <a:lnTo>
                    <a:pt x="1064882" y="362204"/>
                  </a:lnTo>
                  <a:lnTo>
                    <a:pt x="1069568" y="385419"/>
                  </a:lnTo>
                  <a:lnTo>
                    <a:pt x="1082357" y="404380"/>
                  </a:lnTo>
                  <a:lnTo>
                    <a:pt x="1101318" y="417156"/>
                  </a:lnTo>
                  <a:lnTo>
                    <a:pt x="1124534" y="421843"/>
                  </a:lnTo>
                  <a:lnTo>
                    <a:pt x="1147749" y="417156"/>
                  </a:lnTo>
                  <a:lnTo>
                    <a:pt x="1151318" y="414756"/>
                  </a:lnTo>
                  <a:lnTo>
                    <a:pt x="1156309" y="415759"/>
                  </a:lnTo>
                  <a:lnTo>
                    <a:pt x="1179525" y="411060"/>
                  </a:lnTo>
                  <a:lnTo>
                    <a:pt x="1198486" y="398284"/>
                  </a:lnTo>
                  <a:lnTo>
                    <a:pt x="1209903" y="381330"/>
                  </a:lnTo>
                  <a:lnTo>
                    <a:pt x="1210525" y="384378"/>
                  </a:lnTo>
                  <a:lnTo>
                    <a:pt x="1223302" y="403339"/>
                  </a:lnTo>
                  <a:lnTo>
                    <a:pt x="1242263" y="416115"/>
                  </a:lnTo>
                  <a:lnTo>
                    <a:pt x="1265478" y="420801"/>
                  </a:lnTo>
                  <a:lnTo>
                    <a:pt x="1288694" y="416115"/>
                  </a:lnTo>
                  <a:lnTo>
                    <a:pt x="1307655" y="403339"/>
                  </a:lnTo>
                  <a:lnTo>
                    <a:pt x="1320431" y="384378"/>
                  </a:lnTo>
                  <a:lnTo>
                    <a:pt x="1325118" y="36116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648003" y="1620008"/>
                  </a:moveTo>
                  <a:lnTo>
                    <a:pt x="644490" y="1572129"/>
                  </a:lnTo>
                  <a:lnTo>
                    <a:pt x="634285" y="1526431"/>
                  </a:lnTo>
                  <a:lnTo>
                    <a:pt x="617890" y="1483416"/>
                  </a:lnTo>
                  <a:lnTo>
                    <a:pt x="595805" y="1443585"/>
                  </a:lnTo>
                  <a:lnTo>
                    <a:pt x="568531" y="1407438"/>
                  </a:lnTo>
                  <a:lnTo>
                    <a:pt x="536571" y="1375478"/>
                  </a:lnTo>
                  <a:lnTo>
                    <a:pt x="500424" y="1348205"/>
                  </a:lnTo>
                  <a:lnTo>
                    <a:pt x="460593" y="1326120"/>
                  </a:lnTo>
                  <a:lnTo>
                    <a:pt x="417578" y="1309724"/>
                  </a:lnTo>
                  <a:lnTo>
                    <a:pt x="371880" y="1299519"/>
                  </a:lnTo>
                  <a:lnTo>
                    <a:pt x="324001" y="1296006"/>
                  </a:lnTo>
                  <a:lnTo>
                    <a:pt x="276122" y="1299519"/>
                  </a:lnTo>
                  <a:lnTo>
                    <a:pt x="230424" y="1309724"/>
                  </a:lnTo>
                  <a:lnTo>
                    <a:pt x="187409" y="1326120"/>
                  </a:lnTo>
                  <a:lnTo>
                    <a:pt x="147578" y="1348205"/>
                  </a:lnTo>
                  <a:lnTo>
                    <a:pt x="111431" y="1375478"/>
                  </a:lnTo>
                  <a:lnTo>
                    <a:pt x="79471" y="1407438"/>
                  </a:lnTo>
                  <a:lnTo>
                    <a:pt x="52198" y="1443585"/>
                  </a:lnTo>
                  <a:lnTo>
                    <a:pt x="30113" y="1483416"/>
                  </a:lnTo>
                  <a:lnTo>
                    <a:pt x="13717" y="1526431"/>
                  </a:lnTo>
                  <a:lnTo>
                    <a:pt x="3512" y="1572129"/>
                  </a:lnTo>
                  <a:lnTo>
                    <a:pt x="0" y="1620008"/>
                  </a:lnTo>
                  <a:lnTo>
                    <a:pt x="3512" y="1667887"/>
                  </a:lnTo>
                  <a:lnTo>
                    <a:pt x="13717" y="1713585"/>
                  </a:lnTo>
                  <a:lnTo>
                    <a:pt x="30113" y="1756600"/>
                  </a:lnTo>
                  <a:lnTo>
                    <a:pt x="52198" y="1796431"/>
                  </a:lnTo>
                  <a:lnTo>
                    <a:pt x="79471" y="1832578"/>
                  </a:lnTo>
                  <a:lnTo>
                    <a:pt x="111431" y="1864538"/>
                  </a:lnTo>
                  <a:lnTo>
                    <a:pt x="147578" y="1891812"/>
                  </a:lnTo>
                  <a:lnTo>
                    <a:pt x="187409" y="1913897"/>
                  </a:lnTo>
                  <a:lnTo>
                    <a:pt x="230424" y="1930292"/>
                  </a:lnTo>
                  <a:lnTo>
                    <a:pt x="276122" y="1940497"/>
                  </a:lnTo>
                  <a:lnTo>
                    <a:pt x="324001" y="1944010"/>
                  </a:lnTo>
                  <a:lnTo>
                    <a:pt x="371880" y="1940497"/>
                  </a:lnTo>
                  <a:lnTo>
                    <a:pt x="417578" y="1930292"/>
                  </a:lnTo>
                  <a:lnTo>
                    <a:pt x="460593" y="1913897"/>
                  </a:lnTo>
                  <a:lnTo>
                    <a:pt x="500424" y="1891812"/>
                  </a:lnTo>
                  <a:lnTo>
                    <a:pt x="536571" y="1864538"/>
                  </a:lnTo>
                  <a:lnTo>
                    <a:pt x="568531" y="1832578"/>
                  </a:lnTo>
                  <a:lnTo>
                    <a:pt x="595805" y="1796431"/>
                  </a:lnTo>
                  <a:lnTo>
                    <a:pt x="617890" y="1756600"/>
                  </a:lnTo>
                  <a:lnTo>
                    <a:pt x="634285" y="1713585"/>
                  </a:lnTo>
                  <a:lnTo>
                    <a:pt x="644490" y="1667887"/>
                  </a:lnTo>
                  <a:lnTo>
                    <a:pt x="648003" y="1620008"/>
                  </a:lnTo>
                  <a:close/>
                </a:path>
                <a:path w="1944370" h="1944370">
                  <a:moveTo>
                    <a:pt x="1782009" y="1620008"/>
                  </a:moveTo>
                  <a:lnTo>
                    <a:pt x="1778496" y="1572129"/>
                  </a:lnTo>
                  <a:lnTo>
                    <a:pt x="1768291" y="1526431"/>
                  </a:lnTo>
                  <a:lnTo>
                    <a:pt x="1751896" y="1483416"/>
                  </a:lnTo>
                  <a:lnTo>
                    <a:pt x="1729811" y="1443585"/>
                  </a:lnTo>
                  <a:lnTo>
                    <a:pt x="1702537" y="1407438"/>
                  </a:lnTo>
                  <a:lnTo>
                    <a:pt x="1670577" y="1375478"/>
                  </a:lnTo>
                  <a:lnTo>
                    <a:pt x="1634430" y="1348205"/>
                  </a:lnTo>
                  <a:lnTo>
                    <a:pt x="1594599" y="1326120"/>
                  </a:lnTo>
                  <a:lnTo>
                    <a:pt x="1551584" y="1309724"/>
                  </a:lnTo>
                  <a:lnTo>
                    <a:pt x="1505886" y="1299519"/>
                  </a:lnTo>
                  <a:lnTo>
                    <a:pt x="1458007" y="1296006"/>
                  </a:lnTo>
                  <a:lnTo>
                    <a:pt x="1410128" y="1299519"/>
                  </a:lnTo>
                  <a:lnTo>
                    <a:pt x="1364430" y="1309724"/>
                  </a:lnTo>
                  <a:lnTo>
                    <a:pt x="1321415" y="1326120"/>
                  </a:lnTo>
                  <a:lnTo>
                    <a:pt x="1281584" y="1348205"/>
                  </a:lnTo>
                  <a:lnTo>
                    <a:pt x="1245437" y="1375478"/>
                  </a:lnTo>
                  <a:lnTo>
                    <a:pt x="1213477" y="1407438"/>
                  </a:lnTo>
                  <a:lnTo>
                    <a:pt x="1186204" y="1443585"/>
                  </a:lnTo>
                  <a:lnTo>
                    <a:pt x="1164119" y="1483416"/>
                  </a:lnTo>
                  <a:lnTo>
                    <a:pt x="1147723" y="1526431"/>
                  </a:lnTo>
                  <a:lnTo>
                    <a:pt x="1137518" y="1572129"/>
                  </a:lnTo>
                  <a:lnTo>
                    <a:pt x="1134005" y="1620008"/>
                  </a:lnTo>
                  <a:lnTo>
                    <a:pt x="1137518" y="1667887"/>
                  </a:lnTo>
                  <a:lnTo>
                    <a:pt x="1147723" y="1713585"/>
                  </a:lnTo>
                  <a:lnTo>
                    <a:pt x="1164119" y="1756600"/>
                  </a:lnTo>
                  <a:lnTo>
                    <a:pt x="1186204" y="1796431"/>
                  </a:lnTo>
                  <a:lnTo>
                    <a:pt x="1213477" y="1832578"/>
                  </a:lnTo>
                  <a:lnTo>
                    <a:pt x="1245437" y="1864538"/>
                  </a:lnTo>
                  <a:lnTo>
                    <a:pt x="1281584" y="1891812"/>
                  </a:lnTo>
                  <a:lnTo>
                    <a:pt x="1321415" y="1913897"/>
                  </a:lnTo>
                  <a:lnTo>
                    <a:pt x="1364430" y="1930292"/>
                  </a:lnTo>
                  <a:lnTo>
                    <a:pt x="1410128" y="1940497"/>
                  </a:lnTo>
                  <a:lnTo>
                    <a:pt x="1458007" y="1944010"/>
                  </a:lnTo>
                  <a:lnTo>
                    <a:pt x="1505886" y="1940497"/>
                  </a:lnTo>
                  <a:lnTo>
                    <a:pt x="1551584" y="1930292"/>
                  </a:lnTo>
                  <a:lnTo>
                    <a:pt x="1594599" y="1913897"/>
                  </a:lnTo>
                  <a:lnTo>
                    <a:pt x="1634430" y="1891812"/>
                  </a:lnTo>
                  <a:lnTo>
                    <a:pt x="1670577" y="1864538"/>
                  </a:lnTo>
                  <a:lnTo>
                    <a:pt x="1702537" y="1832578"/>
                  </a:lnTo>
                  <a:lnTo>
                    <a:pt x="1729811" y="1796431"/>
                  </a:lnTo>
                  <a:lnTo>
                    <a:pt x="1751896" y="1756600"/>
                  </a:lnTo>
                  <a:lnTo>
                    <a:pt x="1768291" y="1713585"/>
                  </a:lnTo>
                  <a:lnTo>
                    <a:pt x="1778496" y="1667887"/>
                  </a:lnTo>
                  <a:lnTo>
                    <a:pt x="1782009" y="1620008"/>
                  </a:lnTo>
                  <a:close/>
                </a:path>
                <a:path w="1944370" h="1944370">
                  <a:moveTo>
                    <a:pt x="810004" y="486002"/>
                  </a:moveTo>
                  <a:lnTo>
                    <a:pt x="806491" y="438123"/>
                  </a:lnTo>
                  <a:lnTo>
                    <a:pt x="796286" y="392425"/>
                  </a:lnTo>
                  <a:lnTo>
                    <a:pt x="779891" y="349410"/>
                  </a:lnTo>
                  <a:lnTo>
                    <a:pt x="757806" y="309579"/>
                  </a:lnTo>
                  <a:lnTo>
                    <a:pt x="730532" y="273432"/>
                  </a:lnTo>
                  <a:lnTo>
                    <a:pt x="698572" y="241472"/>
                  </a:lnTo>
                  <a:lnTo>
                    <a:pt x="662425" y="214199"/>
                  </a:lnTo>
                  <a:lnTo>
                    <a:pt x="622594" y="192114"/>
                  </a:lnTo>
                  <a:lnTo>
                    <a:pt x="579579" y="175718"/>
                  </a:lnTo>
                  <a:lnTo>
                    <a:pt x="533881" y="165513"/>
                  </a:lnTo>
                  <a:lnTo>
                    <a:pt x="486002" y="162000"/>
                  </a:lnTo>
                  <a:lnTo>
                    <a:pt x="438123" y="165513"/>
                  </a:lnTo>
                  <a:lnTo>
                    <a:pt x="392425" y="175718"/>
                  </a:lnTo>
                  <a:lnTo>
                    <a:pt x="349410" y="192114"/>
                  </a:lnTo>
                  <a:lnTo>
                    <a:pt x="309579" y="214199"/>
                  </a:lnTo>
                  <a:lnTo>
                    <a:pt x="273432" y="241472"/>
                  </a:lnTo>
                  <a:lnTo>
                    <a:pt x="241472" y="273432"/>
                  </a:lnTo>
                  <a:lnTo>
                    <a:pt x="214199" y="309579"/>
                  </a:lnTo>
                  <a:lnTo>
                    <a:pt x="192114" y="349410"/>
                  </a:lnTo>
                  <a:lnTo>
                    <a:pt x="175718" y="392425"/>
                  </a:lnTo>
                  <a:lnTo>
                    <a:pt x="165513" y="438123"/>
                  </a:lnTo>
                  <a:lnTo>
                    <a:pt x="162000" y="486002"/>
                  </a:lnTo>
                  <a:lnTo>
                    <a:pt x="165513" y="533881"/>
                  </a:lnTo>
                  <a:lnTo>
                    <a:pt x="175718" y="579579"/>
                  </a:lnTo>
                  <a:lnTo>
                    <a:pt x="192114" y="622594"/>
                  </a:lnTo>
                  <a:lnTo>
                    <a:pt x="214199" y="662425"/>
                  </a:lnTo>
                  <a:lnTo>
                    <a:pt x="241472" y="698572"/>
                  </a:lnTo>
                  <a:lnTo>
                    <a:pt x="273432" y="730532"/>
                  </a:lnTo>
                  <a:lnTo>
                    <a:pt x="309579" y="757806"/>
                  </a:lnTo>
                  <a:lnTo>
                    <a:pt x="349410" y="779891"/>
                  </a:lnTo>
                  <a:lnTo>
                    <a:pt x="392425" y="796286"/>
                  </a:lnTo>
                  <a:lnTo>
                    <a:pt x="438123" y="806491"/>
                  </a:lnTo>
                  <a:lnTo>
                    <a:pt x="486002" y="810004"/>
                  </a:lnTo>
                  <a:lnTo>
                    <a:pt x="533881" y="806491"/>
                  </a:lnTo>
                  <a:lnTo>
                    <a:pt x="579579" y="796286"/>
                  </a:lnTo>
                  <a:lnTo>
                    <a:pt x="622594" y="779891"/>
                  </a:lnTo>
                  <a:lnTo>
                    <a:pt x="662425" y="757806"/>
                  </a:lnTo>
                  <a:lnTo>
                    <a:pt x="698572" y="730532"/>
                  </a:lnTo>
                  <a:lnTo>
                    <a:pt x="730532" y="698572"/>
                  </a:lnTo>
                  <a:lnTo>
                    <a:pt x="757806" y="662425"/>
                  </a:lnTo>
                  <a:lnTo>
                    <a:pt x="779891" y="622594"/>
                  </a:lnTo>
                  <a:lnTo>
                    <a:pt x="796286" y="579579"/>
                  </a:lnTo>
                  <a:lnTo>
                    <a:pt x="806491" y="533881"/>
                  </a:lnTo>
                  <a:lnTo>
                    <a:pt x="810004" y="486002"/>
                  </a:lnTo>
                  <a:close/>
                </a:path>
                <a:path w="1944370" h="1944370">
                  <a:moveTo>
                    <a:pt x="1944010" y="324001"/>
                  </a:moveTo>
                  <a:lnTo>
                    <a:pt x="1940497" y="276122"/>
                  </a:lnTo>
                  <a:lnTo>
                    <a:pt x="1930292" y="230424"/>
                  </a:lnTo>
                  <a:lnTo>
                    <a:pt x="1913897" y="187409"/>
                  </a:lnTo>
                  <a:lnTo>
                    <a:pt x="1891812" y="147578"/>
                  </a:lnTo>
                  <a:lnTo>
                    <a:pt x="1864538" y="111431"/>
                  </a:lnTo>
                  <a:lnTo>
                    <a:pt x="1832578" y="79471"/>
                  </a:lnTo>
                  <a:lnTo>
                    <a:pt x="1796431" y="52198"/>
                  </a:lnTo>
                  <a:lnTo>
                    <a:pt x="1756600" y="30113"/>
                  </a:lnTo>
                  <a:lnTo>
                    <a:pt x="1713585" y="13717"/>
                  </a:lnTo>
                  <a:lnTo>
                    <a:pt x="1667887" y="3512"/>
                  </a:lnTo>
                  <a:lnTo>
                    <a:pt x="1620008" y="0"/>
                  </a:lnTo>
                  <a:lnTo>
                    <a:pt x="1572129" y="3512"/>
                  </a:lnTo>
                  <a:lnTo>
                    <a:pt x="1526431" y="13717"/>
                  </a:lnTo>
                  <a:lnTo>
                    <a:pt x="1483416" y="30113"/>
                  </a:lnTo>
                  <a:lnTo>
                    <a:pt x="1443585" y="52198"/>
                  </a:lnTo>
                  <a:lnTo>
                    <a:pt x="1407438" y="79471"/>
                  </a:lnTo>
                  <a:lnTo>
                    <a:pt x="1375478" y="111431"/>
                  </a:lnTo>
                  <a:lnTo>
                    <a:pt x="1348205" y="147578"/>
                  </a:lnTo>
                  <a:lnTo>
                    <a:pt x="1326120" y="187409"/>
                  </a:lnTo>
                  <a:lnTo>
                    <a:pt x="1309724" y="230424"/>
                  </a:lnTo>
                  <a:lnTo>
                    <a:pt x="1299519" y="276122"/>
                  </a:lnTo>
                  <a:lnTo>
                    <a:pt x="1296006" y="324001"/>
                  </a:lnTo>
                  <a:lnTo>
                    <a:pt x="1299519" y="371880"/>
                  </a:lnTo>
                  <a:lnTo>
                    <a:pt x="1309724" y="417578"/>
                  </a:lnTo>
                  <a:lnTo>
                    <a:pt x="1326120" y="460593"/>
                  </a:lnTo>
                  <a:lnTo>
                    <a:pt x="1348205" y="500424"/>
                  </a:lnTo>
                  <a:lnTo>
                    <a:pt x="1375478" y="536571"/>
                  </a:lnTo>
                  <a:lnTo>
                    <a:pt x="1407438" y="568531"/>
                  </a:lnTo>
                  <a:lnTo>
                    <a:pt x="1443585" y="595805"/>
                  </a:lnTo>
                  <a:lnTo>
                    <a:pt x="1483416" y="617890"/>
                  </a:lnTo>
                  <a:lnTo>
                    <a:pt x="1526431" y="634285"/>
                  </a:lnTo>
                  <a:lnTo>
                    <a:pt x="1572129" y="644490"/>
                  </a:lnTo>
                  <a:lnTo>
                    <a:pt x="1620008" y="648003"/>
                  </a:lnTo>
                  <a:lnTo>
                    <a:pt x="1667887" y="644490"/>
                  </a:lnTo>
                  <a:lnTo>
                    <a:pt x="1713585" y="634285"/>
                  </a:lnTo>
                  <a:lnTo>
                    <a:pt x="1756600" y="617890"/>
                  </a:lnTo>
                  <a:lnTo>
                    <a:pt x="1796431" y="595805"/>
                  </a:lnTo>
                  <a:lnTo>
                    <a:pt x="1832578" y="568531"/>
                  </a:lnTo>
                  <a:lnTo>
                    <a:pt x="1864538" y="536571"/>
                  </a:lnTo>
                  <a:lnTo>
                    <a:pt x="1891812" y="500424"/>
                  </a:lnTo>
                  <a:lnTo>
                    <a:pt x="1913897" y="460593"/>
                  </a:lnTo>
                  <a:lnTo>
                    <a:pt x="1930292" y="417578"/>
                  </a:lnTo>
                  <a:lnTo>
                    <a:pt x="1940497" y="371880"/>
                  </a:lnTo>
                  <a:lnTo>
                    <a:pt x="1944010" y="324001"/>
                  </a:lnTo>
                  <a:close/>
                </a:path>
              </a:pathLst>
            </a:custGeom>
            <a:ln w="10122">
              <a:solidFill>
                <a:srgbClr val="3399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91265" y="2200218"/>
              <a:ext cx="119286" cy="119286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326906" y="639853"/>
            <a:ext cx="1944370" cy="194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753266" y="904211"/>
            <a:ext cx="1253490" cy="1415415"/>
            <a:chOff x="3753266" y="904211"/>
            <a:chExt cx="1253490" cy="1415415"/>
          </a:xfrm>
        </p:grpSpPr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25271" y="2200218"/>
              <a:ext cx="119286" cy="11928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3266" y="1066212"/>
              <a:ext cx="119286" cy="11928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87272" y="904211"/>
              <a:ext cx="119286" cy="119286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3637432" y="2678259"/>
            <a:ext cx="1323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K-</a:t>
            </a:r>
            <a:r>
              <a:rPr sz="900" spc="-45" dirty="0">
                <a:latin typeface="Arial MT"/>
                <a:cs typeface="Arial MT"/>
              </a:rPr>
              <a:t>means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Clustering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7400" y="3102843"/>
            <a:ext cx="130492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35" dirty="0">
                <a:latin typeface="Tahoma"/>
                <a:cs typeface="Tahoma"/>
              </a:rPr>
              <a:t>Iterate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until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convergence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8404" y="3115909"/>
            <a:ext cx="5905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UAV</a:t>
            </a:r>
            <a:r>
              <a:rPr spc="-50" dirty="0"/>
              <a:t> </a:t>
            </a:r>
            <a:r>
              <a:rPr spc="-30" dirty="0"/>
              <a:t>Topology</a:t>
            </a:r>
            <a:r>
              <a:rPr spc="-45" dirty="0"/>
              <a:t> </a:t>
            </a:r>
            <a:r>
              <a:rPr spc="-10" dirty="0"/>
              <a:t>Optimization:</a:t>
            </a:r>
            <a:r>
              <a:rPr spc="85" dirty="0"/>
              <a:t> </a:t>
            </a:r>
            <a:r>
              <a:rPr spc="-50" dirty="0"/>
              <a:t>K-</a:t>
            </a:r>
            <a:r>
              <a:rPr spc="-30" dirty="0"/>
              <a:t>means</a:t>
            </a:r>
            <a:r>
              <a:rPr spc="-4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3" y="388029"/>
            <a:ext cx="245808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Objectives: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003366"/>
                </a:solidFill>
                <a:latin typeface="Tahoma"/>
                <a:cs typeface="Tahoma"/>
              </a:rPr>
              <a:t>minimum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003366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3366"/>
                </a:solidFill>
                <a:latin typeface="Tahoma"/>
                <a:cs typeface="Tahoma"/>
              </a:rPr>
              <a:t>UAVs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  <a:p>
            <a:pPr marL="290830" marR="4368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optimal </a:t>
            </a:r>
            <a:r>
              <a:rPr sz="1000" spc="-25" dirty="0">
                <a:solidFill>
                  <a:srgbClr val="003366"/>
                </a:solidFill>
                <a:latin typeface="Tahoma"/>
                <a:cs typeface="Tahoma"/>
              </a:rPr>
              <a:t>positions</a:t>
            </a:r>
            <a:r>
              <a:rPr sz="1000" spc="-10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750" i="1" spc="-15" baseline="-27777" dirty="0">
                <a:latin typeface="Arial"/>
                <a:cs typeface="Arial"/>
              </a:rPr>
              <a:t>k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22" baseline="-27777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 </a:t>
            </a:r>
            <a:r>
              <a:rPr sz="1000" spc="-30" dirty="0">
                <a:latin typeface="Tahoma"/>
                <a:cs typeface="Tahoma"/>
              </a:rPr>
              <a:t>Ensure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%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Process: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47" y="1425450"/>
            <a:ext cx="104301" cy="1043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8404" y="14160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300" y="1336973"/>
            <a:ext cx="200088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K</a:t>
            </a:r>
            <a:r>
              <a:rPr sz="1050" i="1" spc="15" baseline="-11904" dirty="0">
                <a:latin typeface="Arial"/>
                <a:cs typeface="Arial"/>
              </a:rPr>
              <a:t>initial</a:t>
            </a:r>
            <a:r>
              <a:rPr sz="1050" i="1" spc="307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10" dirty="0">
                <a:latin typeface="Lucida Sans Unicode"/>
                <a:cs typeface="Lucida Sans Unicode"/>
              </a:rPr>
              <a:t>⌈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N</a:t>
            </a:r>
            <a:r>
              <a:rPr sz="1050" i="1" spc="15" baseline="-11904" dirty="0">
                <a:latin typeface="Arial"/>
                <a:cs typeface="Arial"/>
              </a:rPr>
              <a:t>U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r>
              <a:rPr sz="1000" spc="50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Cluster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K-means </a:t>
            </a:r>
            <a:r>
              <a:rPr sz="1000" spc="-10" dirty="0">
                <a:latin typeface="Tahoma"/>
                <a:cs typeface="Tahoma"/>
              </a:rPr>
              <a:t>Position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 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cluster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centroid: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47" y="1615239"/>
            <a:ext cx="104301" cy="1043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8404" y="160586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747" y="1805028"/>
            <a:ext cx="104301" cy="1043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8404" y="17956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3393" y="2119162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0450" y="2062218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0680" y="2169820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42580" y="1937099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3532" y="2252360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4535" y="1942025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x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0747" y="2131811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393" y="2516571"/>
            <a:ext cx="173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U</a:t>
            </a:r>
            <a:r>
              <a:rPr sz="750" i="1" spc="-37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0450" y="2459639"/>
            <a:ext cx="33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979" algn="l"/>
              </a:tabLst>
            </a:pPr>
            <a:r>
              <a:rPr sz="1000" i="1" spc="-50" dirty="0">
                <a:latin typeface="Arial"/>
                <a:cs typeface="Arial"/>
              </a:rPr>
              <a:t>y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0680" y="2567228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42580" y="2334507"/>
            <a:ext cx="277495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40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1500" i="1" spc="-37" baseline="8333" dirty="0">
                <a:latin typeface="Arial"/>
                <a:cs typeface="Arial"/>
              </a:rPr>
              <a:t>N</a:t>
            </a:r>
            <a:r>
              <a:rPr sz="700" i="1" spc="-25" dirty="0"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3532" y="2649781"/>
            <a:ext cx="4629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i="1" baseline="27777" dirty="0">
                <a:latin typeface="Arial"/>
                <a:cs typeface="Arial"/>
              </a:rPr>
              <a:t>k</a:t>
            </a:r>
            <a:r>
              <a:rPr sz="750" i="1" spc="434" baseline="27777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50" i="1" baseline="-11111" dirty="0">
                <a:latin typeface="Arial"/>
                <a:cs typeface="Arial"/>
              </a:rPr>
              <a:t>m</a:t>
            </a:r>
            <a:r>
              <a:rPr sz="750" i="1" spc="-12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∈</a:t>
            </a:r>
            <a:r>
              <a:rPr sz="700" i="1" spc="-20" dirty="0">
                <a:latin typeface="Arial"/>
                <a:cs typeface="Arial"/>
              </a:rPr>
              <a:t>CL</a:t>
            </a:r>
            <a:r>
              <a:rPr sz="750" i="1" spc="-30" baseline="-11111" dirty="0"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4535" y="2339433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894" dirty="0">
                <a:latin typeface="Sitka Banner"/>
                <a:cs typeface="Sitka Banner"/>
              </a:rPr>
              <a:t>Σ</a:t>
            </a:r>
            <a:r>
              <a:rPr sz="1000" spc="434" dirty="0">
                <a:latin typeface="Sitka Banner"/>
                <a:cs typeface="Sitka Banner"/>
              </a:rPr>
              <a:t> </a:t>
            </a:r>
            <a:r>
              <a:rPr sz="1500" i="1" spc="-75" baseline="-52777" dirty="0">
                <a:latin typeface="Arial"/>
                <a:cs typeface="Arial"/>
              </a:rPr>
              <a:t>y</a:t>
            </a:r>
            <a:endParaRPr sz="1500" baseline="-527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20747" y="2529220"/>
            <a:ext cx="156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747" y="2920380"/>
            <a:ext cx="104301" cy="1043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88404" y="291100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4700" y="2869862"/>
            <a:ext cx="19551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Update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35" dirty="0">
                <a:latin typeface="Arial"/>
                <a:cs typeface="Arial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service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coverage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5747" y="3110169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37400" y="3102843"/>
            <a:ext cx="130492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35" dirty="0">
                <a:latin typeface="Tahoma"/>
                <a:cs typeface="Tahoma"/>
              </a:rPr>
              <a:t>Iterate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until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convergence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21826" y="634773"/>
            <a:ext cx="1954530" cy="1954530"/>
            <a:chOff x="3321826" y="634773"/>
            <a:chExt cx="1954530" cy="1954530"/>
          </a:xfrm>
        </p:grpSpPr>
        <p:sp>
          <p:nvSpPr>
            <p:cNvPr id="34" name="object 34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0" y="1944010"/>
                  </a:moveTo>
                  <a:lnTo>
                    <a:pt x="0" y="0"/>
                  </a:lnTo>
                  <a:lnTo>
                    <a:pt x="1944010" y="0"/>
                  </a:lnTo>
                  <a:lnTo>
                    <a:pt x="1944010" y="1944010"/>
                  </a:lnTo>
                  <a:lnTo>
                    <a:pt x="0" y="1944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76166" y="2351901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7"/>
                  </a:lnTo>
                  <a:lnTo>
                    <a:pt x="17468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7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1286" y="2227993"/>
              <a:ext cx="125416" cy="21385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578421" y="2221907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7"/>
                  </a:lnTo>
                  <a:lnTo>
                    <a:pt x="17468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7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66812" y="2060242"/>
              <a:ext cx="119286" cy="11928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694401" y="2064771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7"/>
                  </a:lnTo>
                  <a:lnTo>
                    <a:pt x="17468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7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74996" y="2343279"/>
              <a:ext cx="119286" cy="11928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04863" y="2104302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7"/>
                  </a:lnTo>
                  <a:lnTo>
                    <a:pt x="17468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7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43830" y="2337688"/>
              <a:ext cx="119286" cy="11928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756852" y="2102567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7"/>
                  </a:lnTo>
                  <a:lnTo>
                    <a:pt x="17468" y="17469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9"/>
                  </a:lnTo>
                  <a:lnTo>
                    <a:pt x="82859" y="4687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15959" y="977134"/>
              <a:ext cx="318727" cy="32410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785299" y="759821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59643" y="0"/>
                  </a:moveTo>
                  <a:lnTo>
                    <a:pt x="36427" y="4686"/>
                  </a:lnTo>
                  <a:lnTo>
                    <a:pt x="17468" y="17468"/>
                  </a:lnTo>
                  <a:lnTo>
                    <a:pt x="4687" y="36427"/>
                  </a:lnTo>
                  <a:lnTo>
                    <a:pt x="0" y="59643"/>
                  </a:lnTo>
                  <a:lnTo>
                    <a:pt x="4687" y="82859"/>
                  </a:lnTo>
                  <a:lnTo>
                    <a:pt x="17468" y="101817"/>
                  </a:lnTo>
                  <a:lnTo>
                    <a:pt x="36427" y="114599"/>
                  </a:lnTo>
                  <a:lnTo>
                    <a:pt x="59643" y="119286"/>
                  </a:lnTo>
                  <a:lnTo>
                    <a:pt x="82859" y="114599"/>
                  </a:lnTo>
                  <a:lnTo>
                    <a:pt x="101817" y="101817"/>
                  </a:lnTo>
                  <a:lnTo>
                    <a:pt x="114599" y="82859"/>
                  </a:lnTo>
                  <a:lnTo>
                    <a:pt x="119286" y="59643"/>
                  </a:lnTo>
                  <a:lnTo>
                    <a:pt x="114599" y="36427"/>
                  </a:lnTo>
                  <a:lnTo>
                    <a:pt x="101817" y="17468"/>
                  </a:lnTo>
                  <a:lnTo>
                    <a:pt x="82859" y="4686"/>
                  </a:lnTo>
                  <a:lnTo>
                    <a:pt x="596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93857" y="1060171"/>
              <a:ext cx="119286" cy="11928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891697" y="810818"/>
              <a:ext cx="219075" cy="172720"/>
            </a:xfrm>
            <a:custGeom>
              <a:avLst/>
              <a:gdLst/>
              <a:ahLst/>
              <a:cxnLst/>
              <a:rect l="l" t="t" r="r" b="b"/>
              <a:pathLst>
                <a:path w="219075" h="172719">
                  <a:moveTo>
                    <a:pt x="219036" y="97790"/>
                  </a:moveTo>
                  <a:lnTo>
                    <a:pt x="214350" y="74574"/>
                  </a:lnTo>
                  <a:lnTo>
                    <a:pt x="201561" y="55613"/>
                  </a:lnTo>
                  <a:lnTo>
                    <a:pt x="193459" y="50165"/>
                  </a:lnTo>
                  <a:lnTo>
                    <a:pt x="190690" y="36423"/>
                  </a:lnTo>
                  <a:lnTo>
                    <a:pt x="177901" y="17462"/>
                  </a:lnTo>
                  <a:lnTo>
                    <a:pt x="158953" y="4686"/>
                  </a:lnTo>
                  <a:lnTo>
                    <a:pt x="135737" y="0"/>
                  </a:lnTo>
                  <a:lnTo>
                    <a:pt x="112522" y="4686"/>
                  </a:lnTo>
                  <a:lnTo>
                    <a:pt x="93560" y="17462"/>
                  </a:lnTo>
                  <a:lnTo>
                    <a:pt x="80772" y="36423"/>
                  </a:lnTo>
                  <a:lnTo>
                    <a:pt x="76733" y="56400"/>
                  </a:lnTo>
                  <a:lnTo>
                    <a:pt x="59639" y="52946"/>
                  </a:lnTo>
                  <a:lnTo>
                    <a:pt x="36423" y="57632"/>
                  </a:lnTo>
                  <a:lnTo>
                    <a:pt x="17462" y="70421"/>
                  </a:lnTo>
                  <a:lnTo>
                    <a:pt x="4686" y="89369"/>
                  </a:lnTo>
                  <a:lnTo>
                    <a:pt x="0" y="112585"/>
                  </a:lnTo>
                  <a:lnTo>
                    <a:pt x="4686" y="135813"/>
                  </a:lnTo>
                  <a:lnTo>
                    <a:pt x="17462" y="154762"/>
                  </a:lnTo>
                  <a:lnTo>
                    <a:pt x="36423" y="167551"/>
                  </a:lnTo>
                  <a:lnTo>
                    <a:pt x="59639" y="172237"/>
                  </a:lnTo>
                  <a:lnTo>
                    <a:pt x="82854" y="167551"/>
                  </a:lnTo>
                  <a:lnTo>
                    <a:pt x="101815" y="154762"/>
                  </a:lnTo>
                  <a:lnTo>
                    <a:pt x="114503" y="135953"/>
                  </a:lnTo>
                  <a:lnTo>
                    <a:pt x="117221" y="139966"/>
                  </a:lnTo>
                  <a:lnTo>
                    <a:pt x="136169" y="152742"/>
                  </a:lnTo>
                  <a:lnTo>
                    <a:pt x="159385" y="157429"/>
                  </a:lnTo>
                  <a:lnTo>
                    <a:pt x="182600" y="152742"/>
                  </a:lnTo>
                  <a:lnTo>
                    <a:pt x="201561" y="139966"/>
                  </a:lnTo>
                  <a:lnTo>
                    <a:pt x="214350" y="121005"/>
                  </a:lnTo>
                  <a:lnTo>
                    <a:pt x="219036" y="9779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26906" y="639853"/>
              <a:ext cx="1944370" cy="1944370"/>
            </a:xfrm>
            <a:custGeom>
              <a:avLst/>
              <a:gdLst/>
              <a:ahLst/>
              <a:cxnLst/>
              <a:rect l="l" t="t" r="r" b="b"/>
              <a:pathLst>
                <a:path w="1944370" h="1944370">
                  <a:moveTo>
                    <a:pt x="648003" y="1620008"/>
                  </a:moveTo>
                  <a:lnTo>
                    <a:pt x="644490" y="1572129"/>
                  </a:lnTo>
                  <a:lnTo>
                    <a:pt x="634285" y="1526431"/>
                  </a:lnTo>
                  <a:lnTo>
                    <a:pt x="617890" y="1483416"/>
                  </a:lnTo>
                  <a:lnTo>
                    <a:pt x="595805" y="1443585"/>
                  </a:lnTo>
                  <a:lnTo>
                    <a:pt x="568531" y="1407438"/>
                  </a:lnTo>
                  <a:lnTo>
                    <a:pt x="536571" y="1375478"/>
                  </a:lnTo>
                  <a:lnTo>
                    <a:pt x="500424" y="1348205"/>
                  </a:lnTo>
                  <a:lnTo>
                    <a:pt x="460593" y="1326120"/>
                  </a:lnTo>
                  <a:lnTo>
                    <a:pt x="417578" y="1309724"/>
                  </a:lnTo>
                  <a:lnTo>
                    <a:pt x="371880" y="1299519"/>
                  </a:lnTo>
                  <a:lnTo>
                    <a:pt x="324001" y="1296006"/>
                  </a:lnTo>
                  <a:lnTo>
                    <a:pt x="276122" y="1299519"/>
                  </a:lnTo>
                  <a:lnTo>
                    <a:pt x="230424" y="1309724"/>
                  </a:lnTo>
                  <a:lnTo>
                    <a:pt x="187409" y="1326120"/>
                  </a:lnTo>
                  <a:lnTo>
                    <a:pt x="147578" y="1348205"/>
                  </a:lnTo>
                  <a:lnTo>
                    <a:pt x="111431" y="1375478"/>
                  </a:lnTo>
                  <a:lnTo>
                    <a:pt x="79471" y="1407438"/>
                  </a:lnTo>
                  <a:lnTo>
                    <a:pt x="52198" y="1443585"/>
                  </a:lnTo>
                  <a:lnTo>
                    <a:pt x="30113" y="1483416"/>
                  </a:lnTo>
                  <a:lnTo>
                    <a:pt x="13717" y="1526431"/>
                  </a:lnTo>
                  <a:lnTo>
                    <a:pt x="3512" y="1572129"/>
                  </a:lnTo>
                  <a:lnTo>
                    <a:pt x="0" y="1620008"/>
                  </a:lnTo>
                  <a:lnTo>
                    <a:pt x="3512" y="1667887"/>
                  </a:lnTo>
                  <a:lnTo>
                    <a:pt x="13717" y="1713585"/>
                  </a:lnTo>
                  <a:lnTo>
                    <a:pt x="30113" y="1756600"/>
                  </a:lnTo>
                  <a:lnTo>
                    <a:pt x="52198" y="1796431"/>
                  </a:lnTo>
                  <a:lnTo>
                    <a:pt x="79471" y="1832578"/>
                  </a:lnTo>
                  <a:lnTo>
                    <a:pt x="111431" y="1864538"/>
                  </a:lnTo>
                  <a:lnTo>
                    <a:pt x="147578" y="1891812"/>
                  </a:lnTo>
                  <a:lnTo>
                    <a:pt x="187409" y="1913897"/>
                  </a:lnTo>
                  <a:lnTo>
                    <a:pt x="230424" y="1930292"/>
                  </a:lnTo>
                  <a:lnTo>
                    <a:pt x="276122" y="1940497"/>
                  </a:lnTo>
                  <a:lnTo>
                    <a:pt x="324001" y="1944010"/>
                  </a:lnTo>
                  <a:lnTo>
                    <a:pt x="371880" y="1940497"/>
                  </a:lnTo>
                  <a:lnTo>
                    <a:pt x="417578" y="1930292"/>
                  </a:lnTo>
                  <a:lnTo>
                    <a:pt x="460593" y="1913897"/>
                  </a:lnTo>
                  <a:lnTo>
                    <a:pt x="500424" y="1891812"/>
                  </a:lnTo>
                  <a:lnTo>
                    <a:pt x="536571" y="1864538"/>
                  </a:lnTo>
                  <a:lnTo>
                    <a:pt x="568531" y="1832578"/>
                  </a:lnTo>
                  <a:lnTo>
                    <a:pt x="595805" y="1796431"/>
                  </a:lnTo>
                  <a:lnTo>
                    <a:pt x="617890" y="1756600"/>
                  </a:lnTo>
                  <a:lnTo>
                    <a:pt x="634285" y="1713585"/>
                  </a:lnTo>
                  <a:lnTo>
                    <a:pt x="644490" y="1667887"/>
                  </a:lnTo>
                  <a:lnTo>
                    <a:pt x="648003" y="1620008"/>
                  </a:lnTo>
                  <a:close/>
                </a:path>
                <a:path w="1944370" h="1944370">
                  <a:moveTo>
                    <a:pt x="1782009" y="1620008"/>
                  </a:moveTo>
                  <a:lnTo>
                    <a:pt x="1778496" y="1572129"/>
                  </a:lnTo>
                  <a:lnTo>
                    <a:pt x="1768291" y="1526431"/>
                  </a:lnTo>
                  <a:lnTo>
                    <a:pt x="1751896" y="1483416"/>
                  </a:lnTo>
                  <a:lnTo>
                    <a:pt x="1729811" y="1443585"/>
                  </a:lnTo>
                  <a:lnTo>
                    <a:pt x="1702537" y="1407438"/>
                  </a:lnTo>
                  <a:lnTo>
                    <a:pt x="1670577" y="1375478"/>
                  </a:lnTo>
                  <a:lnTo>
                    <a:pt x="1634430" y="1348205"/>
                  </a:lnTo>
                  <a:lnTo>
                    <a:pt x="1594599" y="1326120"/>
                  </a:lnTo>
                  <a:lnTo>
                    <a:pt x="1551584" y="1309724"/>
                  </a:lnTo>
                  <a:lnTo>
                    <a:pt x="1505886" y="1299519"/>
                  </a:lnTo>
                  <a:lnTo>
                    <a:pt x="1458007" y="1296006"/>
                  </a:lnTo>
                  <a:lnTo>
                    <a:pt x="1410128" y="1299519"/>
                  </a:lnTo>
                  <a:lnTo>
                    <a:pt x="1364430" y="1309724"/>
                  </a:lnTo>
                  <a:lnTo>
                    <a:pt x="1321415" y="1326120"/>
                  </a:lnTo>
                  <a:lnTo>
                    <a:pt x="1281584" y="1348205"/>
                  </a:lnTo>
                  <a:lnTo>
                    <a:pt x="1245437" y="1375478"/>
                  </a:lnTo>
                  <a:lnTo>
                    <a:pt x="1213477" y="1407438"/>
                  </a:lnTo>
                  <a:lnTo>
                    <a:pt x="1186204" y="1443585"/>
                  </a:lnTo>
                  <a:lnTo>
                    <a:pt x="1164119" y="1483416"/>
                  </a:lnTo>
                  <a:lnTo>
                    <a:pt x="1147723" y="1526431"/>
                  </a:lnTo>
                  <a:lnTo>
                    <a:pt x="1137518" y="1572129"/>
                  </a:lnTo>
                  <a:lnTo>
                    <a:pt x="1134005" y="1620008"/>
                  </a:lnTo>
                  <a:lnTo>
                    <a:pt x="1137518" y="1667887"/>
                  </a:lnTo>
                  <a:lnTo>
                    <a:pt x="1147723" y="1713585"/>
                  </a:lnTo>
                  <a:lnTo>
                    <a:pt x="1164119" y="1756600"/>
                  </a:lnTo>
                  <a:lnTo>
                    <a:pt x="1186204" y="1796431"/>
                  </a:lnTo>
                  <a:lnTo>
                    <a:pt x="1213477" y="1832578"/>
                  </a:lnTo>
                  <a:lnTo>
                    <a:pt x="1245437" y="1864538"/>
                  </a:lnTo>
                  <a:lnTo>
                    <a:pt x="1281584" y="1891812"/>
                  </a:lnTo>
                  <a:lnTo>
                    <a:pt x="1321415" y="1913897"/>
                  </a:lnTo>
                  <a:lnTo>
                    <a:pt x="1364430" y="1930292"/>
                  </a:lnTo>
                  <a:lnTo>
                    <a:pt x="1410128" y="1940497"/>
                  </a:lnTo>
                  <a:lnTo>
                    <a:pt x="1458007" y="1944010"/>
                  </a:lnTo>
                  <a:lnTo>
                    <a:pt x="1505886" y="1940497"/>
                  </a:lnTo>
                  <a:lnTo>
                    <a:pt x="1551584" y="1930292"/>
                  </a:lnTo>
                  <a:lnTo>
                    <a:pt x="1594599" y="1913897"/>
                  </a:lnTo>
                  <a:lnTo>
                    <a:pt x="1634430" y="1891812"/>
                  </a:lnTo>
                  <a:lnTo>
                    <a:pt x="1670577" y="1864538"/>
                  </a:lnTo>
                  <a:lnTo>
                    <a:pt x="1702537" y="1832578"/>
                  </a:lnTo>
                  <a:lnTo>
                    <a:pt x="1729811" y="1796431"/>
                  </a:lnTo>
                  <a:lnTo>
                    <a:pt x="1751896" y="1756600"/>
                  </a:lnTo>
                  <a:lnTo>
                    <a:pt x="1768291" y="1713585"/>
                  </a:lnTo>
                  <a:lnTo>
                    <a:pt x="1778496" y="1667887"/>
                  </a:lnTo>
                  <a:lnTo>
                    <a:pt x="1782009" y="1620008"/>
                  </a:lnTo>
                  <a:close/>
                </a:path>
                <a:path w="1944370" h="1944370">
                  <a:moveTo>
                    <a:pt x="810004" y="486002"/>
                  </a:moveTo>
                  <a:lnTo>
                    <a:pt x="806491" y="438123"/>
                  </a:lnTo>
                  <a:lnTo>
                    <a:pt x="796286" y="392425"/>
                  </a:lnTo>
                  <a:lnTo>
                    <a:pt x="779891" y="349410"/>
                  </a:lnTo>
                  <a:lnTo>
                    <a:pt x="757806" y="309579"/>
                  </a:lnTo>
                  <a:lnTo>
                    <a:pt x="730532" y="273432"/>
                  </a:lnTo>
                  <a:lnTo>
                    <a:pt x="698572" y="241472"/>
                  </a:lnTo>
                  <a:lnTo>
                    <a:pt x="662425" y="214199"/>
                  </a:lnTo>
                  <a:lnTo>
                    <a:pt x="622594" y="192114"/>
                  </a:lnTo>
                  <a:lnTo>
                    <a:pt x="579579" y="175718"/>
                  </a:lnTo>
                  <a:lnTo>
                    <a:pt x="533881" y="165513"/>
                  </a:lnTo>
                  <a:lnTo>
                    <a:pt x="486002" y="162000"/>
                  </a:lnTo>
                  <a:lnTo>
                    <a:pt x="438123" y="165513"/>
                  </a:lnTo>
                  <a:lnTo>
                    <a:pt x="392425" y="175718"/>
                  </a:lnTo>
                  <a:lnTo>
                    <a:pt x="349410" y="192114"/>
                  </a:lnTo>
                  <a:lnTo>
                    <a:pt x="309579" y="214199"/>
                  </a:lnTo>
                  <a:lnTo>
                    <a:pt x="273432" y="241472"/>
                  </a:lnTo>
                  <a:lnTo>
                    <a:pt x="241472" y="273432"/>
                  </a:lnTo>
                  <a:lnTo>
                    <a:pt x="214199" y="309579"/>
                  </a:lnTo>
                  <a:lnTo>
                    <a:pt x="192114" y="349410"/>
                  </a:lnTo>
                  <a:lnTo>
                    <a:pt x="175718" y="392425"/>
                  </a:lnTo>
                  <a:lnTo>
                    <a:pt x="165513" y="438123"/>
                  </a:lnTo>
                  <a:lnTo>
                    <a:pt x="162000" y="486002"/>
                  </a:lnTo>
                  <a:lnTo>
                    <a:pt x="165513" y="533881"/>
                  </a:lnTo>
                  <a:lnTo>
                    <a:pt x="175718" y="579579"/>
                  </a:lnTo>
                  <a:lnTo>
                    <a:pt x="192114" y="622594"/>
                  </a:lnTo>
                  <a:lnTo>
                    <a:pt x="214199" y="662425"/>
                  </a:lnTo>
                  <a:lnTo>
                    <a:pt x="241472" y="698572"/>
                  </a:lnTo>
                  <a:lnTo>
                    <a:pt x="273432" y="730532"/>
                  </a:lnTo>
                  <a:lnTo>
                    <a:pt x="309579" y="757806"/>
                  </a:lnTo>
                  <a:lnTo>
                    <a:pt x="349410" y="779891"/>
                  </a:lnTo>
                  <a:lnTo>
                    <a:pt x="392425" y="796286"/>
                  </a:lnTo>
                  <a:lnTo>
                    <a:pt x="438123" y="806491"/>
                  </a:lnTo>
                  <a:lnTo>
                    <a:pt x="486002" y="810004"/>
                  </a:lnTo>
                  <a:lnTo>
                    <a:pt x="533881" y="806491"/>
                  </a:lnTo>
                  <a:lnTo>
                    <a:pt x="579579" y="796286"/>
                  </a:lnTo>
                  <a:lnTo>
                    <a:pt x="622594" y="779891"/>
                  </a:lnTo>
                  <a:lnTo>
                    <a:pt x="662425" y="757806"/>
                  </a:lnTo>
                  <a:lnTo>
                    <a:pt x="698572" y="730532"/>
                  </a:lnTo>
                  <a:lnTo>
                    <a:pt x="730532" y="698572"/>
                  </a:lnTo>
                  <a:lnTo>
                    <a:pt x="757806" y="662425"/>
                  </a:lnTo>
                  <a:lnTo>
                    <a:pt x="779891" y="622594"/>
                  </a:lnTo>
                  <a:lnTo>
                    <a:pt x="796286" y="579579"/>
                  </a:lnTo>
                  <a:lnTo>
                    <a:pt x="806491" y="533881"/>
                  </a:lnTo>
                  <a:lnTo>
                    <a:pt x="810004" y="486002"/>
                  </a:lnTo>
                  <a:close/>
                </a:path>
                <a:path w="1944370" h="1944370">
                  <a:moveTo>
                    <a:pt x="1944010" y="324001"/>
                  </a:moveTo>
                  <a:lnTo>
                    <a:pt x="1940497" y="276122"/>
                  </a:lnTo>
                  <a:lnTo>
                    <a:pt x="1930292" y="230424"/>
                  </a:lnTo>
                  <a:lnTo>
                    <a:pt x="1913897" y="187409"/>
                  </a:lnTo>
                  <a:lnTo>
                    <a:pt x="1891812" y="147578"/>
                  </a:lnTo>
                  <a:lnTo>
                    <a:pt x="1864538" y="111431"/>
                  </a:lnTo>
                  <a:lnTo>
                    <a:pt x="1832578" y="79471"/>
                  </a:lnTo>
                  <a:lnTo>
                    <a:pt x="1796431" y="52198"/>
                  </a:lnTo>
                  <a:lnTo>
                    <a:pt x="1756600" y="30113"/>
                  </a:lnTo>
                  <a:lnTo>
                    <a:pt x="1713585" y="13717"/>
                  </a:lnTo>
                  <a:lnTo>
                    <a:pt x="1667887" y="3512"/>
                  </a:lnTo>
                  <a:lnTo>
                    <a:pt x="1620008" y="0"/>
                  </a:lnTo>
                  <a:lnTo>
                    <a:pt x="1572129" y="3512"/>
                  </a:lnTo>
                  <a:lnTo>
                    <a:pt x="1526431" y="13717"/>
                  </a:lnTo>
                  <a:lnTo>
                    <a:pt x="1483416" y="30113"/>
                  </a:lnTo>
                  <a:lnTo>
                    <a:pt x="1443585" y="52198"/>
                  </a:lnTo>
                  <a:lnTo>
                    <a:pt x="1407438" y="79471"/>
                  </a:lnTo>
                  <a:lnTo>
                    <a:pt x="1375478" y="111431"/>
                  </a:lnTo>
                  <a:lnTo>
                    <a:pt x="1348205" y="147578"/>
                  </a:lnTo>
                  <a:lnTo>
                    <a:pt x="1326120" y="187409"/>
                  </a:lnTo>
                  <a:lnTo>
                    <a:pt x="1309724" y="230424"/>
                  </a:lnTo>
                  <a:lnTo>
                    <a:pt x="1299519" y="276122"/>
                  </a:lnTo>
                  <a:lnTo>
                    <a:pt x="1296006" y="324001"/>
                  </a:lnTo>
                  <a:lnTo>
                    <a:pt x="1299519" y="371880"/>
                  </a:lnTo>
                  <a:lnTo>
                    <a:pt x="1309724" y="417578"/>
                  </a:lnTo>
                  <a:lnTo>
                    <a:pt x="1326120" y="460593"/>
                  </a:lnTo>
                  <a:lnTo>
                    <a:pt x="1348205" y="500424"/>
                  </a:lnTo>
                  <a:lnTo>
                    <a:pt x="1375478" y="536571"/>
                  </a:lnTo>
                  <a:lnTo>
                    <a:pt x="1407438" y="568531"/>
                  </a:lnTo>
                  <a:lnTo>
                    <a:pt x="1443585" y="595805"/>
                  </a:lnTo>
                  <a:lnTo>
                    <a:pt x="1483416" y="617890"/>
                  </a:lnTo>
                  <a:lnTo>
                    <a:pt x="1526431" y="634285"/>
                  </a:lnTo>
                  <a:lnTo>
                    <a:pt x="1572129" y="644490"/>
                  </a:lnTo>
                  <a:lnTo>
                    <a:pt x="1620008" y="648003"/>
                  </a:lnTo>
                  <a:lnTo>
                    <a:pt x="1667887" y="644490"/>
                  </a:lnTo>
                  <a:lnTo>
                    <a:pt x="1713585" y="634285"/>
                  </a:lnTo>
                  <a:lnTo>
                    <a:pt x="1756600" y="617890"/>
                  </a:lnTo>
                  <a:lnTo>
                    <a:pt x="1796431" y="595805"/>
                  </a:lnTo>
                  <a:lnTo>
                    <a:pt x="1832578" y="568531"/>
                  </a:lnTo>
                  <a:lnTo>
                    <a:pt x="1864538" y="536571"/>
                  </a:lnTo>
                  <a:lnTo>
                    <a:pt x="1891812" y="500424"/>
                  </a:lnTo>
                  <a:lnTo>
                    <a:pt x="1913897" y="460593"/>
                  </a:lnTo>
                  <a:lnTo>
                    <a:pt x="1930292" y="417578"/>
                  </a:lnTo>
                  <a:lnTo>
                    <a:pt x="1940497" y="371880"/>
                  </a:lnTo>
                  <a:lnTo>
                    <a:pt x="1944010" y="324001"/>
                  </a:lnTo>
                  <a:close/>
                </a:path>
              </a:pathLst>
            </a:custGeom>
            <a:ln w="10122">
              <a:solidFill>
                <a:srgbClr val="3399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91265" y="2200218"/>
              <a:ext cx="119286" cy="119286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3326906" y="639853"/>
            <a:ext cx="1944370" cy="194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</a:pPr>
            <a:r>
              <a:rPr sz="500" spc="-25" dirty="0">
                <a:latin typeface="Tahoma"/>
                <a:cs typeface="Tahoma"/>
              </a:rPr>
              <a:t>UAV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753266" y="904211"/>
            <a:ext cx="1253490" cy="1415415"/>
            <a:chOff x="3753266" y="904211"/>
            <a:chExt cx="1253490" cy="1415415"/>
          </a:xfrm>
        </p:grpSpPr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25271" y="2200218"/>
              <a:ext cx="119286" cy="11928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53266" y="1066212"/>
              <a:ext cx="119286" cy="11928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87272" y="904211"/>
              <a:ext cx="119286" cy="119286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3637432" y="2678259"/>
            <a:ext cx="1323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K-</a:t>
            </a:r>
            <a:r>
              <a:rPr sz="900" spc="-45" dirty="0">
                <a:latin typeface="Arial MT"/>
                <a:cs typeface="Arial MT"/>
              </a:rPr>
              <a:t>means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Clustering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909481" y="2982968"/>
            <a:ext cx="734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Advantages: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931252" y="3163737"/>
            <a:ext cx="1480185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  <a:tabLst>
                <a:tab pos="1238250" algn="l"/>
              </a:tabLst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Feb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919973" y="3148621"/>
            <a:ext cx="3840479" cy="91440"/>
            <a:chOff x="1919973" y="3148621"/>
            <a:chExt cx="3840479" cy="91440"/>
          </a:xfrm>
        </p:grpSpPr>
        <p:sp>
          <p:nvSpPr>
            <p:cNvPr id="60" name="object 6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88404" y="3115909"/>
            <a:ext cx="5905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Joint</a:t>
            </a:r>
            <a:r>
              <a:rPr spc="-15" dirty="0"/>
              <a:t> </a:t>
            </a:r>
            <a:r>
              <a:rPr spc="-10" dirty="0"/>
              <a:t>Optimization:</a:t>
            </a:r>
            <a:r>
              <a:rPr spc="130" dirty="0"/>
              <a:t> </a:t>
            </a:r>
            <a:r>
              <a:rPr dirty="0"/>
              <a:t>Putting</a:t>
            </a:r>
            <a:r>
              <a:rPr spc="-10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spc="-30" dirty="0"/>
              <a:t>Together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89747" y="445003"/>
            <a:ext cx="1143635" cy="365125"/>
            <a:chOff x="1689747" y="445003"/>
            <a:chExt cx="1143635" cy="365125"/>
          </a:xfrm>
        </p:grpSpPr>
        <p:sp>
          <p:nvSpPr>
            <p:cNvPr id="4" name="object 4"/>
            <p:cNvSpPr/>
            <p:nvPr/>
          </p:nvSpPr>
          <p:spPr>
            <a:xfrm>
              <a:off x="1692287" y="447543"/>
              <a:ext cx="1138555" cy="360045"/>
            </a:xfrm>
            <a:custGeom>
              <a:avLst/>
              <a:gdLst/>
              <a:ahLst/>
              <a:cxnLst/>
              <a:rect l="l" t="t" r="r" b="b"/>
              <a:pathLst>
                <a:path w="1138555" h="360045">
                  <a:moveTo>
                    <a:pt x="1087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6"/>
                  </a:lnTo>
                  <a:lnTo>
                    <a:pt x="50610" y="360004"/>
                  </a:lnTo>
                  <a:lnTo>
                    <a:pt x="1087462" y="360004"/>
                  </a:lnTo>
                  <a:lnTo>
                    <a:pt x="1107162" y="356026"/>
                  </a:lnTo>
                  <a:lnTo>
                    <a:pt x="1123250" y="345180"/>
                  </a:lnTo>
                  <a:lnTo>
                    <a:pt x="1134096" y="329093"/>
                  </a:lnTo>
                  <a:lnTo>
                    <a:pt x="1138073" y="309393"/>
                  </a:lnTo>
                  <a:lnTo>
                    <a:pt x="1138073" y="50610"/>
                  </a:lnTo>
                  <a:lnTo>
                    <a:pt x="1134096" y="30910"/>
                  </a:lnTo>
                  <a:lnTo>
                    <a:pt x="1123250" y="14823"/>
                  </a:lnTo>
                  <a:lnTo>
                    <a:pt x="1107162" y="3977"/>
                  </a:lnTo>
                  <a:lnTo>
                    <a:pt x="1087462" y="0"/>
                  </a:lnTo>
                  <a:close/>
                </a:path>
              </a:pathLst>
            </a:custGeom>
            <a:solidFill>
              <a:srgbClr val="FF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92287" y="447543"/>
              <a:ext cx="1138555" cy="360045"/>
            </a:xfrm>
            <a:custGeom>
              <a:avLst/>
              <a:gdLst/>
              <a:ahLst/>
              <a:cxnLst/>
              <a:rect l="l" t="t" r="r" b="b"/>
              <a:pathLst>
                <a:path w="1138555" h="360045">
                  <a:moveTo>
                    <a:pt x="1087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6"/>
                  </a:lnTo>
                  <a:lnTo>
                    <a:pt x="50610" y="360004"/>
                  </a:lnTo>
                  <a:lnTo>
                    <a:pt x="1087462" y="360004"/>
                  </a:lnTo>
                  <a:lnTo>
                    <a:pt x="1107162" y="356026"/>
                  </a:lnTo>
                  <a:lnTo>
                    <a:pt x="1123250" y="345180"/>
                  </a:lnTo>
                  <a:lnTo>
                    <a:pt x="1134096" y="329093"/>
                  </a:lnTo>
                  <a:lnTo>
                    <a:pt x="1138073" y="309393"/>
                  </a:lnTo>
                  <a:lnTo>
                    <a:pt x="1138073" y="50610"/>
                  </a:lnTo>
                  <a:lnTo>
                    <a:pt x="1134096" y="30910"/>
                  </a:lnTo>
                  <a:lnTo>
                    <a:pt x="1123250" y="14823"/>
                  </a:lnTo>
                  <a:lnTo>
                    <a:pt x="1107162" y="3977"/>
                  </a:lnTo>
                  <a:lnTo>
                    <a:pt x="108746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96364" y="533763"/>
            <a:ext cx="11169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Start:</a:t>
            </a:r>
            <a:r>
              <a:rPr sz="900" spc="11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Initialize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" baseline="-9259" dirty="0">
                <a:latin typeface="Arial"/>
                <a:cs typeface="Arial"/>
              </a:rPr>
              <a:t>initial</a:t>
            </a:r>
            <a:endParaRPr sz="900" baseline="-92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3761" y="987549"/>
            <a:ext cx="1315720" cy="360045"/>
          </a:xfrm>
          <a:prstGeom prst="rect">
            <a:avLst/>
          </a:prstGeom>
          <a:solidFill>
            <a:srgbClr val="C1E0FF"/>
          </a:solidFill>
          <a:ln w="5060">
            <a:solidFill>
              <a:srgbClr val="00000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740"/>
              </a:spcBef>
            </a:pPr>
            <a:r>
              <a:rPr sz="900" dirty="0">
                <a:latin typeface="Arial MT"/>
                <a:cs typeface="Arial MT"/>
              </a:rPr>
              <a:t>UAV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Topology(K-</a:t>
            </a:r>
            <a:r>
              <a:rPr sz="900" spc="-10" dirty="0">
                <a:latin typeface="Arial MT"/>
                <a:cs typeface="Arial MT"/>
              </a:rPr>
              <a:t>means)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2540" y="1527556"/>
            <a:ext cx="1917700" cy="360045"/>
          </a:xfrm>
          <a:prstGeom prst="rect">
            <a:avLst/>
          </a:prstGeom>
          <a:solidFill>
            <a:srgbClr val="C1E0FF"/>
          </a:solidFill>
          <a:ln w="5060">
            <a:solidFill>
              <a:srgbClr val="00000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740"/>
              </a:spcBef>
            </a:pPr>
            <a:r>
              <a:rPr sz="900" dirty="0">
                <a:latin typeface="Arial MT"/>
                <a:cs typeface="Arial MT"/>
              </a:rPr>
              <a:t>R-TMSC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Matching(Offload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Strategy)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1317" y="2067563"/>
            <a:ext cx="1080135" cy="360045"/>
          </a:xfrm>
          <a:prstGeom prst="rect">
            <a:avLst/>
          </a:prstGeom>
          <a:solidFill>
            <a:srgbClr val="C1E0FF"/>
          </a:solidFill>
          <a:ln w="5060">
            <a:solidFill>
              <a:srgbClr val="00000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775"/>
              </a:spcBef>
            </a:pPr>
            <a:r>
              <a:rPr sz="900" spc="-20" dirty="0">
                <a:latin typeface="Arial MT"/>
                <a:cs typeface="Arial MT"/>
              </a:rPr>
              <a:t>Calculate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900" i="1" spc="-37" baseline="-9259" dirty="0">
                <a:latin typeface="Arial"/>
                <a:cs typeface="Arial"/>
              </a:rPr>
              <a:t>SP</a:t>
            </a:r>
            <a:endParaRPr sz="900" baseline="-9259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27091" y="2749712"/>
            <a:ext cx="868680" cy="436245"/>
            <a:chOff x="1827091" y="2749712"/>
            <a:chExt cx="868680" cy="436245"/>
          </a:xfrm>
        </p:grpSpPr>
        <p:sp>
          <p:nvSpPr>
            <p:cNvPr id="11" name="object 11"/>
            <p:cNvSpPr/>
            <p:nvPr/>
          </p:nvSpPr>
          <p:spPr>
            <a:xfrm>
              <a:off x="1829631" y="2752252"/>
              <a:ext cx="863600" cy="431165"/>
            </a:xfrm>
            <a:custGeom>
              <a:avLst/>
              <a:gdLst/>
              <a:ahLst/>
              <a:cxnLst/>
              <a:rect l="l" t="t" r="r" b="b"/>
              <a:pathLst>
                <a:path w="863600" h="431164">
                  <a:moveTo>
                    <a:pt x="431691" y="0"/>
                  </a:moveTo>
                  <a:lnTo>
                    <a:pt x="0" y="215321"/>
                  </a:lnTo>
                  <a:lnTo>
                    <a:pt x="431691" y="430643"/>
                  </a:lnTo>
                  <a:lnTo>
                    <a:pt x="863383" y="215321"/>
                  </a:lnTo>
                  <a:lnTo>
                    <a:pt x="431691" y="0"/>
                  </a:lnTo>
                  <a:close/>
                </a:path>
              </a:pathLst>
            </a:custGeom>
            <a:solidFill>
              <a:srgbClr val="B2E0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29631" y="2752252"/>
              <a:ext cx="863600" cy="431165"/>
            </a:xfrm>
            <a:custGeom>
              <a:avLst/>
              <a:gdLst/>
              <a:ahLst/>
              <a:cxnLst/>
              <a:rect l="l" t="t" r="r" b="b"/>
              <a:pathLst>
                <a:path w="863600" h="431164">
                  <a:moveTo>
                    <a:pt x="863383" y="215321"/>
                  </a:moveTo>
                  <a:lnTo>
                    <a:pt x="431691" y="0"/>
                  </a:lnTo>
                  <a:lnTo>
                    <a:pt x="0" y="215321"/>
                  </a:lnTo>
                  <a:lnTo>
                    <a:pt x="431691" y="430643"/>
                  </a:lnTo>
                  <a:lnTo>
                    <a:pt x="863383" y="21532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21128" y="2888414"/>
            <a:ext cx="4806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Tahoma"/>
                <a:cs typeface="Tahoma"/>
              </a:rPr>
              <a:t>Converged?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05215" y="2787572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4">
                <a:moveTo>
                  <a:pt x="1152257" y="0"/>
                </a:moveTo>
                <a:lnTo>
                  <a:pt x="0" y="0"/>
                </a:lnTo>
                <a:lnTo>
                  <a:pt x="0" y="360004"/>
                </a:lnTo>
                <a:lnTo>
                  <a:pt x="1152257" y="360004"/>
                </a:lnTo>
                <a:lnTo>
                  <a:pt x="1152257" y="0"/>
                </a:lnTo>
                <a:close/>
              </a:path>
            </a:pathLst>
          </a:custGeom>
          <a:solidFill>
            <a:srgbClr val="C1E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05215" y="2787572"/>
            <a:ext cx="1152525" cy="36004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740"/>
              </a:spcBef>
            </a:pPr>
            <a:r>
              <a:rPr sz="900" spc="-10" dirty="0">
                <a:latin typeface="Arial MT"/>
                <a:cs typeface="Arial MT"/>
              </a:rPr>
              <a:t>Update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UAVTopology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35006" y="810077"/>
            <a:ext cx="52705" cy="175260"/>
            <a:chOff x="2235006" y="810077"/>
            <a:chExt cx="52705" cy="175260"/>
          </a:xfrm>
        </p:grpSpPr>
        <p:sp>
          <p:nvSpPr>
            <p:cNvPr id="17" name="object 17"/>
            <p:cNvSpPr/>
            <p:nvPr/>
          </p:nvSpPr>
          <p:spPr>
            <a:xfrm>
              <a:off x="2261323" y="810077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40">
                  <a:moveTo>
                    <a:pt x="0" y="0"/>
                  </a:moveTo>
                  <a:lnTo>
                    <a:pt x="0" y="142045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35006" y="93238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235006" y="1350084"/>
            <a:ext cx="52705" cy="175260"/>
            <a:chOff x="2235006" y="1350084"/>
            <a:chExt cx="52705" cy="175260"/>
          </a:xfrm>
        </p:grpSpPr>
        <p:sp>
          <p:nvSpPr>
            <p:cNvPr id="20" name="object 20"/>
            <p:cNvSpPr/>
            <p:nvPr/>
          </p:nvSpPr>
          <p:spPr>
            <a:xfrm>
              <a:off x="2261323" y="1350084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40">
                  <a:moveTo>
                    <a:pt x="0" y="0"/>
                  </a:moveTo>
                  <a:lnTo>
                    <a:pt x="0" y="142045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35006" y="147239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235006" y="1890091"/>
            <a:ext cx="52705" cy="175260"/>
            <a:chOff x="2235006" y="1890091"/>
            <a:chExt cx="52705" cy="175260"/>
          </a:xfrm>
        </p:grpSpPr>
        <p:sp>
          <p:nvSpPr>
            <p:cNvPr id="23" name="object 23"/>
            <p:cNvSpPr/>
            <p:nvPr/>
          </p:nvSpPr>
          <p:spPr>
            <a:xfrm>
              <a:off x="2261323" y="1890091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39">
                  <a:moveTo>
                    <a:pt x="0" y="0"/>
                  </a:moveTo>
                  <a:lnTo>
                    <a:pt x="0" y="142045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35006" y="2012398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235006" y="2425017"/>
            <a:ext cx="1068070" cy="568960"/>
            <a:chOff x="2235006" y="2425017"/>
            <a:chExt cx="1068070" cy="568960"/>
          </a:xfrm>
        </p:grpSpPr>
        <p:sp>
          <p:nvSpPr>
            <p:cNvPr id="26" name="object 26"/>
            <p:cNvSpPr/>
            <p:nvPr/>
          </p:nvSpPr>
          <p:spPr>
            <a:xfrm>
              <a:off x="2261323" y="2430097"/>
              <a:ext cx="0" cy="285750"/>
            </a:xfrm>
            <a:custGeom>
              <a:avLst/>
              <a:gdLst/>
              <a:ahLst/>
              <a:cxnLst/>
              <a:rect l="l" t="t" r="r" b="b"/>
              <a:pathLst>
                <a:path h="285750">
                  <a:moveTo>
                    <a:pt x="0" y="0"/>
                  </a:moveTo>
                  <a:lnTo>
                    <a:pt x="0" y="285675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35006" y="269603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96622" y="2967574"/>
              <a:ext cx="573405" cy="0"/>
            </a:xfrm>
            <a:custGeom>
              <a:avLst/>
              <a:gdLst/>
              <a:ahLst/>
              <a:cxnLst/>
              <a:rect l="l" t="t" r="r" b="b"/>
              <a:pathLst>
                <a:path w="573404">
                  <a:moveTo>
                    <a:pt x="0" y="0"/>
                  </a:moveTo>
                  <a:lnTo>
                    <a:pt x="57316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50051" y="294125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46412" y="2844351"/>
            <a:ext cx="1066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ahoma"/>
                <a:cs typeface="Tahoma"/>
              </a:rPr>
              <a:t>No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1681241"/>
            <a:ext cx="5760085" cy="1558925"/>
            <a:chOff x="0" y="1681241"/>
            <a:chExt cx="5760085" cy="1558925"/>
          </a:xfrm>
        </p:grpSpPr>
        <p:sp>
          <p:nvSpPr>
            <p:cNvPr id="32" name="object 32"/>
            <p:cNvSpPr/>
            <p:nvPr/>
          </p:nvSpPr>
          <p:spPr>
            <a:xfrm>
              <a:off x="3255533" y="1707558"/>
              <a:ext cx="626110" cy="1077595"/>
            </a:xfrm>
            <a:custGeom>
              <a:avLst/>
              <a:gdLst/>
              <a:ahLst/>
              <a:cxnLst/>
              <a:rect l="l" t="t" r="r" b="b"/>
              <a:pathLst>
                <a:path w="626110" h="1077595">
                  <a:moveTo>
                    <a:pt x="625810" y="1077482"/>
                  </a:moveTo>
                  <a:lnTo>
                    <a:pt x="625810" y="0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2637" y="168124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52634" y="52633"/>
                  </a:moveTo>
                  <a:lnTo>
                    <a:pt x="32896" y="26316"/>
                  </a:lnTo>
                  <a:lnTo>
                    <a:pt x="52634" y="0"/>
                  </a:lnTo>
                  <a:lnTo>
                    <a:pt x="0" y="26316"/>
                  </a:lnTo>
                  <a:lnTo>
                    <a:pt x="52634" y="526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19973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39946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931252" y="3163737"/>
            <a:ext cx="376555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  <a:tabLst>
                <a:tab pos="179070" algn="l"/>
              </a:tabLst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14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653" y="412997"/>
            <a:ext cx="3939540" cy="37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 indent="-253365">
              <a:lnSpc>
                <a:spcPct val="116199"/>
              </a:lnSpc>
              <a:spcBef>
                <a:spcPts val="100"/>
              </a:spcBef>
              <a:tabLst>
                <a:tab pos="2849880" algn="l"/>
              </a:tabLst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Components: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Modules: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6" name="object 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653" y="412997"/>
            <a:ext cx="1610360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23431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8" name="object 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653" y="412997"/>
            <a:ext cx="1901189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412997"/>
            <a:ext cx="190118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0" name="object 1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653" y="412997"/>
            <a:ext cx="1901189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653" y="412997"/>
            <a:ext cx="1901189" cy="11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nodes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1653" y="412997"/>
            <a:ext cx="1901189" cy="1301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234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653" y="412997"/>
            <a:ext cx="1901189" cy="144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234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1653" y="412997"/>
            <a:ext cx="1901189" cy="161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234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5" name="object 15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1653" y="412997"/>
            <a:ext cx="1901189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25145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508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234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1653" y="412997"/>
            <a:ext cx="2235200" cy="192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7" name="object 1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653" y="412997"/>
            <a:ext cx="2235200" cy="2059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8" name="object 1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1653" y="412997"/>
            <a:ext cx="2235200" cy="223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9" name="object 1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1653" y="412997"/>
            <a:ext cx="2235200" cy="240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0" name="object 2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1653" y="412997"/>
            <a:ext cx="2235200" cy="254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1" name="object 21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2" name="object 2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2528" y="615421"/>
            <a:ext cx="14122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162528" y="587297"/>
            <a:ext cx="1501140" cy="367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calculation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0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0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0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0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0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162528" y="587297"/>
            <a:ext cx="1501140" cy="50673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62528" y="587297"/>
            <a:ext cx="1501140" cy="6457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62528" y="587297"/>
            <a:ext cx="1501140" cy="82550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162528" y="587297"/>
            <a:ext cx="1501140" cy="9874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95"/>
              </a:spcBef>
            </a:pP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UAVs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162528" y="587297"/>
            <a:ext cx="1501140" cy="11264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29235" indent="-253365">
              <a:lnSpc>
                <a:spcPct val="1089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162528" y="587297"/>
            <a:ext cx="1501140" cy="12661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29235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6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6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6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6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6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162528" y="587297"/>
            <a:ext cx="1501140" cy="14458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29235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Engine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16998" y="2108530"/>
            <a:ext cx="48018" cy="48018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162528" y="587297"/>
            <a:ext cx="1501140" cy="160782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29235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Engine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 MT"/>
                <a:cs typeface="Arial MT"/>
              </a:rPr>
              <a:t>R-TMSC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algorithm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-12700" y="3135918"/>
            <a:ext cx="1957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487142" y="3135918"/>
            <a:ext cx="7861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479645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34187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653" y="412997"/>
            <a:ext cx="2235200" cy="2059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16998" y="2108530"/>
            <a:ext cx="48018" cy="4801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6998" y="2247709"/>
            <a:ext cx="48018" cy="48018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162528" y="587297"/>
            <a:ext cx="1501140" cy="17468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508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29235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265430" marR="290195" indent="-253365" algn="just">
              <a:lnSpc>
                <a:spcPct val="1089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Engine </a:t>
            </a:r>
            <a:r>
              <a:rPr sz="900" spc="-20" dirty="0">
                <a:latin typeface="Arial MT"/>
                <a:cs typeface="Arial MT"/>
              </a:rPr>
              <a:t>R-</a:t>
            </a:r>
            <a:r>
              <a:rPr sz="900" dirty="0">
                <a:latin typeface="Arial MT"/>
                <a:cs typeface="Arial MT"/>
              </a:rPr>
              <a:t>TMSC </a:t>
            </a:r>
            <a:r>
              <a:rPr sz="900" spc="-10" dirty="0">
                <a:latin typeface="Arial MT"/>
                <a:cs typeface="Arial MT"/>
              </a:rPr>
              <a:t>algorithm </a:t>
            </a: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clustering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7" name="object 3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-12700" y="2503184"/>
            <a:ext cx="220662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885">
              <a:lnSpc>
                <a:spcPts val="1075"/>
              </a:lnSpc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602615" marR="5080">
              <a:lnSpc>
                <a:spcPct val="101499"/>
              </a:lnSpc>
              <a:spcBef>
                <a:spcPts val="175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60261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653" y="412997"/>
            <a:ext cx="2235200" cy="2059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16998" y="2108530"/>
            <a:ext cx="48018" cy="4801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6998" y="2247709"/>
            <a:ext cx="48018" cy="4801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6998" y="2386888"/>
            <a:ext cx="48018" cy="48018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3162528" y="587297"/>
            <a:ext cx="1519555" cy="18859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2286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47650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265430" marR="308610" indent="-253365" algn="just">
              <a:lnSpc>
                <a:spcPct val="1089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Engine </a:t>
            </a:r>
            <a:r>
              <a:rPr sz="900" spc="-20" dirty="0">
                <a:latin typeface="Arial MT"/>
                <a:cs typeface="Arial MT"/>
              </a:rPr>
              <a:t>R-</a:t>
            </a:r>
            <a:r>
              <a:rPr sz="900" dirty="0">
                <a:latin typeface="Arial MT"/>
                <a:cs typeface="Arial MT"/>
              </a:rPr>
              <a:t>TMSC </a:t>
            </a:r>
            <a:r>
              <a:rPr sz="900" spc="-10" dirty="0">
                <a:latin typeface="Arial MT"/>
                <a:cs typeface="Arial MT"/>
              </a:rPr>
              <a:t>algorithm </a:t>
            </a: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clustering</a:t>
            </a:r>
            <a:endParaRPr sz="900">
              <a:latin typeface="Arial MT"/>
              <a:cs typeface="Arial MT"/>
            </a:endParaRPr>
          </a:p>
          <a:p>
            <a:pPr marL="265430" algn="just">
              <a:lnSpc>
                <a:spcPct val="100000"/>
              </a:lnSpc>
              <a:spcBef>
                <a:spcPts val="15"/>
              </a:spcBef>
            </a:pPr>
            <a:r>
              <a:rPr sz="900" spc="-35" dirty="0">
                <a:latin typeface="Arial MT"/>
                <a:cs typeface="Arial MT"/>
              </a:rPr>
              <a:t>Preference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list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generation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8" name="object 3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-12700" y="2503184"/>
            <a:ext cx="220662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885">
              <a:lnSpc>
                <a:spcPts val="1075"/>
              </a:lnSpc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602615" marR="5080">
              <a:lnSpc>
                <a:spcPct val="101499"/>
              </a:lnSpc>
              <a:spcBef>
                <a:spcPts val="175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60261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0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0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0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0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0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1653" y="412997"/>
            <a:ext cx="2235200" cy="240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16998" y="2108530"/>
            <a:ext cx="48018" cy="4801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6998" y="2247709"/>
            <a:ext cx="48018" cy="4801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6998" y="2386888"/>
            <a:ext cx="48018" cy="48018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3162528" y="587297"/>
            <a:ext cx="1519555" cy="206565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2286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47650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265430" marR="308610" indent="-253365" algn="just">
              <a:lnSpc>
                <a:spcPct val="1089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Engine </a:t>
            </a:r>
            <a:r>
              <a:rPr sz="900" spc="-20" dirty="0">
                <a:latin typeface="Arial MT"/>
                <a:cs typeface="Arial MT"/>
              </a:rPr>
              <a:t>R-</a:t>
            </a:r>
            <a:r>
              <a:rPr sz="900" dirty="0">
                <a:latin typeface="Arial MT"/>
                <a:cs typeface="Arial MT"/>
              </a:rPr>
              <a:t>TMSC </a:t>
            </a:r>
            <a:r>
              <a:rPr sz="900" spc="-10" dirty="0">
                <a:latin typeface="Arial MT"/>
                <a:cs typeface="Arial MT"/>
              </a:rPr>
              <a:t>algorithm </a:t>
            </a: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clustering</a:t>
            </a:r>
            <a:endParaRPr sz="900">
              <a:latin typeface="Arial MT"/>
              <a:cs typeface="Arial MT"/>
            </a:endParaRPr>
          </a:p>
          <a:p>
            <a:pPr marL="265430" algn="just">
              <a:lnSpc>
                <a:spcPct val="100000"/>
              </a:lnSpc>
              <a:spcBef>
                <a:spcPts val="15"/>
              </a:spcBef>
            </a:pPr>
            <a:r>
              <a:rPr sz="900" spc="-35" dirty="0">
                <a:latin typeface="Arial MT"/>
                <a:cs typeface="Arial MT"/>
              </a:rPr>
              <a:t>Preference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list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generation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20" dirty="0">
                <a:latin typeface="Arial"/>
                <a:cs typeface="Arial"/>
              </a:rPr>
              <a:t>Monitoring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100" dirty="0">
                <a:latin typeface="Arial"/>
                <a:cs typeface="Arial"/>
              </a:rPr>
              <a:t>&amp;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Analytics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003575" y="2525880"/>
            <a:ext cx="104301" cy="10430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026232" y="251648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0" name="object 40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-12700" y="2818987"/>
            <a:ext cx="1957070" cy="421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615">
              <a:lnSpc>
                <a:spcPts val="960"/>
              </a:lnSpc>
            </a:pP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60261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1653" y="412997"/>
            <a:ext cx="2235200" cy="240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16998" y="2108530"/>
            <a:ext cx="48018" cy="4801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6998" y="2247709"/>
            <a:ext cx="48018" cy="4801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6998" y="2386888"/>
            <a:ext cx="48018" cy="4801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003575" y="2525880"/>
            <a:ext cx="104301" cy="104301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026232" y="251648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16998" y="2728506"/>
            <a:ext cx="48018" cy="4801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162528" y="587297"/>
            <a:ext cx="1519555" cy="222758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2286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47650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265430" marR="308610" indent="-253365" algn="just">
              <a:lnSpc>
                <a:spcPct val="1089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Engine </a:t>
            </a:r>
            <a:r>
              <a:rPr sz="900" spc="-20" dirty="0">
                <a:latin typeface="Arial MT"/>
                <a:cs typeface="Arial MT"/>
              </a:rPr>
              <a:t>R-</a:t>
            </a:r>
            <a:r>
              <a:rPr sz="900" dirty="0">
                <a:latin typeface="Arial MT"/>
                <a:cs typeface="Arial MT"/>
              </a:rPr>
              <a:t>TMSC </a:t>
            </a:r>
            <a:r>
              <a:rPr sz="900" spc="-10" dirty="0">
                <a:latin typeface="Arial MT"/>
                <a:cs typeface="Arial MT"/>
              </a:rPr>
              <a:t>algorithm </a:t>
            </a: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clustering</a:t>
            </a:r>
            <a:endParaRPr sz="900">
              <a:latin typeface="Arial MT"/>
              <a:cs typeface="Arial MT"/>
            </a:endParaRPr>
          </a:p>
          <a:p>
            <a:pPr marL="265430" algn="just">
              <a:lnSpc>
                <a:spcPct val="100000"/>
              </a:lnSpc>
              <a:spcBef>
                <a:spcPts val="15"/>
              </a:spcBef>
            </a:pPr>
            <a:r>
              <a:rPr sz="900" spc="-35" dirty="0">
                <a:latin typeface="Arial MT"/>
                <a:cs typeface="Arial MT"/>
              </a:rPr>
              <a:t>Preference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list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generation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20" dirty="0">
                <a:latin typeface="Arial"/>
                <a:cs typeface="Arial"/>
              </a:rPr>
              <a:t>Monitoring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100" dirty="0">
                <a:latin typeface="Arial"/>
                <a:cs typeface="Arial"/>
              </a:rPr>
              <a:t>&amp;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Analytics</a:t>
            </a:r>
            <a:endParaRPr sz="1000">
              <a:latin typeface="Arial"/>
              <a:cs typeface="Arial"/>
            </a:endParaRPr>
          </a:p>
          <a:p>
            <a:pPr marL="265430" algn="just">
              <a:lnSpc>
                <a:spcPct val="100000"/>
              </a:lnSpc>
              <a:spcBef>
                <a:spcPts val="195"/>
              </a:spcBef>
            </a:pPr>
            <a:r>
              <a:rPr sz="900" spc="-35" dirty="0">
                <a:latin typeface="Arial MT"/>
                <a:cs typeface="Arial MT"/>
              </a:rPr>
              <a:t>Performance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metrics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1" name="object 41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-12700" y="2818987"/>
            <a:ext cx="1957070" cy="421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615">
              <a:lnSpc>
                <a:spcPts val="960"/>
              </a:lnSpc>
            </a:pP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60261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Barick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Chetna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r>
              <a:rPr sz="5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5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IEEE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5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Networ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16998" y="2108530"/>
            <a:ext cx="48018" cy="4801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6998" y="2247709"/>
            <a:ext cx="48018" cy="4801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6998" y="2386888"/>
            <a:ext cx="48018" cy="4801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003575" y="2525880"/>
            <a:ext cx="104301" cy="104301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026232" y="251648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16998" y="2728506"/>
            <a:ext cx="48018" cy="4801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316998" y="2867685"/>
            <a:ext cx="48018" cy="48018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3162528" y="587297"/>
            <a:ext cx="1519555" cy="236664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2286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47650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265430" marR="308610" indent="-253365" algn="just">
              <a:lnSpc>
                <a:spcPct val="1089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Engine </a:t>
            </a:r>
            <a:r>
              <a:rPr sz="900" spc="-20" dirty="0">
                <a:latin typeface="Arial MT"/>
                <a:cs typeface="Arial MT"/>
              </a:rPr>
              <a:t>R-</a:t>
            </a:r>
            <a:r>
              <a:rPr sz="900" dirty="0">
                <a:latin typeface="Arial MT"/>
                <a:cs typeface="Arial MT"/>
              </a:rPr>
              <a:t>TMSC </a:t>
            </a:r>
            <a:r>
              <a:rPr sz="900" spc="-10" dirty="0">
                <a:latin typeface="Arial MT"/>
                <a:cs typeface="Arial MT"/>
              </a:rPr>
              <a:t>algorithm </a:t>
            </a: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clustering</a:t>
            </a:r>
            <a:endParaRPr sz="900">
              <a:latin typeface="Arial MT"/>
              <a:cs typeface="Arial MT"/>
            </a:endParaRPr>
          </a:p>
          <a:p>
            <a:pPr marL="265430" algn="just">
              <a:lnSpc>
                <a:spcPct val="100000"/>
              </a:lnSpc>
              <a:spcBef>
                <a:spcPts val="15"/>
              </a:spcBef>
            </a:pPr>
            <a:r>
              <a:rPr sz="900" spc="-35" dirty="0">
                <a:latin typeface="Arial MT"/>
                <a:cs typeface="Arial MT"/>
              </a:rPr>
              <a:t>Preference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list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generation</a:t>
            </a:r>
            <a:endParaRPr sz="900">
              <a:latin typeface="Arial MT"/>
              <a:cs typeface="Arial MT"/>
            </a:endParaRPr>
          </a:p>
          <a:p>
            <a:pPr marL="265430" marR="5715" indent="-253365">
              <a:lnSpc>
                <a:spcPct val="108900"/>
              </a:lnSpc>
              <a:spcBef>
                <a:spcPts val="110"/>
              </a:spcBef>
            </a:pPr>
            <a:r>
              <a:rPr sz="1000" b="1" spc="-20" dirty="0">
                <a:latin typeface="Arial"/>
                <a:cs typeface="Arial"/>
              </a:rPr>
              <a:t>Monitoring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100" dirty="0">
                <a:latin typeface="Arial"/>
                <a:cs typeface="Arial"/>
              </a:rPr>
              <a:t>&amp;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Analytics </a:t>
            </a:r>
            <a:r>
              <a:rPr sz="900" spc="-35" dirty="0">
                <a:latin typeface="Arial MT"/>
                <a:cs typeface="Arial MT"/>
              </a:rPr>
              <a:t>Performance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metrics</a:t>
            </a:r>
            <a:r>
              <a:rPr sz="900" spc="50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User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satisfaction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tracking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2" name="object 4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3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3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3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3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5" dirty="0"/>
              <a:t> </a:t>
            </a:r>
            <a:r>
              <a:rPr dirty="0"/>
              <a:t>Plan:</a:t>
            </a:r>
            <a:r>
              <a:rPr spc="90" dirty="0"/>
              <a:t> </a:t>
            </a:r>
            <a:r>
              <a:rPr spc="-35"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518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70" y="868578"/>
            <a:ext cx="48018" cy="48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007757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146936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312494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70" y="1488554"/>
            <a:ext cx="48018" cy="48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170" y="1627733"/>
            <a:ext cx="48018" cy="48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9170" y="1766912"/>
            <a:ext cx="48018" cy="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193247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170" y="2108530"/>
            <a:ext cx="48018" cy="480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9170" y="2247709"/>
            <a:ext cx="48018" cy="480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9170" y="2386888"/>
            <a:ext cx="48018" cy="48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4528" y="2552445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9170" y="2728506"/>
            <a:ext cx="48018" cy="48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170" y="2867685"/>
            <a:ext cx="48018" cy="480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9170" y="3006864"/>
            <a:ext cx="48018" cy="4801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653" y="412997"/>
            <a:ext cx="223520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859790" indent="-253365">
              <a:lnSpc>
                <a:spcPct val="116199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Hardware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Components: </a:t>
            </a: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IoT</a:t>
            </a:r>
            <a:r>
              <a:rPr sz="1000" b="1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  <a:p>
            <a:pPr marL="518795" marR="339090">
              <a:lnSpc>
                <a:spcPct val="101499"/>
              </a:lnSpc>
              <a:spcBef>
                <a:spcPts val="180"/>
              </a:spcBef>
            </a:pPr>
            <a:r>
              <a:rPr sz="900" spc="-55" dirty="0">
                <a:latin typeface="Arial MT"/>
                <a:cs typeface="Arial MT"/>
              </a:rPr>
              <a:t>Sensors,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cameras,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etc. </a:t>
            </a:r>
            <a:r>
              <a:rPr sz="900" spc="-40" dirty="0">
                <a:latin typeface="Arial MT"/>
                <a:cs typeface="Arial MT"/>
              </a:rPr>
              <a:t>Generate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tasks </a:t>
            </a:r>
            <a:r>
              <a:rPr sz="900" dirty="0">
                <a:latin typeface="Arial MT"/>
                <a:cs typeface="Arial MT"/>
              </a:rPr>
              <a:t>Limited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3399FF"/>
                </a:solidFill>
                <a:latin typeface="Arial"/>
                <a:cs typeface="Arial"/>
              </a:rPr>
              <a:t>UAV</a:t>
            </a:r>
            <a:r>
              <a:rPr sz="1000" b="1" spc="5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99FF"/>
                </a:solidFill>
                <a:latin typeface="Arial"/>
                <a:cs typeface="Arial"/>
              </a:rPr>
              <a:t>Fleet</a:t>
            </a:r>
            <a:endParaRPr sz="1000">
              <a:latin typeface="Arial"/>
              <a:cs typeface="Arial"/>
            </a:endParaRPr>
          </a:p>
          <a:p>
            <a:pPr marL="518795" marR="358140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relay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nodes</a:t>
            </a:r>
            <a:r>
              <a:rPr sz="900" spc="-10" dirty="0">
                <a:latin typeface="Arial MT"/>
                <a:cs typeface="Arial MT"/>
              </a:rPr>
              <a:t> Fixed</a:t>
            </a:r>
            <a:r>
              <a:rPr sz="900" dirty="0">
                <a:latin typeface="Arial MT"/>
                <a:cs typeface="Arial MT"/>
              </a:rPr>
              <a:t> altitude </a:t>
            </a:r>
            <a:r>
              <a:rPr sz="900" spc="-10" dirty="0">
                <a:latin typeface="Arial MT"/>
                <a:cs typeface="Arial MT"/>
              </a:rPr>
              <a:t>deployment </a:t>
            </a:r>
            <a:r>
              <a:rPr sz="900" spc="-25" dirty="0">
                <a:latin typeface="Arial MT"/>
                <a:cs typeface="Arial MT"/>
              </a:rPr>
              <a:t>Equipped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transceivers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spc="-25" dirty="0">
                <a:solidFill>
                  <a:srgbClr val="00994C"/>
                </a:solidFill>
                <a:latin typeface="Arial"/>
                <a:cs typeface="Arial"/>
              </a:rPr>
              <a:t>Edge</a:t>
            </a:r>
            <a:r>
              <a:rPr sz="1000" b="1" spc="-10" dirty="0">
                <a:solidFill>
                  <a:srgbClr val="00994C"/>
                </a:solidFill>
                <a:latin typeface="Arial"/>
                <a:cs typeface="Arial"/>
              </a:rPr>
              <a:t> Servers</a:t>
            </a:r>
            <a:endParaRPr sz="1000">
              <a:latin typeface="Arial"/>
              <a:cs typeface="Arial"/>
            </a:endParaRPr>
          </a:p>
          <a:p>
            <a:pPr marL="518159" marR="508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Small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cell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5G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gNodeB </a:t>
            </a:r>
            <a:r>
              <a:rPr sz="900" spc="-40" dirty="0">
                <a:latin typeface="Arial MT"/>
                <a:cs typeface="Arial MT"/>
              </a:rPr>
              <a:t>Heterogeneous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computing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capacity </a:t>
            </a:r>
            <a:r>
              <a:rPr sz="900" dirty="0">
                <a:latin typeface="Arial MT"/>
                <a:cs typeface="Arial MT"/>
              </a:rPr>
              <a:t>Privately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owned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resources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sz="1000" b="1" dirty="0">
                <a:solidFill>
                  <a:srgbClr val="003366"/>
                </a:solidFill>
                <a:latin typeface="Arial"/>
                <a:cs typeface="Arial"/>
              </a:rPr>
              <a:t>MBS</a:t>
            </a:r>
            <a:r>
              <a:rPr sz="100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3366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  <a:p>
            <a:pPr marL="518795" marR="118110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Arial MT"/>
                <a:cs typeface="Arial MT"/>
              </a:rPr>
              <a:t>Central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coordination </a:t>
            </a:r>
            <a:r>
              <a:rPr sz="900" spc="-50" dirty="0">
                <a:latin typeface="Arial MT"/>
                <a:cs typeface="Arial MT"/>
              </a:rPr>
              <a:t>Resource</a:t>
            </a:r>
            <a:r>
              <a:rPr sz="900" spc="-10" dirty="0">
                <a:latin typeface="Arial MT"/>
                <a:cs typeface="Arial MT"/>
              </a:rPr>
              <a:t> allocation</a:t>
            </a:r>
            <a:endParaRPr sz="9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Algorithm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execution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481" y="438294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Software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Modules: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665952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65657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16998" y="868578"/>
            <a:ext cx="48018" cy="48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16998" y="1007757"/>
            <a:ext cx="48018" cy="480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16998" y="1146936"/>
            <a:ext cx="48018" cy="480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03575" y="1285928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127654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16998" y="1488554"/>
            <a:ext cx="48018" cy="480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16998" y="1627733"/>
            <a:ext cx="48018" cy="480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6998" y="1766912"/>
            <a:ext cx="48018" cy="480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03575" y="1905904"/>
            <a:ext cx="104301" cy="1043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26232" y="189651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16998" y="2108530"/>
            <a:ext cx="48018" cy="4801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6998" y="2247709"/>
            <a:ext cx="48018" cy="4801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6998" y="2386888"/>
            <a:ext cx="48018" cy="4801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003575" y="2525880"/>
            <a:ext cx="104301" cy="104301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026232" y="251648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16998" y="2728506"/>
            <a:ext cx="48018" cy="4801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316998" y="2867685"/>
            <a:ext cx="48018" cy="4801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316998" y="3006864"/>
            <a:ext cx="48018" cy="48018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3162528" y="587297"/>
            <a:ext cx="1519555" cy="250571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65430" marR="22860" indent="-253365">
              <a:lnSpc>
                <a:spcPct val="108900"/>
              </a:lnSpc>
              <a:spcBef>
                <a:spcPts val="210"/>
              </a:spcBef>
            </a:pP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 </a:t>
            </a:r>
            <a:r>
              <a:rPr sz="900" spc="-10" dirty="0">
                <a:latin typeface="Arial MT"/>
                <a:cs typeface="Arial MT"/>
              </a:rPr>
              <a:t>LoS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loss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calculation SINR </a:t>
            </a:r>
            <a:r>
              <a:rPr sz="900" spc="-10" dirty="0">
                <a:latin typeface="Arial MT"/>
                <a:cs typeface="Arial MT"/>
              </a:rPr>
              <a:t>measurement</a:t>
            </a:r>
            <a:endParaRPr sz="9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PRB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</a:t>
            </a:r>
            <a:endParaRPr sz="900">
              <a:latin typeface="Arial MT"/>
              <a:cs typeface="Arial MT"/>
            </a:endParaRPr>
          </a:p>
          <a:p>
            <a:pPr marL="265430" marR="247650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Task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40" dirty="0">
                <a:latin typeface="Arial MT"/>
                <a:cs typeface="Arial MT"/>
              </a:rPr>
              <a:t>queue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UAVs</a:t>
            </a:r>
            <a:r>
              <a:rPr sz="900" dirty="0">
                <a:latin typeface="Arial MT"/>
                <a:cs typeface="Arial MT"/>
              </a:rPr>
              <a:t> Buffer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management </a:t>
            </a:r>
            <a:r>
              <a:rPr sz="900" spc="-25" dirty="0">
                <a:latin typeface="Arial MT"/>
                <a:cs typeface="Arial MT"/>
              </a:rPr>
              <a:t>Delay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  <a:p>
            <a:pPr marL="265430" marR="308610" indent="-253365" algn="just">
              <a:lnSpc>
                <a:spcPct val="1089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Optimization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Engine </a:t>
            </a:r>
            <a:r>
              <a:rPr sz="900" spc="-20" dirty="0">
                <a:latin typeface="Arial MT"/>
                <a:cs typeface="Arial MT"/>
              </a:rPr>
              <a:t>R-</a:t>
            </a:r>
            <a:r>
              <a:rPr sz="900" dirty="0">
                <a:latin typeface="Arial MT"/>
                <a:cs typeface="Arial MT"/>
              </a:rPr>
              <a:t>TMSC </a:t>
            </a:r>
            <a:r>
              <a:rPr sz="900" spc="-10" dirty="0">
                <a:latin typeface="Arial MT"/>
                <a:cs typeface="Arial MT"/>
              </a:rPr>
              <a:t>algorithm </a:t>
            </a:r>
            <a:r>
              <a:rPr sz="900" spc="-40" dirty="0">
                <a:latin typeface="Arial MT"/>
                <a:cs typeface="Arial MT"/>
              </a:rPr>
              <a:t>K-</a:t>
            </a:r>
            <a:r>
              <a:rPr sz="900" spc="-25" dirty="0">
                <a:latin typeface="Arial MT"/>
                <a:cs typeface="Arial MT"/>
              </a:rPr>
              <a:t>means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clustering</a:t>
            </a:r>
            <a:endParaRPr sz="900">
              <a:latin typeface="Arial MT"/>
              <a:cs typeface="Arial MT"/>
            </a:endParaRPr>
          </a:p>
          <a:p>
            <a:pPr marL="265430" algn="just">
              <a:lnSpc>
                <a:spcPct val="100000"/>
              </a:lnSpc>
              <a:spcBef>
                <a:spcPts val="15"/>
              </a:spcBef>
            </a:pPr>
            <a:r>
              <a:rPr sz="900" spc="-35" dirty="0">
                <a:latin typeface="Arial MT"/>
                <a:cs typeface="Arial MT"/>
              </a:rPr>
              <a:t>Preference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list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generation</a:t>
            </a:r>
            <a:endParaRPr sz="900">
              <a:latin typeface="Arial MT"/>
              <a:cs typeface="Arial MT"/>
            </a:endParaRPr>
          </a:p>
          <a:p>
            <a:pPr marL="265430" marR="5715" indent="-253365">
              <a:lnSpc>
                <a:spcPct val="106400"/>
              </a:lnSpc>
              <a:spcBef>
                <a:spcPts val="140"/>
              </a:spcBef>
            </a:pPr>
            <a:r>
              <a:rPr sz="1000" b="1" spc="-20" dirty="0">
                <a:latin typeface="Arial"/>
                <a:cs typeface="Arial"/>
              </a:rPr>
              <a:t>Monitoring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100" dirty="0">
                <a:latin typeface="Arial"/>
                <a:cs typeface="Arial"/>
              </a:rPr>
              <a:t>&amp;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Analytics </a:t>
            </a:r>
            <a:r>
              <a:rPr sz="900" spc="-35" dirty="0">
                <a:latin typeface="Arial MT"/>
                <a:cs typeface="Arial MT"/>
              </a:rPr>
              <a:t>Performance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metrics</a:t>
            </a:r>
            <a:r>
              <a:rPr sz="900" spc="500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User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satisfaction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tracking </a:t>
            </a:r>
            <a:r>
              <a:rPr sz="900" dirty="0">
                <a:latin typeface="Arial MT"/>
                <a:cs typeface="Arial MT"/>
              </a:rPr>
              <a:t>Profit</a:t>
            </a:r>
            <a:r>
              <a:rPr sz="900" spc="1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calculation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3" name="object 4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3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3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3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3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514641"/>
            <a:ext cx="5659755" cy="956310"/>
            <a:chOff x="75729" y="514641"/>
            <a:chExt cx="5659755" cy="9563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514641"/>
              <a:ext cx="5608955" cy="956310"/>
            </a:xfrm>
            <a:custGeom>
              <a:avLst/>
              <a:gdLst/>
              <a:ahLst/>
              <a:cxnLst/>
              <a:rect l="l" t="t" r="r" b="b"/>
              <a:pathLst>
                <a:path w="5608955" h="956310">
                  <a:moveTo>
                    <a:pt x="5608620" y="0"/>
                  </a:moveTo>
                  <a:lnTo>
                    <a:pt x="0" y="0"/>
                  </a:lnTo>
                  <a:lnTo>
                    <a:pt x="0" y="955753"/>
                  </a:lnTo>
                  <a:lnTo>
                    <a:pt x="5608620" y="95575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687703"/>
              <a:ext cx="5608955" cy="732155"/>
            </a:xfrm>
            <a:custGeom>
              <a:avLst/>
              <a:gdLst/>
              <a:ahLst/>
              <a:cxnLst/>
              <a:rect l="l" t="t" r="r" b="b"/>
              <a:pathLst>
                <a:path w="5608955" h="732155">
                  <a:moveTo>
                    <a:pt x="5608620" y="0"/>
                  </a:moveTo>
                  <a:lnTo>
                    <a:pt x="0" y="0"/>
                  </a:lnTo>
                  <a:lnTo>
                    <a:pt x="0" y="681090"/>
                  </a:lnTo>
                  <a:lnTo>
                    <a:pt x="4008" y="700814"/>
                  </a:lnTo>
                  <a:lnTo>
                    <a:pt x="14922" y="716967"/>
                  </a:lnTo>
                  <a:lnTo>
                    <a:pt x="31075" y="727881"/>
                  </a:lnTo>
                  <a:lnTo>
                    <a:pt x="50800" y="731890"/>
                  </a:lnTo>
                  <a:lnTo>
                    <a:pt x="5557819" y="731890"/>
                  </a:lnTo>
                  <a:lnTo>
                    <a:pt x="5577544" y="727881"/>
                  </a:lnTo>
                  <a:lnTo>
                    <a:pt x="5593697" y="716967"/>
                  </a:lnTo>
                  <a:lnTo>
                    <a:pt x="5604611" y="700814"/>
                  </a:lnTo>
                  <a:lnTo>
                    <a:pt x="5608620" y="68109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717108"/>
              <a:ext cx="104301" cy="10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" y="906884"/>
              <a:ext cx="104301" cy="104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1096673"/>
              <a:ext cx="104301" cy="104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24" y="1286462"/>
              <a:ext cx="104301" cy="1043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0" dirty="0"/>
              <a:t> </a:t>
            </a:r>
            <a:r>
              <a:rPr dirty="0"/>
              <a:t>Plan:</a:t>
            </a:r>
            <a:r>
              <a:rPr spc="100" dirty="0"/>
              <a:t> </a:t>
            </a:r>
            <a:r>
              <a:rPr spc="-40" dirty="0"/>
              <a:t>Deployment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86168"/>
            <a:ext cx="18465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1: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Initialization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281" y="707716"/>
            <a:ext cx="46355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177" y="628618"/>
            <a:ext cx="336296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>
              <a:lnSpc>
                <a:spcPct val="124500"/>
              </a:lnSpc>
              <a:spcBef>
                <a:spcPts val="100"/>
              </a:spcBef>
            </a:pPr>
            <a:r>
              <a:rPr sz="1000" spc="-25" dirty="0">
                <a:latin typeface="Tahoma"/>
                <a:cs typeface="Tahoma"/>
              </a:rPr>
              <a:t>Deploy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strategic</a:t>
            </a:r>
            <a:r>
              <a:rPr sz="1000" spc="-30" dirty="0">
                <a:latin typeface="Tahoma"/>
                <a:cs typeface="Tahoma"/>
              </a:rPr>
              <a:t> urban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infrastructure </a:t>
            </a:r>
            <a:r>
              <a:rPr sz="1000" spc="-30" dirty="0">
                <a:latin typeface="Tahoma"/>
                <a:cs typeface="Tahoma"/>
              </a:rPr>
              <a:t>Configure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computing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capacities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baseline="-11904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baseline="-11904" dirty="0">
                <a:latin typeface="Tahoma"/>
                <a:cs typeface="Tahoma"/>
              </a:rPr>
              <a:t>2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spc="35" dirty="0">
                <a:latin typeface="Arial"/>
                <a:cs typeface="Arial"/>
              </a:rPr>
              <a:t>q</a:t>
            </a:r>
            <a:r>
              <a:rPr sz="1050" i="1" spc="52" baseline="-11904" dirty="0">
                <a:latin typeface="Arial"/>
                <a:cs typeface="Arial"/>
              </a:rPr>
              <a:t>L</a:t>
            </a:r>
            <a:r>
              <a:rPr sz="1000" spc="35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Set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system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parameters: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Arial"/>
                <a:cs typeface="Arial"/>
              </a:rPr>
              <a:t>N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 </a:t>
            </a:r>
            <a:r>
              <a:rPr sz="1000" i="1" spc="-45" dirty="0">
                <a:latin typeface="Arial"/>
                <a:cs typeface="Arial"/>
              </a:rPr>
              <a:t>N</a:t>
            </a:r>
            <a:r>
              <a:rPr sz="1050" i="1" spc="-67" baseline="-11904" dirty="0">
                <a:latin typeface="Arial"/>
                <a:cs typeface="Arial"/>
              </a:rPr>
              <a:t>S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Γ</a:t>
            </a:r>
            <a:r>
              <a:rPr sz="1050" i="1" baseline="-11904" dirty="0">
                <a:latin typeface="Arial"/>
                <a:cs typeface="Arial"/>
              </a:rPr>
              <a:t>th</a:t>
            </a:r>
            <a:r>
              <a:rPr sz="1000" dirty="0">
                <a:latin typeface="Tahoma"/>
                <a:cs typeface="Tahoma"/>
              </a:rPr>
              <a:t>, </a:t>
            </a:r>
            <a:r>
              <a:rPr sz="1000" i="1" spc="60" dirty="0">
                <a:latin typeface="Calibri"/>
                <a:cs typeface="Calibri"/>
              </a:rPr>
              <a:t>ζ</a:t>
            </a:r>
            <a:r>
              <a:rPr sz="1000" spc="60" dirty="0">
                <a:latin typeface="Tahoma"/>
                <a:cs typeface="Tahoma"/>
              </a:rPr>
              <a:t>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Tahoma"/>
                <a:cs typeface="Tahoma"/>
              </a:rPr>
              <a:t>Initialize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MBS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coordination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framework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17"/>
          <p:cNvGrpSpPr/>
          <p:nvPr/>
        </p:nvGrpSpPr>
        <p:grpSpPr>
          <a:xfrm>
            <a:off x="75729" y="1590479"/>
            <a:ext cx="5659755" cy="982980"/>
            <a:chOff x="75729" y="1590479"/>
            <a:chExt cx="5659755" cy="98298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719275"/>
              <a:ext cx="5608620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530" y="1590479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729" y="1763542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1795059"/>
              <a:ext cx="104301" cy="10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" y="1984847"/>
              <a:ext cx="104301" cy="1043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2174636"/>
              <a:ext cx="104301" cy="1043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24" y="2364425"/>
              <a:ext cx="104301" cy="10430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5729" y="514641"/>
            <a:ext cx="5659755" cy="956310"/>
            <a:chOff x="75729" y="514641"/>
            <a:chExt cx="5659755" cy="9563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514641"/>
              <a:ext cx="5608955" cy="956310"/>
            </a:xfrm>
            <a:custGeom>
              <a:avLst/>
              <a:gdLst/>
              <a:ahLst/>
              <a:cxnLst/>
              <a:rect l="l" t="t" r="r" b="b"/>
              <a:pathLst>
                <a:path w="5608955" h="956310">
                  <a:moveTo>
                    <a:pt x="5608620" y="0"/>
                  </a:moveTo>
                  <a:lnTo>
                    <a:pt x="0" y="0"/>
                  </a:lnTo>
                  <a:lnTo>
                    <a:pt x="0" y="955753"/>
                  </a:lnTo>
                  <a:lnTo>
                    <a:pt x="5608620" y="95575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687703"/>
              <a:ext cx="5608955" cy="732155"/>
            </a:xfrm>
            <a:custGeom>
              <a:avLst/>
              <a:gdLst/>
              <a:ahLst/>
              <a:cxnLst/>
              <a:rect l="l" t="t" r="r" b="b"/>
              <a:pathLst>
                <a:path w="5608955" h="732155">
                  <a:moveTo>
                    <a:pt x="5608620" y="0"/>
                  </a:moveTo>
                  <a:lnTo>
                    <a:pt x="0" y="0"/>
                  </a:lnTo>
                  <a:lnTo>
                    <a:pt x="0" y="681090"/>
                  </a:lnTo>
                  <a:lnTo>
                    <a:pt x="4008" y="700814"/>
                  </a:lnTo>
                  <a:lnTo>
                    <a:pt x="14922" y="716967"/>
                  </a:lnTo>
                  <a:lnTo>
                    <a:pt x="31075" y="727881"/>
                  </a:lnTo>
                  <a:lnTo>
                    <a:pt x="50800" y="731890"/>
                  </a:lnTo>
                  <a:lnTo>
                    <a:pt x="5557819" y="731890"/>
                  </a:lnTo>
                  <a:lnTo>
                    <a:pt x="5577544" y="727881"/>
                  </a:lnTo>
                  <a:lnTo>
                    <a:pt x="5593697" y="716967"/>
                  </a:lnTo>
                  <a:lnTo>
                    <a:pt x="5604611" y="700814"/>
                  </a:lnTo>
                  <a:lnTo>
                    <a:pt x="5608620" y="68109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924" y="717108"/>
              <a:ext cx="104301" cy="10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924" y="906884"/>
              <a:ext cx="104301" cy="104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924" y="1096673"/>
              <a:ext cx="104301" cy="104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7924" y="1286462"/>
              <a:ext cx="104301" cy="1043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0" dirty="0"/>
              <a:t> </a:t>
            </a:r>
            <a:r>
              <a:rPr dirty="0"/>
              <a:t>Plan:</a:t>
            </a:r>
            <a:r>
              <a:rPr spc="100" dirty="0"/>
              <a:t> </a:t>
            </a:r>
            <a:r>
              <a:rPr spc="-40" dirty="0"/>
              <a:t>Deployment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86168"/>
            <a:ext cx="18465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1: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Initialization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281" y="707716"/>
            <a:ext cx="46355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177" y="628618"/>
            <a:ext cx="336296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>
              <a:lnSpc>
                <a:spcPct val="124500"/>
              </a:lnSpc>
              <a:spcBef>
                <a:spcPts val="100"/>
              </a:spcBef>
            </a:pPr>
            <a:r>
              <a:rPr sz="1000" spc="-25" dirty="0">
                <a:latin typeface="Tahoma"/>
                <a:cs typeface="Tahoma"/>
              </a:rPr>
              <a:t>Deploy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strategic</a:t>
            </a:r>
            <a:r>
              <a:rPr sz="1000" spc="-30" dirty="0">
                <a:latin typeface="Tahoma"/>
                <a:cs typeface="Tahoma"/>
              </a:rPr>
              <a:t> urban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infrastructure </a:t>
            </a:r>
            <a:r>
              <a:rPr sz="1000" spc="-30" dirty="0">
                <a:latin typeface="Tahoma"/>
                <a:cs typeface="Tahoma"/>
              </a:rPr>
              <a:t>Configure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computing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capacities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baseline="-11904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baseline="-11904" dirty="0">
                <a:latin typeface="Tahoma"/>
                <a:cs typeface="Tahoma"/>
              </a:rPr>
              <a:t>2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spc="35" dirty="0">
                <a:latin typeface="Arial"/>
                <a:cs typeface="Arial"/>
              </a:rPr>
              <a:t>q</a:t>
            </a:r>
            <a:r>
              <a:rPr sz="1050" i="1" spc="52" baseline="-11904" dirty="0">
                <a:latin typeface="Arial"/>
                <a:cs typeface="Arial"/>
              </a:rPr>
              <a:t>L</a:t>
            </a:r>
            <a:r>
              <a:rPr sz="1000" spc="35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Set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system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parameters: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Arial"/>
                <a:cs typeface="Arial"/>
              </a:rPr>
              <a:t>N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 </a:t>
            </a:r>
            <a:r>
              <a:rPr sz="1000" i="1" spc="-45" dirty="0">
                <a:latin typeface="Arial"/>
                <a:cs typeface="Arial"/>
              </a:rPr>
              <a:t>N</a:t>
            </a:r>
            <a:r>
              <a:rPr sz="1050" i="1" spc="-67" baseline="-11904" dirty="0">
                <a:latin typeface="Arial"/>
                <a:cs typeface="Arial"/>
              </a:rPr>
              <a:t>S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Γ</a:t>
            </a:r>
            <a:r>
              <a:rPr sz="1050" i="1" baseline="-11904" dirty="0">
                <a:latin typeface="Arial"/>
                <a:cs typeface="Arial"/>
              </a:rPr>
              <a:t>th</a:t>
            </a:r>
            <a:r>
              <a:rPr sz="1000" dirty="0">
                <a:latin typeface="Tahoma"/>
                <a:cs typeface="Tahoma"/>
              </a:rPr>
              <a:t>, </a:t>
            </a:r>
            <a:r>
              <a:rPr sz="1000" i="1" spc="60" dirty="0">
                <a:latin typeface="Calibri"/>
                <a:cs typeface="Calibri"/>
              </a:rPr>
              <a:t>ζ</a:t>
            </a:r>
            <a:r>
              <a:rPr sz="1000" spc="60" dirty="0">
                <a:latin typeface="Tahoma"/>
                <a:cs typeface="Tahoma"/>
              </a:rPr>
              <a:t>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Tahoma"/>
                <a:cs typeface="Tahoma"/>
              </a:rPr>
              <a:t>Initialize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MBS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coordination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framework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729" y="1533562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6530" y="1562010"/>
            <a:ext cx="166370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2: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UAV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3281" y="1785666"/>
            <a:ext cx="46355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4177" y="1706569"/>
            <a:ext cx="3620135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Tahoma"/>
                <a:cs typeface="Tahoma"/>
              </a:rPr>
              <a:t>Collect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device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position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34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750" i="1" baseline="-27777" dirty="0">
                <a:latin typeface="Arial"/>
                <a:cs typeface="Arial"/>
              </a:rPr>
              <a:t>m</a:t>
            </a:r>
            <a:r>
              <a:rPr sz="750" i="1" spc="-52" baseline="-27777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114" dirty="0">
                <a:latin typeface="Arial"/>
                <a:cs typeface="Arial"/>
              </a:rPr>
              <a:t>M</a:t>
            </a:r>
            <a:r>
              <a:rPr sz="1000" spc="114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295"/>
              </a:spcBef>
            </a:pPr>
            <a:r>
              <a:rPr sz="1000" spc="-20" dirty="0">
                <a:latin typeface="Tahoma"/>
                <a:cs typeface="Tahoma"/>
              </a:rPr>
              <a:t>Calculate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initial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count:</a:t>
            </a:r>
            <a:r>
              <a:rPr sz="1000" spc="16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Arial"/>
                <a:cs typeface="Arial"/>
              </a:rPr>
              <a:t>initial</a:t>
            </a:r>
            <a:r>
              <a:rPr sz="1050" i="1" spc="35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⌈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/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endParaRPr sz="1000">
              <a:latin typeface="Lucida Sans Unicode"/>
              <a:cs typeface="Lucida Sans Unicode"/>
            </a:endParaRPr>
          </a:p>
          <a:p>
            <a:pPr marL="25400" marR="304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Apply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</a:t>
            </a:r>
            <a:r>
              <a:rPr sz="1000" spc="-25" dirty="0">
                <a:latin typeface="Tahoma"/>
                <a:cs typeface="Tahoma"/>
              </a:rPr>
              <a:t>means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clustering</a:t>
            </a:r>
            <a:r>
              <a:rPr sz="1000" dirty="0">
                <a:latin typeface="Tahoma"/>
                <a:cs typeface="Tahoma"/>
              </a:rPr>
              <a:t> to </a:t>
            </a:r>
            <a:r>
              <a:rPr sz="1000" spc="-40" dirty="0">
                <a:latin typeface="Tahoma"/>
                <a:cs typeface="Tahoma"/>
              </a:rPr>
              <a:t>determine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positions</a:t>
            </a:r>
            <a:r>
              <a:rPr sz="1000" dirty="0">
                <a:latin typeface="Tahoma"/>
                <a:cs typeface="Tahoma"/>
              </a:rPr>
              <a:t> 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7" baseline="-27777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15" baseline="-27777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H</a:t>
            </a:r>
            <a:r>
              <a:rPr sz="1000" spc="-25" dirty="0">
                <a:latin typeface="Tahoma"/>
                <a:cs typeface="Tahoma"/>
              </a:rPr>
              <a:t>) Deploy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calculated</a:t>
            </a:r>
            <a:r>
              <a:rPr sz="1000" spc="-10" dirty="0">
                <a:latin typeface="Tahoma"/>
                <a:cs typeface="Tahoma"/>
              </a:rPr>
              <a:t> positions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8" name="object 2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37"/>
          <p:cNvGrpSpPr/>
          <p:nvPr/>
        </p:nvGrpSpPr>
        <p:grpSpPr>
          <a:xfrm>
            <a:off x="63500" y="2693046"/>
            <a:ext cx="5659755" cy="547370"/>
            <a:chOff x="75729" y="2693046"/>
            <a:chExt cx="5659755" cy="54737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2811284"/>
              <a:ext cx="5608620" cy="5060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26530" y="2693046"/>
              <a:ext cx="5608955" cy="547370"/>
            </a:xfrm>
            <a:custGeom>
              <a:avLst/>
              <a:gdLst/>
              <a:ahLst/>
              <a:cxnLst/>
              <a:rect l="l" t="t" r="r" b="b"/>
              <a:pathLst>
                <a:path w="5608955" h="547369">
                  <a:moveTo>
                    <a:pt x="5608620" y="0"/>
                  </a:moveTo>
                  <a:lnTo>
                    <a:pt x="0" y="0"/>
                  </a:lnTo>
                  <a:lnTo>
                    <a:pt x="0" y="546951"/>
                  </a:lnTo>
                  <a:lnTo>
                    <a:pt x="5608620" y="54695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729" y="2855565"/>
              <a:ext cx="5608955" cy="384810"/>
            </a:xfrm>
            <a:custGeom>
              <a:avLst/>
              <a:gdLst/>
              <a:ahLst/>
              <a:cxnLst/>
              <a:rect l="l" t="t" r="r" b="b"/>
              <a:pathLst>
                <a:path w="5608955" h="384810">
                  <a:moveTo>
                    <a:pt x="5608620" y="0"/>
                  </a:moveTo>
                  <a:lnTo>
                    <a:pt x="0" y="0"/>
                  </a:lnTo>
                  <a:lnTo>
                    <a:pt x="0" y="384433"/>
                  </a:lnTo>
                  <a:lnTo>
                    <a:pt x="5608620" y="38443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2884960"/>
              <a:ext cx="104301" cy="104301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5729" y="1590479"/>
            <a:ext cx="5659755" cy="982980"/>
            <a:chOff x="75729" y="1590479"/>
            <a:chExt cx="5659755" cy="98298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9" y="1719275"/>
              <a:ext cx="5608620" cy="5060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6530" y="1590479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729" y="1763542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1795059"/>
              <a:ext cx="104301" cy="10430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5729" y="514641"/>
            <a:ext cx="5659755" cy="956310"/>
            <a:chOff x="75729" y="514641"/>
            <a:chExt cx="5659755" cy="9563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6530" y="514641"/>
              <a:ext cx="5608955" cy="956310"/>
            </a:xfrm>
            <a:custGeom>
              <a:avLst/>
              <a:gdLst/>
              <a:ahLst/>
              <a:cxnLst/>
              <a:rect l="l" t="t" r="r" b="b"/>
              <a:pathLst>
                <a:path w="5608955" h="956310">
                  <a:moveTo>
                    <a:pt x="5608620" y="0"/>
                  </a:moveTo>
                  <a:lnTo>
                    <a:pt x="0" y="0"/>
                  </a:lnTo>
                  <a:lnTo>
                    <a:pt x="0" y="955753"/>
                  </a:lnTo>
                  <a:lnTo>
                    <a:pt x="5608620" y="95575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9" y="687703"/>
              <a:ext cx="5608955" cy="732155"/>
            </a:xfrm>
            <a:custGeom>
              <a:avLst/>
              <a:gdLst/>
              <a:ahLst/>
              <a:cxnLst/>
              <a:rect l="l" t="t" r="r" b="b"/>
              <a:pathLst>
                <a:path w="5608955" h="732155">
                  <a:moveTo>
                    <a:pt x="5608620" y="0"/>
                  </a:moveTo>
                  <a:lnTo>
                    <a:pt x="0" y="0"/>
                  </a:lnTo>
                  <a:lnTo>
                    <a:pt x="0" y="681090"/>
                  </a:lnTo>
                  <a:lnTo>
                    <a:pt x="4008" y="700814"/>
                  </a:lnTo>
                  <a:lnTo>
                    <a:pt x="14922" y="716967"/>
                  </a:lnTo>
                  <a:lnTo>
                    <a:pt x="31075" y="727881"/>
                  </a:lnTo>
                  <a:lnTo>
                    <a:pt x="50800" y="731890"/>
                  </a:lnTo>
                  <a:lnTo>
                    <a:pt x="5557819" y="731890"/>
                  </a:lnTo>
                  <a:lnTo>
                    <a:pt x="5577544" y="727881"/>
                  </a:lnTo>
                  <a:lnTo>
                    <a:pt x="5593697" y="716967"/>
                  </a:lnTo>
                  <a:lnTo>
                    <a:pt x="5604611" y="700814"/>
                  </a:lnTo>
                  <a:lnTo>
                    <a:pt x="5608620" y="68109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24" y="717108"/>
              <a:ext cx="104301" cy="104301"/>
            </a:xfrm>
            <a:prstGeom prst="rect">
              <a:avLst/>
            </a:prstGeom>
          </p:spPr>
        </p:pic>
      </p:grpSp>
      <p:sp>
        <p:nvSpPr>
          <p:cNvPr id="2" name="object 2"/>
          <p:cNvSpPr/>
          <p:nvPr/>
        </p:nvSpPr>
        <p:spPr>
          <a:xfrm>
            <a:off x="5648746" y="3053536"/>
            <a:ext cx="66040" cy="50800"/>
          </a:xfrm>
          <a:custGeom>
            <a:avLst/>
            <a:gdLst/>
            <a:ahLst/>
            <a:cxnLst/>
            <a:rect l="l" t="t" r="r" b="b"/>
            <a:pathLst>
              <a:path w="66039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  <a:path w="66039" h="50800">
                <a:moveTo>
                  <a:pt x="66040" y="17780"/>
                </a:moveTo>
                <a:lnTo>
                  <a:pt x="50800" y="30480"/>
                </a:lnTo>
                <a:lnTo>
                  <a:pt x="35560" y="17780"/>
                </a:lnTo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0" dirty="0"/>
              <a:t> </a:t>
            </a:r>
            <a:r>
              <a:rPr dirty="0"/>
              <a:t>Plan:</a:t>
            </a:r>
            <a:r>
              <a:rPr spc="100" dirty="0"/>
              <a:t> </a:t>
            </a:r>
            <a:r>
              <a:rPr spc="-40" dirty="0"/>
              <a:t>Deployment </a:t>
            </a:r>
            <a:r>
              <a:rPr spc="-10" dirty="0"/>
              <a:t>Steps</a:t>
            </a:r>
          </a:p>
        </p:txBody>
      </p:sp>
      <p:sp>
        <p:nvSpPr>
          <p:cNvPr id="5" name="object 5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530" y="486168"/>
            <a:ext cx="18465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1: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Initialization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581" y="707716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924" y="906884"/>
            <a:ext cx="104301" cy="1043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30581" y="89750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7924" y="1096673"/>
            <a:ext cx="104301" cy="10430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30581" y="1087294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7924" y="1286462"/>
            <a:ext cx="104301" cy="10430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30581" y="127708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1477" y="628618"/>
            <a:ext cx="337566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spc="-25" dirty="0">
                <a:latin typeface="Tahoma"/>
                <a:cs typeface="Tahoma"/>
              </a:rPr>
              <a:t>Deploy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strategic</a:t>
            </a:r>
            <a:r>
              <a:rPr sz="1000" spc="-30" dirty="0">
                <a:latin typeface="Tahoma"/>
                <a:cs typeface="Tahoma"/>
              </a:rPr>
              <a:t> urban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infrastructure </a:t>
            </a:r>
            <a:r>
              <a:rPr sz="1000" spc="-30" dirty="0">
                <a:latin typeface="Tahoma"/>
                <a:cs typeface="Tahoma"/>
              </a:rPr>
              <a:t>Configure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computing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capacities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baseline="-11904" dirty="0">
                <a:latin typeface="Tahoma"/>
                <a:cs typeface="Tahom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baseline="-11904" dirty="0">
                <a:latin typeface="Tahoma"/>
                <a:cs typeface="Tahoma"/>
              </a:rPr>
              <a:t>2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spc="35" dirty="0">
                <a:latin typeface="Arial"/>
                <a:cs typeface="Arial"/>
              </a:rPr>
              <a:t>q</a:t>
            </a:r>
            <a:r>
              <a:rPr sz="1050" i="1" spc="52" baseline="-11904" dirty="0">
                <a:latin typeface="Arial"/>
                <a:cs typeface="Arial"/>
              </a:rPr>
              <a:t>L</a:t>
            </a:r>
            <a:r>
              <a:rPr sz="1000" spc="35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Set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system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parameters: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Arial"/>
                <a:cs typeface="Arial"/>
              </a:rPr>
              <a:t>N</a:t>
            </a:r>
            <a:r>
              <a:rPr sz="1050" i="1" spc="-15" baseline="-11904" dirty="0">
                <a:latin typeface="Arial"/>
                <a:cs typeface="Arial"/>
              </a:rPr>
              <a:t>U</a:t>
            </a:r>
            <a:r>
              <a:rPr sz="1050" i="1" spc="-13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 </a:t>
            </a:r>
            <a:r>
              <a:rPr sz="1000" i="1" spc="-45" dirty="0">
                <a:latin typeface="Arial"/>
                <a:cs typeface="Arial"/>
              </a:rPr>
              <a:t>N</a:t>
            </a:r>
            <a:r>
              <a:rPr sz="1050" i="1" spc="-67" baseline="-11904" dirty="0">
                <a:latin typeface="Arial"/>
                <a:cs typeface="Arial"/>
              </a:rPr>
              <a:t>S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Γ</a:t>
            </a:r>
            <a:r>
              <a:rPr sz="1050" i="1" baseline="-11904" dirty="0">
                <a:latin typeface="Arial"/>
                <a:cs typeface="Arial"/>
              </a:rPr>
              <a:t>th</a:t>
            </a:r>
            <a:r>
              <a:rPr sz="1000" dirty="0">
                <a:latin typeface="Tahoma"/>
                <a:cs typeface="Tahoma"/>
              </a:rPr>
              <a:t>, </a:t>
            </a:r>
            <a:r>
              <a:rPr sz="1000" i="1" spc="60" dirty="0">
                <a:latin typeface="Calibri"/>
                <a:cs typeface="Calibri"/>
              </a:rPr>
              <a:t>ζ</a:t>
            </a:r>
            <a:r>
              <a:rPr sz="1000" spc="60" dirty="0">
                <a:latin typeface="Tahoma"/>
                <a:cs typeface="Tahoma"/>
              </a:rPr>
              <a:t>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altitude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Tahoma"/>
                <a:cs typeface="Tahoma"/>
              </a:rPr>
              <a:t>Initialize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MBS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coordination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framework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729" y="1533562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6530" y="1562010"/>
            <a:ext cx="166370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2: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UAV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0581" y="1785666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7924" y="1984848"/>
            <a:ext cx="104301" cy="1043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30581" y="197545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924" y="2174636"/>
            <a:ext cx="104301" cy="10430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30581" y="2165244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7924" y="2364425"/>
            <a:ext cx="104301" cy="10430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30581" y="235503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1477" y="1706569"/>
            <a:ext cx="3632835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Tahoma"/>
                <a:cs typeface="Tahoma"/>
              </a:rPr>
              <a:t>Collect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device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position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34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750" i="1" baseline="-27777" dirty="0">
                <a:latin typeface="Arial"/>
                <a:cs typeface="Arial"/>
              </a:rPr>
              <a:t>m</a:t>
            </a:r>
            <a:r>
              <a:rPr sz="750" i="1" spc="-52" baseline="-27777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114" dirty="0">
                <a:latin typeface="Arial"/>
                <a:cs typeface="Arial"/>
              </a:rPr>
              <a:t>M</a:t>
            </a:r>
            <a:r>
              <a:rPr sz="1000" spc="114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spc="-20" dirty="0">
                <a:latin typeface="Tahoma"/>
                <a:cs typeface="Tahoma"/>
              </a:rPr>
              <a:t>Calculate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initial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count:</a:t>
            </a:r>
            <a:r>
              <a:rPr sz="1000" spc="16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Arial"/>
                <a:cs typeface="Arial"/>
              </a:rPr>
              <a:t>initial</a:t>
            </a:r>
            <a:r>
              <a:rPr sz="1050" i="1" spc="35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⌈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/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⌉</a:t>
            </a:r>
            <a:endParaRPr sz="1000">
              <a:latin typeface="Lucida Sans Unicode"/>
              <a:cs typeface="Lucida Sans Unicode"/>
            </a:endParaRPr>
          </a:p>
          <a:p>
            <a:pPr marL="38100" marR="304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Apply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</a:t>
            </a:r>
            <a:r>
              <a:rPr sz="1000" spc="-25" dirty="0">
                <a:latin typeface="Tahoma"/>
                <a:cs typeface="Tahoma"/>
              </a:rPr>
              <a:t>means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clustering</a:t>
            </a:r>
            <a:r>
              <a:rPr sz="1000" dirty="0">
                <a:latin typeface="Tahoma"/>
                <a:cs typeface="Tahoma"/>
              </a:rPr>
              <a:t> to </a:t>
            </a:r>
            <a:r>
              <a:rPr sz="1000" spc="-40" dirty="0">
                <a:latin typeface="Tahoma"/>
                <a:cs typeface="Tahoma"/>
              </a:rPr>
              <a:t>determine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positions</a:t>
            </a:r>
            <a:r>
              <a:rPr sz="1000" dirty="0">
                <a:latin typeface="Tahoma"/>
                <a:cs typeface="Tahoma"/>
              </a:rPr>
              <a:t> 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7" baseline="-27777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750" i="1" baseline="-27777" dirty="0">
                <a:latin typeface="Arial"/>
                <a:cs typeface="Arial"/>
              </a:rPr>
              <a:t>k</a:t>
            </a:r>
            <a:r>
              <a:rPr sz="750" i="1" spc="-15" baseline="-27777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Arial"/>
                <a:cs typeface="Arial"/>
              </a:rPr>
              <a:t>H</a:t>
            </a:r>
            <a:r>
              <a:rPr sz="1000" spc="-25" dirty="0">
                <a:latin typeface="Tahoma"/>
                <a:cs typeface="Tahoma"/>
              </a:rPr>
              <a:t>) Deploy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calculated</a:t>
            </a:r>
            <a:r>
              <a:rPr sz="1000" spc="-10" dirty="0">
                <a:latin typeface="Tahoma"/>
                <a:cs typeface="Tahoma"/>
              </a:rPr>
              <a:t> positions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5729" y="2636113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60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26530" y="2664561"/>
            <a:ext cx="22377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3: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Preference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Generation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0581" y="287558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7924" y="3074749"/>
            <a:ext cx="104301" cy="104301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30581" y="306536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1477" y="2796470"/>
            <a:ext cx="2296795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spc="-30" dirty="0">
                <a:latin typeface="Tahoma"/>
                <a:cs typeface="Tahoma"/>
              </a:rPr>
              <a:t>Measure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IoT-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pairs: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Γ</a:t>
            </a:r>
            <a:r>
              <a:rPr sz="1050" i="1" spc="-30" baseline="-11904" dirty="0">
                <a:latin typeface="Arial"/>
                <a:cs typeface="Arial"/>
              </a:rPr>
              <a:t>m</a:t>
            </a:r>
            <a:r>
              <a:rPr sz="1050" i="1" spc="-30" baseline="-11904" dirty="0">
                <a:latin typeface="Trebuchet MS"/>
                <a:cs typeface="Trebuchet MS"/>
              </a:rPr>
              <a:t>,</a:t>
            </a:r>
            <a:r>
              <a:rPr sz="1050" i="1" spc="-30" baseline="-11904" dirty="0">
                <a:latin typeface="Arial"/>
                <a:cs typeface="Arial"/>
              </a:rPr>
              <a:t>k</a:t>
            </a:r>
            <a:r>
              <a:rPr sz="1050" i="1" spc="750" baseline="-11904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Measure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UAV-ES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pairs: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Γ</a:t>
            </a:r>
            <a:r>
              <a:rPr sz="1050" i="1" spc="-30" baseline="-11904" dirty="0">
                <a:latin typeface="Arial"/>
                <a:cs typeface="Arial"/>
              </a:rPr>
              <a:t>k</a:t>
            </a:r>
            <a:r>
              <a:rPr sz="1050" i="1" spc="-30" baseline="-11904" dirty="0">
                <a:latin typeface="Trebuchet MS"/>
                <a:cs typeface="Trebuchet MS"/>
              </a:rPr>
              <a:t>,</a:t>
            </a:r>
            <a:r>
              <a:rPr sz="1050" i="1" spc="-30" baseline="-11904" dirty="0">
                <a:latin typeface="Arial"/>
                <a:cs typeface="Arial"/>
              </a:rPr>
              <a:t>l</a:t>
            </a:r>
            <a:endParaRPr sz="1050" baseline="-11904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931252" y="3163737"/>
            <a:ext cx="168528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Vol.</a:t>
            </a:r>
            <a:r>
              <a:rPr sz="500" spc="6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22,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No.</a:t>
            </a:r>
            <a:r>
              <a:rPr sz="500" spc="7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1,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919973" y="3148621"/>
            <a:ext cx="3840479" cy="91440"/>
            <a:chOff x="1919973" y="3148621"/>
            <a:chExt cx="3840479" cy="91440"/>
          </a:xfrm>
        </p:grpSpPr>
        <p:sp>
          <p:nvSpPr>
            <p:cNvPr id="49" name="object 4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5729" y="514633"/>
            <a:ext cx="5659755" cy="1362075"/>
            <a:chOff x="75729" y="514633"/>
            <a:chExt cx="5659755" cy="13620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514633"/>
              <a:ext cx="5608955" cy="1362075"/>
            </a:xfrm>
            <a:custGeom>
              <a:avLst/>
              <a:gdLst/>
              <a:ahLst/>
              <a:cxnLst/>
              <a:rect l="l" t="t" r="r" b="b"/>
              <a:pathLst>
                <a:path w="5608955" h="1362075">
                  <a:moveTo>
                    <a:pt x="5608620" y="0"/>
                  </a:moveTo>
                  <a:lnTo>
                    <a:pt x="0" y="0"/>
                  </a:lnTo>
                  <a:lnTo>
                    <a:pt x="0" y="1362046"/>
                  </a:lnTo>
                  <a:lnTo>
                    <a:pt x="5608620" y="136204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687695"/>
              <a:ext cx="5608955" cy="1138555"/>
            </a:xfrm>
            <a:custGeom>
              <a:avLst/>
              <a:gdLst/>
              <a:ahLst/>
              <a:cxnLst/>
              <a:rect l="l" t="t" r="r" b="b"/>
              <a:pathLst>
                <a:path w="5608955" h="1138555">
                  <a:moveTo>
                    <a:pt x="5608620" y="0"/>
                  </a:moveTo>
                  <a:lnTo>
                    <a:pt x="0" y="0"/>
                  </a:lnTo>
                  <a:lnTo>
                    <a:pt x="0" y="1087383"/>
                  </a:lnTo>
                  <a:lnTo>
                    <a:pt x="4008" y="1107108"/>
                  </a:lnTo>
                  <a:lnTo>
                    <a:pt x="14922" y="1123260"/>
                  </a:lnTo>
                  <a:lnTo>
                    <a:pt x="31075" y="1134175"/>
                  </a:lnTo>
                  <a:lnTo>
                    <a:pt x="50800" y="1138183"/>
                  </a:lnTo>
                  <a:lnTo>
                    <a:pt x="5557819" y="1138183"/>
                  </a:lnTo>
                  <a:lnTo>
                    <a:pt x="5577544" y="1134175"/>
                  </a:lnTo>
                  <a:lnTo>
                    <a:pt x="5593697" y="1123260"/>
                  </a:lnTo>
                  <a:lnTo>
                    <a:pt x="5604611" y="1107108"/>
                  </a:lnTo>
                  <a:lnTo>
                    <a:pt x="5608620" y="108738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719216"/>
              <a:ext cx="104301" cy="10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" y="909005"/>
              <a:ext cx="104301" cy="104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1098794"/>
              <a:ext cx="104301" cy="104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24" y="1288570"/>
              <a:ext cx="104301" cy="1043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924" y="1478359"/>
              <a:ext cx="104301" cy="1043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924" y="1668148"/>
              <a:ext cx="104301" cy="1043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0" dirty="0"/>
              <a:t> </a:t>
            </a:r>
            <a:r>
              <a:rPr dirty="0"/>
              <a:t>Plan:</a:t>
            </a:r>
            <a:r>
              <a:rPr spc="100" dirty="0"/>
              <a:t> </a:t>
            </a:r>
            <a:r>
              <a:rPr spc="-25" dirty="0"/>
              <a:t>Operational</a:t>
            </a:r>
            <a:r>
              <a:rPr spc="-35" dirty="0"/>
              <a:t> </a:t>
            </a:r>
            <a:r>
              <a:rPr spc="-20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86168"/>
            <a:ext cx="22269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4: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Task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Offloading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Execution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3281" y="709824"/>
            <a:ext cx="4635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4177" y="630726"/>
            <a:ext cx="351917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devices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submit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requests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21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MBS </a:t>
            </a:r>
            <a:r>
              <a:rPr sz="1000" spc="50" dirty="0">
                <a:latin typeface="Tahoma"/>
                <a:cs typeface="Tahoma"/>
              </a:rPr>
              <a:t>MBS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executes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R-TMSC </a:t>
            </a:r>
            <a:r>
              <a:rPr sz="1000" spc="-25" dirty="0">
                <a:latin typeface="Tahoma"/>
                <a:cs typeface="Tahoma"/>
              </a:rPr>
              <a:t>algorithm</a:t>
            </a:r>
            <a:r>
              <a:rPr sz="1000" dirty="0">
                <a:latin typeface="Tahoma"/>
                <a:cs typeface="Tahoma"/>
              </a:rPr>
              <a:t> to </a:t>
            </a:r>
            <a:r>
              <a:rPr sz="1000" spc="-10" dirty="0">
                <a:latin typeface="Tahoma"/>
                <a:cs typeface="Tahoma"/>
              </a:rPr>
              <a:t>find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stable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M</a:t>
            </a:r>
            <a:r>
              <a:rPr sz="1050" i="1" spc="-37" baseline="-11904" dirty="0">
                <a:latin typeface="Arial"/>
                <a:cs typeface="Arial"/>
              </a:rPr>
              <a:t>t</a:t>
            </a:r>
            <a:r>
              <a:rPr sz="1050" i="1" spc="750" baseline="-11904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Generate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offloading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strategy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200" dirty="0">
                <a:latin typeface="Tahoma"/>
                <a:cs typeface="Tahoma"/>
              </a:rPr>
              <a:t>∆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i="1" dirty="0">
                <a:latin typeface="Calibri"/>
                <a:cs typeface="Calibri"/>
              </a:rPr>
              <a:t>δ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170" dirty="0">
                <a:latin typeface="Lucida Sans Unicode"/>
                <a:cs typeface="Lucida Sans Unicode"/>
              </a:rPr>
              <a:t>}</a:t>
            </a:r>
            <a:r>
              <a:rPr sz="1000" spc="2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M</a:t>
            </a:r>
            <a:r>
              <a:rPr sz="1050" i="1" spc="-37" baseline="-11904" dirty="0">
                <a:latin typeface="Arial"/>
                <a:cs typeface="Arial"/>
              </a:rPr>
              <a:t>t</a:t>
            </a:r>
            <a:endParaRPr sz="1050" baseline="-11904">
              <a:latin typeface="Arial"/>
              <a:cs typeface="Arial"/>
            </a:endParaRPr>
          </a:p>
          <a:p>
            <a:pPr marL="25400" marR="786130">
              <a:lnSpc>
                <a:spcPct val="124500"/>
              </a:lnSpc>
            </a:pPr>
            <a:r>
              <a:rPr sz="1000" spc="-30" dirty="0">
                <a:latin typeface="Tahoma"/>
                <a:cs typeface="Tahoma"/>
              </a:rPr>
              <a:t>Communicate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assignments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0" dirty="0">
                <a:latin typeface="Tahoma"/>
                <a:cs typeface="Tahoma"/>
              </a:rPr>
              <a:t> IoTs, </a:t>
            </a:r>
            <a:r>
              <a:rPr sz="1000" dirty="0">
                <a:latin typeface="Tahoma"/>
                <a:cs typeface="Tahoma"/>
              </a:rPr>
              <a:t>UAVs,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ESs </a:t>
            </a:r>
            <a:r>
              <a:rPr sz="1000" spc="-30" dirty="0">
                <a:latin typeface="Tahoma"/>
                <a:cs typeface="Tahoma"/>
              </a:rPr>
              <a:t>Execute</a:t>
            </a:r>
            <a:r>
              <a:rPr sz="1000" spc="-10" dirty="0">
                <a:latin typeface="Tahoma"/>
                <a:cs typeface="Tahoma"/>
              </a:rPr>
              <a:t> task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offloading: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-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Tahoma"/>
                <a:cs typeface="Tahoma"/>
              </a:rPr>
              <a:t>ES </a:t>
            </a:r>
            <a:r>
              <a:rPr sz="1000" dirty="0">
                <a:latin typeface="Tahoma"/>
                <a:cs typeface="Tahoma"/>
              </a:rPr>
              <a:t>Monitor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delay</a:t>
            </a:r>
            <a:r>
              <a:rPr sz="1000" spc="-30" dirty="0">
                <a:latin typeface="Tahoma"/>
                <a:cs typeface="Tahoma"/>
              </a:rPr>
              <a:t> constraints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thresholds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8" name="object 1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object 26"/>
          <p:cNvGrpSpPr/>
          <p:nvPr/>
        </p:nvGrpSpPr>
        <p:grpSpPr>
          <a:xfrm>
            <a:off x="75729" y="1996767"/>
            <a:ext cx="5659755" cy="1243330"/>
            <a:chOff x="75729" y="1996767"/>
            <a:chExt cx="5659755" cy="124333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2125560"/>
              <a:ext cx="5608620" cy="5060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26530" y="1996767"/>
              <a:ext cx="5608955" cy="1243330"/>
            </a:xfrm>
            <a:custGeom>
              <a:avLst/>
              <a:gdLst/>
              <a:ahLst/>
              <a:cxnLst/>
              <a:rect l="l" t="t" r="r" b="b"/>
              <a:pathLst>
                <a:path w="5608955" h="1243330">
                  <a:moveTo>
                    <a:pt x="5608620" y="0"/>
                  </a:moveTo>
                  <a:lnTo>
                    <a:pt x="0" y="0"/>
                  </a:lnTo>
                  <a:lnTo>
                    <a:pt x="0" y="1243231"/>
                  </a:lnTo>
                  <a:lnTo>
                    <a:pt x="5608620" y="124323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729" y="2169829"/>
              <a:ext cx="5608955" cy="1070610"/>
            </a:xfrm>
            <a:custGeom>
              <a:avLst/>
              <a:gdLst/>
              <a:ahLst/>
              <a:cxnLst/>
              <a:rect l="l" t="t" r="r" b="b"/>
              <a:pathLst>
                <a:path w="5608955" h="1070610">
                  <a:moveTo>
                    <a:pt x="5608620" y="0"/>
                  </a:moveTo>
                  <a:lnTo>
                    <a:pt x="0" y="0"/>
                  </a:lnTo>
                  <a:lnTo>
                    <a:pt x="0" y="1070169"/>
                  </a:lnTo>
                  <a:lnTo>
                    <a:pt x="5608620" y="1070169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" y="2199236"/>
              <a:ext cx="104301" cy="10430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5729" y="514633"/>
            <a:ext cx="5659755" cy="1362075"/>
            <a:chOff x="75729" y="514633"/>
            <a:chExt cx="5659755" cy="13620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6530" y="514633"/>
              <a:ext cx="5608955" cy="1362075"/>
            </a:xfrm>
            <a:custGeom>
              <a:avLst/>
              <a:gdLst/>
              <a:ahLst/>
              <a:cxnLst/>
              <a:rect l="l" t="t" r="r" b="b"/>
              <a:pathLst>
                <a:path w="5608955" h="1362075">
                  <a:moveTo>
                    <a:pt x="5608620" y="0"/>
                  </a:moveTo>
                  <a:lnTo>
                    <a:pt x="0" y="0"/>
                  </a:lnTo>
                  <a:lnTo>
                    <a:pt x="0" y="1362046"/>
                  </a:lnTo>
                  <a:lnTo>
                    <a:pt x="5608620" y="136204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9" y="687695"/>
              <a:ext cx="5608955" cy="1138555"/>
            </a:xfrm>
            <a:custGeom>
              <a:avLst/>
              <a:gdLst/>
              <a:ahLst/>
              <a:cxnLst/>
              <a:rect l="l" t="t" r="r" b="b"/>
              <a:pathLst>
                <a:path w="5608955" h="1138555">
                  <a:moveTo>
                    <a:pt x="5608620" y="0"/>
                  </a:moveTo>
                  <a:lnTo>
                    <a:pt x="0" y="0"/>
                  </a:lnTo>
                  <a:lnTo>
                    <a:pt x="0" y="1087383"/>
                  </a:lnTo>
                  <a:lnTo>
                    <a:pt x="4008" y="1107108"/>
                  </a:lnTo>
                  <a:lnTo>
                    <a:pt x="14922" y="1123260"/>
                  </a:lnTo>
                  <a:lnTo>
                    <a:pt x="31075" y="1134175"/>
                  </a:lnTo>
                  <a:lnTo>
                    <a:pt x="50800" y="1138183"/>
                  </a:lnTo>
                  <a:lnTo>
                    <a:pt x="5557819" y="1138183"/>
                  </a:lnTo>
                  <a:lnTo>
                    <a:pt x="5577544" y="1134175"/>
                  </a:lnTo>
                  <a:lnTo>
                    <a:pt x="5593697" y="1123260"/>
                  </a:lnTo>
                  <a:lnTo>
                    <a:pt x="5604611" y="1107108"/>
                  </a:lnTo>
                  <a:lnTo>
                    <a:pt x="5608620" y="108738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719216"/>
              <a:ext cx="104301" cy="104301"/>
            </a:xfrm>
            <a:prstGeom prst="rect">
              <a:avLst/>
            </a:prstGeom>
          </p:spPr>
        </p:pic>
      </p:grpSp>
      <p:sp>
        <p:nvSpPr>
          <p:cNvPr id="2" name="object 2"/>
          <p:cNvSpPr/>
          <p:nvPr/>
        </p:nvSpPr>
        <p:spPr>
          <a:xfrm>
            <a:off x="5648746" y="3053536"/>
            <a:ext cx="66040" cy="50800"/>
          </a:xfrm>
          <a:custGeom>
            <a:avLst/>
            <a:gdLst/>
            <a:ahLst/>
            <a:cxnLst/>
            <a:rect l="l" t="t" r="r" b="b"/>
            <a:pathLst>
              <a:path w="66039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  <a:path w="66039" h="50800">
                <a:moveTo>
                  <a:pt x="66040" y="17780"/>
                </a:moveTo>
                <a:lnTo>
                  <a:pt x="50800" y="30480"/>
                </a:lnTo>
                <a:lnTo>
                  <a:pt x="35560" y="17780"/>
                </a:lnTo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40" dirty="0"/>
              <a:t> </a:t>
            </a:r>
            <a:r>
              <a:rPr dirty="0"/>
              <a:t>Plan:</a:t>
            </a:r>
            <a:r>
              <a:rPr spc="100" dirty="0"/>
              <a:t> </a:t>
            </a:r>
            <a:r>
              <a:rPr spc="-25" dirty="0"/>
              <a:t>Operational</a:t>
            </a:r>
            <a:r>
              <a:rPr spc="-35" dirty="0"/>
              <a:t> </a:t>
            </a:r>
            <a:r>
              <a:rPr spc="-20" dirty="0"/>
              <a:t>Workflow</a:t>
            </a:r>
          </a:p>
        </p:txBody>
      </p:sp>
      <p:sp>
        <p:nvSpPr>
          <p:cNvPr id="5" name="object 5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530" y="486168"/>
            <a:ext cx="22269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4: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Task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Offloading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Execution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581" y="709824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924" y="909005"/>
            <a:ext cx="104301" cy="1043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30581" y="89961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924" y="1098794"/>
            <a:ext cx="104301" cy="10430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30581" y="108940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7924" y="1288570"/>
            <a:ext cx="104301" cy="10430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30581" y="127919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7924" y="1478359"/>
            <a:ext cx="104301" cy="1043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30581" y="146897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7924" y="1668147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30581" y="165876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1477" y="630726"/>
            <a:ext cx="353187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45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devices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submit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requests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21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m</a:t>
            </a:r>
            <a:r>
              <a:rPr sz="1000" i="1" spc="-10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MBS </a:t>
            </a:r>
            <a:r>
              <a:rPr sz="1000" spc="50" dirty="0">
                <a:latin typeface="Tahoma"/>
                <a:cs typeface="Tahoma"/>
              </a:rPr>
              <a:t>MBS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executes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R-TMSC </a:t>
            </a:r>
            <a:r>
              <a:rPr sz="1000" spc="-25" dirty="0">
                <a:latin typeface="Tahoma"/>
                <a:cs typeface="Tahoma"/>
              </a:rPr>
              <a:t>algorithm</a:t>
            </a:r>
            <a:r>
              <a:rPr sz="1000" dirty="0">
                <a:latin typeface="Tahoma"/>
                <a:cs typeface="Tahoma"/>
              </a:rPr>
              <a:t> to </a:t>
            </a:r>
            <a:r>
              <a:rPr sz="1000" spc="-10" dirty="0">
                <a:latin typeface="Tahoma"/>
                <a:cs typeface="Tahoma"/>
              </a:rPr>
              <a:t>find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stable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M</a:t>
            </a:r>
            <a:r>
              <a:rPr sz="1050" i="1" spc="-37" baseline="-11904" dirty="0">
                <a:latin typeface="Arial"/>
                <a:cs typeface="Arial"/>
              </a:rPr>
              <a:t>t</a:t>
            </a:r>
            <a:r>
              <a:rPr sz="1050" i="1" spc="750" baseline="-11904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Generate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offloading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strategy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200" dirty="0">
                <a:latin typeface="Tahoma"/>
                <a:cs typeface="Tahoma"/>
              </a:rPr>
              <a:t>∆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i="1" dirty="0">
                <a:latin typeface="Calibri"/>
                <a:cs typeface="Calibri"/>
              </a:rPr>
              <a:t>δ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l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spc="170" dirty="0">
                <a:latin typeface="Lucida Sans Unicode"/>
                <a:cs typeface="Lucida Sans Unicode"/>
              </a:rPr>
              <a:t>}</a:t>
            </a:r>
            <a:r>
              <a:rPr sz="1000" spc="2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M</a:t>
            </a:r>
            <a:r>
              <a:rPr sz="1050" i="1" spc="-37" baseline="-11904" dirty="0">
                <a:latin typeface="Arial"/>
                <a:cs typeface="Arial"/>
              </a:rPr>
              <a:t>t</a:t>
            </a:r>
            <a:endParaRPr sz="1050" baseline="-11904">
              <a:latin typeface="Arial"/>
              <a:cs typeface="Arial"/>
            </a:endParaRPr>
          </a:p>
          <a:p>
            <a:pPr marL="38100" marR="786130">
              <a:lnSpc>
                <a:spcPct val="124500"/>
              </a:lnSpc>
            </a:pPr>
            <a:r>
              <a:rPr sz="1000" spc="-30" dirty="0">
                <a:latin typeface="Tahoma"/>
                <a:cs typeface="Tahoma"/>
              </a:rPr>
              <a:t>Communicate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assignments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0" dirty="0">
                <a:latin typeface="Tahoma"/>
                <a:cs typeface="Tahoma"/>
              </a:rPr>
              <a:t> IoTs, </a:t>
            </a:r>
            <a:r>
              <a:rPr sz="1000" dirty="0">
                <a:latin typeface="Tahoma"/>
                <a:cs typeface="Tahoma"/>
              </a:rPr>
              <a:t>UAVs,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ESs </a:t>
            </a:r>
            <a:r>
              <a:rPr sz="1000" spc="-30" dirty="0">
                <a:latin typeface="Tahoma"/>
                <a:cs typeface="Tahoma"/>
              </a:rPr>
              <a:t>Execute</a:t>
            </a:r>
            <a:r>
              <a:rPr sz="1000" spc="-10" dirty="0">
                <a:latin typeface="Tahoma"/>
                <a:cs typeface="Tahoma"/>
              </a:rPr>
              <a:t> task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offloading: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-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Tahoma"/>
                <a:cs typeface="Tahoma"/>
              </a:rPr>
              <a:t>ES </a:t>
            </a:r>
            <a:r>
              <a:rPr sz="1000" dirty="0">
                <a:latin typeface="Tahoma"/>
                <a:cs typeface="Tahoma"/>
              </a:rPr>
              <a:t>Monitor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delay</a:t>
            </a:r>
            <a:r>
              <a:rPr sz="1000" spc="-30" dirty="0">
                <a:latin typeface="Tahoma"/>
                <a:cs typeface="Tahoma"/>
              </a:rPr>
              <a:t> constraints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thresholds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729" y="1939848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26530" y="1968296"/>
            <a:ext cx="198882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5: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Optimization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581" y="2189857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924" y="2389025"/>
            <a:ext cx="104301" cy="10430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30581" y="237963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7924" y="2578814"/>
            <a:ext cx="104301" cy="104301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30581" y="256942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7924" y="2768603"/>
            <a:ext cx="104301" cy="104301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230581" y="275921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7924" y="2958391"/>
            <a:ext cx="104301" cy="10430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230581" y="294899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1477" y="2110746"/>
            <a:ext cx="3760470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spc="-20" dirty="0">
                <a:latin typeface="Tahoma"/>
                <a:cs typeface="Tahoma"/>
              </a:rPr>
              <a:t>Calculate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SP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profit: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P</a:t>
            </a:r>
            <a:r>
              <a:rPr sz="1050" i="1" spc="-37" baseline="-11904" dirty="0">
                <a:latin typeface="Arial"/>
                <a:cs typeface="Arial"/>
              </a:rPr>
              <a:t>SP</a:t>
            </a:r>
            <a:endParaRPr sz="1050" baseline="-11904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Tahoma"/>
                <a:cs typeface="Tahoma"/>
              </a:rPr>
              <a:t>Evaluate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service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coverage: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percentage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served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IoTs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000" spc="-20" dirty="0">
                <a:latin typeface="Tahoma"/>
                <a:cs typeface="Tahoma"/>
              </a:rPr>
              <a:t>If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service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coverage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Increase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count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reposition</a:t>
            </a:r>
            <a:endParaRPr sz="1000">
              <a:latin typeface="Tahoma"/>
              <a:cs typeface="Tahoma"/>
            </a:endParaRPr>
          </a:p>
          <a:p>
            <a:pPr marL="38100" marR="30480">
              <a:lnSpc>
                <a:spcPct val="124500"/>
              </a:lnSpc>
              <a:spcBef>
                <a:spcPts val="5"/>
              </a:spcBef>
            </a:pPr>
            <a:r>
              <a:rPr sz="1000" spc="-20" dirty="0">
                <a:latin typeface="Tahoma"/>
                <a:cs typeface="Tahoma"/>
              </a:rPr>
              <a:t>If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service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coverage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&gt;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ζ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 </a:t>
            </a:r>
            <a:r>
              <a:rPr sz="1000" spc="-50" dirty="0">
                <a:latin typeface="Tahoma"/>
                <a:cs typeface="Tahoma"/>
              </a:rPr>
              <a:t>reduce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 </a:t>
            </a:r>
            <a:r>
              <a:rPr sz="1000" spc="-20" dirty="0">
                <a:latin typeface="Tahoma"/>
                <a:cs typeface="Tahoma"/>
              </a:rPr>
              <a:t>count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(cost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optimization) Update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topology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K-</a:t>
            </a:r>
            <a:r>
              <a:rPr sz="1000" spc="-25" dirty="0">
                <a:latin typeface="Tahoma"/>
                <a:cs typeface="Tahoma"/>
              </a:rPr>
              <a:t>means</a:t>
            </a:r>
            <a:r>
              <a:rPr sz="1000" spc="-20" dirty="0">
                <a:latin typeface="Tahoma"/>
                <a:cs typeface="Tahoma"/>
              </a:rPr>
              <a:t> iterative </a:t>
            </a:r>
            <a:r>
              <a:rPr sz="1000" spc="-10" dirty="0">
                <a:latin typeface="Tahoma"/>
                <a:cs typeface="Tahoma"/>
              </a:rPr>
              <a:t>algorithm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42" name="object 42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43281" y="3140841"/>
            <a:ext cx="1663064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750" baseline="16666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750" spc="337" baseline="16666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000" spc="-25" dirty="0">
                <a:latin typeface="Tahoma"/>
                <a:cs typeface="Tahoma"/>
              </a:rPr>
              <a:t>Repeat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process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wit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06291" y="3140841"/>
            <a:ext cx="1710689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0"/>
              </a:lnSpc>
            </a:pPr>
            <a:r>
              <a:rPr sz="1500" spc="-89" baseline="-11111" dirty="0">
                <a:latin typeface="Tahoma"/>
                <a:cs typeface="Tahoma"/>
              </a:rPr>
              <a:t>new</a:t>
            </a:r>
            <a:r>
              <a:rPr sz="1500" spc="44" baseline="-11111" dirty="0">
                <a:latin typeface="Tahoma"/>
                <a:cs typeface="Tahoma"/>
              </a:rPr>
              <a:t> </a:t>
            </a:r>
            <a:r>
              <a:rPr sz="1500" spc="-44" baseline="-11111" dirty="0">
                <a:latin typeface="Tahoma"/>
                <a:cs typeface="Tahoma"/>
              </a:rPr>
              <a:t>to</a:t>
            </a:r>
            <a:r>
              <a:rPr sz="1500" spc="-7" baseline="-11111" dirty="0">
                <a:latin typeface="Tahoma"/>
                <a:cs typeface="Tahoma"/>
              </a:rPr>
              <a:t>p</a:t>
            </a:r>
            <a:r>
              <a:rPr sz="1500" spc="-44" baseline="-11111" dirty="0">
                <a:latin typeface="Tahoma"/>
                <a:cs typeface="Tahoma"/>
                <a:hlinkClick r:id="rId15" action="ppaction://hlinksldjump"/>
              </a:rPr>
              <a:t>olog</a:t>
            </a:r>
            <a:r>
              <a:rPr sz="1500" spc="-10072" baseline="-11111" dirty="0">
                <a:latin typeface="Tahoma"/>
                <a:cs typeface="Tahoma"/>
                <a:hlinkClick r:id="rId15" action="ppaction://hlinksldjump"/>
              </a:rPr>
              <a:t>y</a:t>
            </a:r>
            <a:r>
              <a:rPr sz="500" spc="-3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Vol.</a:t>
            </a:r>
            <a:r>
              <a:rPr sz="500" spc="8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22,</a:t>
            </a:r>
            <a:r>
              <a:rPr sz="500" spc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spc="-21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No.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1,</a:t>
            </a:r>
            <a:r>
              <a:rPr sz="500" spc="-4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1435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1500" spc="1387" baseline="-11111" dirty="0">
                <a:latin typeface="Tahoma"/>
                <a:cs typeface="Tahoma"/>
              </a:rPr>
              <a:t>h</a:t>
            </a:r>
            <a:endParaRPr sz="1500" baseline="-11111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0" dirty="0"/>
              <a:t> </a:t>
            </a:r>
            <a:r>
              <a:rPr spc="-20" dirty="0"/>
              <a:t>2025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534187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17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30" dirty="0"/>
              <a:t> </a:t>
            </a:r>
            <a:r>
              <a:rPr dirty="0"/>
              <a:t>Plan:</a:t>
            </a:r>
            <a:r>
              <a:rPr spc="110" dirty="0"/>
              <a:t> </a:t>
            </a:r>
            <a:r>
              <a:rPr spc="-45" dirty="0"/>
              <a:t>Performance</a:t>
            </a:r>
            <a:r>
              <a:rPr spc="-25" dirty="0"/>
              <a:t> </a:t>
            </a:r>
            <a:r>
              <a:rPr spc="-10" dirty="0"/>
              <a:t>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262227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452016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641805"/>
            <a:ext cx="59601" cy="596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653" y="388029"/>
            <a:ext cx="1889125" cy="13544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20" dirty="0">
                <a:latin typeface="Arial"/>
                <a:cs typeface="Arial"/>
              </a:rPr>
              <a:t>Real-</a:t>
            </a:r>
            <a:r>
              <a:rPr sz="1000" b="1" dirty="0">
                <a:latin typeface="Arial"/>
                <a:cs typeface="Arial"/>
              </a:rPr>
              <a:t>time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Metrics: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24500"/>
              </a:lnSpc>
            </a:pPr>
            <a:r>
              <a:rPr sz="1000" spc="-20" dirty="0">
                <a:latin typeface="Tahoma"/>
                <a:cs typeface="Tahoma"/>
              </a:rPr>
              <a:t>Number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active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devices </a:t>
            </a:r>
            <a:r>
              <a:rPr sz="1000" spc="-50" dirty="0">
                <a:latin typeface="Tahoma"/>
                <a:cs typeface="Tahoma"/>
              </a:rPr>
              <a:t>Served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10" dirty="0">
                <a:latin typeface="Tahoma"/>
                <a:cs typeface="Tahoma"/>
              </a:rPr>
              <a:t> percentage </a:t>
            </a:r>
            <a:r>
              <a:rPr sz="1000" spc="-35" dirty="0">
                <a:latin typeface="Tahoma"/>
                <a:cs typeface="Tahoma"/>
              </a:rPr>
              <a:t>Average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completion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delay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distribution</a:t>
            </a:r>
            <a:endParaRPr sz="1000">
              <a:latin typeface="Tahoma"/>
              <a:cs typeface="Tahoma"/>
            </a:endParaRPr>
          </a:p>
          <a:p>
            <a:pPr marL="265430" marR="4114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UAV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buffer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utilization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computational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load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30" dirty="0"/>
              <a:t> </a:t>
            </a:r>
            <a:r>
              <a:rPr dirty="0"/>
              <a:t>Plan:</a:t>
            </a:r>
            <a:r>
              <a:rPr spc="110" dirty="0"/>
              <a:t> </a:t>
            </a:r>
            <a:r>
              <a:rPr spc="-45" dirty="0"/>
              <a:t>Performance</a:t>
            </a:r>
            <a:r>
              <a:rPr spc="-25" dirty="0"/>
              <a:t> </a:t>
            </a:r>
            <a:r>
              <a:rPr spc="-10" dirty="0"/>
              <a:t>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262227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452016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641805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021382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4528" y="2211171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240096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4528" y="2590749"/>
            <a:ext cx="59601" cy="596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4528" y="2780538"/>
            <a:ext cx="59601" cy="596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1653" y="388029"/>
            <a:ext cx="1889125" cy="24930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20" dirty="0">
                <a:latin typeface="Arial"/>
                <a:cs typeface="Arial"/>
              </a:rPr>
              <a:t>Real-</a:t>
            </a:r>
            <a:r>
              <a:rPr sz="1000" b="1" dirty="0">
                <a:latin typeface="Arial"/>
                <a:cs typeface="Arial"/>
              </a:rPr>
              <a:t>time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Metrics: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24500"/>
              </a:lnSpc>
            </a:pPr>
            <a:r>
              <a:rPr sz="1000" spc="-20" dirty="0">
                <a:latin typeface="Tahoma"/>
                <a:cs typeface="Tahoma"/>
              </a:rPr>
              <a:t>Number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active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devices </a:t>
            </a:r>
            <a:r>
              <a:rPr sz="1000" spc="-50" dirty="0">
                <a:latin typeface="Tahoma"/>
                <a:cs typeface="Tahoma"/>
              </a:rPr>
              <a:t>Served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10" dirty="0">
                <a:latin typeface="Tahoma"/>
                <a:cs typeface="Tahoma"/>
              </a:rPr>
              <a:t> percentage </a:t>
            </a:r>
            <a:r>
              <a:rPr sz="1000" spc="-35" dirty="0">
                <a:latin typeface="Tahoma"/>
                <a:cs typeface="Tahoma"/>
              </a:rPr>
              <a:t>Average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completion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delay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distribution</a:t>
            </a:r>
            <a:endParaRPr sz="1000">
              <a:latin typeface="Tahoma"/>
              <a:cs typeface="Tahoma"/>
            </a:endParaRPr>
          </a:p>
          <a:p>
            <a:pPr marL="265430" marR="4114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UAV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buffer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utilization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computational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load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b="1" spc="-65" dirty="0">
                <a:latin typeface="Arial"/>
                <a:cs typeface="Arial"/>
              </a:rPr>
              <a:t>Business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Metrics:</a:t>
            </a:r>
            <a:endParaRPr sz="1000">
              <a:latin typeface="Arial"/>
              <a:cs typeface="Arial"/>
            </a:endParaRPr>
          </a:p>
          <a:p>
            <a:pPr marL="265430" marR="72390">
              <a:lnSpc>
                <a:spcPct val="124500"/>
              </a:lnSpc>
            </a:pPr>
            <a:r>
              <a:rPr sz="1000" spc="-50" dirty="0">
                <a:latin typeface="Tahoma"/>
                <a:cs typeface="Tahoma"/>
              </a:rPr>
              <a:t>Revenue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offloading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leasing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costs</a:t>
            </a:r>
            <a:endParaRPr sz="1000">
              <a:latin typeface="Tahoma"/>
              <a:cs typeface="Tahoma"/>
            </a:endParaRPr>
          </a:p>
          <a:p>
            <a:pPr marL="265430" marR="43815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UAV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operational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costs </a:t>
            </a:r>
            <a:r>
              <a:rPr sz="1000" spc="-10" dirty="0">
                <a:latin typeface="Tahoma"/>
                <a:cs typeface="Tahoma"/>
              </a:rPr>
              <a:t>Overall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SP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profit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Tahoma"/>
                <a:cs typeface="Tahoma"/>
              </a:rPr>
              <a:t>User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satisfaction</a:t>
            </a:r>
            <a:r>
              <a:rPr sz="1000" spc="-10" dirty="0">
                <a:latin typeface="Tahoma"/>
                <a:cs typeface="Tahoma"/>
              </a:rPr>
              <a:t> scores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39463" y="877950"/>
            <a:ext cx="1157605" cy="1445260"/>
            <a:chOff x="3539463" y="877950"/>
            <a:chExt cx="1157605" cy="1445260"/>
          </a:xfrm>
        </p:grpSpPr>
        <p:sp>
          <p:nvSpPr>
            <p:cNvPr id="16" name="object 16"/>
            <p:cNvSpPr/>
            <p:nvPr/>
          </p:nvSpPr>
          <p:spPr>
            <a:xfrm>
              <a:off x="3542003" y="880490"/>
              <a:ext cx="1152525" cy="1440180"/>
            </a:xfrm>
            <a:custGeom>
              <a:avLst/>
              <a:gdLst/>
              <a:ahLst/>
              <a:cxnLst/>
              <a:rect l="l" t="t" r="r" b="b"/>
              <a:pathLst>
                <a:path w="1152525" h="1440180">
                  <a:moveTo>
                    <a:pt x="1101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89412"/>
                  </a:lnTo>
                  <a:lnTo>
                    <a:pt x="3977" y="1409112"/>
                  </a:lnTo>
                  <a:lnTo>
                    <a:pt x="14823" y="1425199"/>
                  </a:lnTo>
                  <a:lnTo>
                    <a:pt x="30910" y="1436046"/>
                  </a:lnTo>
                  <a:lnTo>
                    <a:pt x="50610" y="1440023"/>
                  </a:lnTo>
                  <a:lnTo>
                    <a:pt x="1101407" y="1440023"/>
                  </a:lnTo>
                  <a:lnTo>
                    <a:pt x="1121107" y="1436046"/>
                  </a:lnTo>
                  <a:lnTo>
                    <a:pt x="1137195" y="1425199"/>
                  </a:lnTo>
                  <a:lnTo>
                    <a:pt x="1148041" y="1409112"/>
                  </a:lnTo>
                  <a:lnTo>
                    <a:pt x="1152018" y="1389412"/>
                  </a:lnTo>
                  <a:lnTo>
                    <a:pt x="1152018" y="50610"/>
                  </a:lnTo>
                  <a:lnTo>
                    <a:pt x="1148041" y="30910"/>
                  </a:lnTo>
                  <a:lnTo>
                    <a:pt x="1137195" y="14823"/>
                  </a:lnTo>
                  <a:lnTo>
                    <a:pt x="1121107" y="3977"/>
                  </a:lnTo>
                  <a:lnTo>
                    <a:pt x="1101407" y="0"/>
                  </a:lnTo>
                  <a:close/>
                </a:path>
              </a:pathLst>
            </a:custGeom>
            <a:solidFill>
              <a:srgbClr val="E5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2003" y="880490"/>
              <a:ext cx="1152525" cy="1440180"/>
            </a:xfrm>
            <a:custGeom>
              <a:avLst/>
              <a:gdLst/>
              <a:ahLst/>
              <a:cxnLst/>
              <a:rect l="l" t="t" r="r" b="b"/>
              <a:pathLst>
                <a:path w="1152525" h="1440180">
                  <a:moveTo>
                    <a:pt x="0" y="1389412"/>
                  </a:moveTo>
                  <a:lnTo>
                    <a:pt x="0" y="50610"/>
                  </a:lnTo>
                  <a:lnTo>
                    <a:pt x="3977" y="30910"/>
                  </a:lnTo>
                  <a:lnTo>
                    <a:pt x="14823" y="14823"/>
                  </a:lnTo>
                  <a:lnTo>
                    <a:pt x="30910" y="3977"/>
                  </a:lnTo>
                  <a:lnTo>
                    <a:pt x="50610" y="0"/>
                  </a:lnTo>
                  <a:lnTo>
                    <a:pt x="1101407" y="0"/>
                  </a:lnTo>
                  <a:lnTo>
                    <a:pt x="1121107" y="3977"/>
                  </a:lnTo>
                  <a:lnTo>
                    <a:pt x="1137195" y="14823"/>
                  </a:lnTo>
                  <a:lnTo>
                    <a:pt x="1148041" y="30910"/>
                  </a:lnTo>
                  <a:lnTo>
                    <a:pt x="1152018" y="50610"/>
                  </a:lnTo>
                  <a:lnTo>
                    <a:pt x="1152018" y="1389412"/>
                  </a:lnTo>
                  <a:lnTo>
                    <a:pt x="1148041" y="1409112"/>
                  </a:lnTo>
                  <a:lnTo>
                    <a:pt x="1137195" y="1425199"/>
                  </a:lnTo>
                  <a:lnTo>
                    <a:pt x="1121107" y="1436046"/>
                  </a:lnTo>
                  <a:lnTo>
                    <a:pt x="1101407" y="1440023"/>
                  </a:lnTo>
                  <a:lnTo>
                    <a:pt x="50610" y="1440023"/>
                  </a:lnTo>
                  <a:lnTo>
                    <a:pt x="30910" y="1436046"/>
                  </a:lnTo>
                  <a:lnTo>
                    <a:pt x="14823" y="1425199"/>
                  </a:lnTo>
                  <a:lnTo>
                    <a:pt x="3977" y="1409112"/>
                  </a:lnTo>
                  <a:lnTo>
                    <a:pt x="0" y="138941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21989" y="629483"/>
            <a:ext cx="11918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latin typeface="Arial"/>
                <a:cs typeface="Arial"/>
              </a:rPr>
              <a:t>Monitoring </a:t>
            </a:r>
            <a:r>
              <a:rPr sz="900" b="1" spc="-35" dirty="0">
                <a:latin typeface="Arial"/>
                <a:cs typeface="Arial"/>
              </a:rPr>
              <a:t>Dashboard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9604" y="1024492"/>
            <a:ext cx="1036955" cy="201930"/>
          </a:xfrm>
          <a:prstGeom prst="rect">
            <a:avLst/>
          </a:prstGeom>
          <a:solidFill>
            <a:srgbClr val="CCEADB"/>
          </a:solidFill>
          <a:ln w="5060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465"/>
              </a:spcBef>
            </a:pPr>
            <a:r>
              <a:rPr sz="500" dirty="0">
                <a:latin typeface="Tahoma"/>
                <a:cs typeface="Tahoma"/>
              </a:rPr>
              <a:t>Served</a:t>
            </a:r>
            <a:r>
              <a:rPr sz="500" spc="-1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IoTs:</a:t>
            </a:r>
            <a:r>
              <a:rPr sz="500" spc="35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93.4%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9604" y="1312497"/>
            <a:ext cx="1036955" cy="201930"/>
          </a:xfrm>
          <a:prstGeom prst="rect">
            <a:avLst/>
          </a:prstGeom>
          <a:solidFill>
            <a:srgbClr val="D6EAFF"/>
          </a:solidFill>
          <a:ln w="506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415"/>
              </a:spcBef>
            </a:pPr>
            <a:r>
              <a:rPr sz="500" dirty="0">
                <a:latin typeface="Tahoma"/>
                <a:cs typeface="Tahoma"/>
              </a:rPr>
              <a:t>Avg</a:t>
            </a:r>
            <a:r>
              <a:rPr sz="500" spc="1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Delay:</a:t>
            </a:r>
            <a:r>
              <a:rPr sz="500" spc="80" dirty="0">
                <a:latin typeface="Tahoma"/>
                <a:cs typeface="Tahoma"/>
              </a:rPr>
              <a:t> </a:t>
            </a:r>
            <a:r>
              <a:rPr sz="500" spc="-20" dirty="0">
                <a:latin typeface="Tahoma"/>
                <a:cs typeface="Tahoma"/>
              </a:rPr>
              <a:t>2.3s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604" y="1600501"/>
            <a:ext cx="1036955" cy="201930"/>
          </a:xfrm>
          <a:prstGeom prst="rect">
            <a:avLst/>
          </a:prstGeom>
          <a:solidFill>
            <a:srgbClr val="FFE0CC"/>
          </a:solidFill>
          <a:ln w="5060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480"/>
              </a:spcBef>
            </a:pPr>
            <a:r>
              <a:rPr sz="500" dirty="0">
                <a:latin typeface="Tahoma"/>
                <a:cs typeface="Tahoma"/>
              </a:rPr>
              <a:t>SP</a:t>
            </a:r>
            <a:r>
              <a:rPr sz="500" spc="7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Profit:</a:t>
            </a:r>
            <a:r>
              <a:rPr sz="500" spc="155" dirty="0">
                <a:latin typeface="Tahoma"/>
                <a:cs typeface="Tahoma"/>
              </a:rPr>
              <a:t> </a:t>
            </a:r>
            <a:r>
              <a:rPr sz="500" spc="-10" dirty="0">
                <a:latin typeface="Lucida Sans Unicode"/>
                <a:cs typeface="Lucida Sans Unicode"/>
              </a:rPr>
              <a:t>$</a:t>
            </a:r>
            <a:r>
              <a:rPr sz="500" spc="-10" dirty="0">
                <a:latin typeface="Tahoma"/>
                <a:cs typeface="Tahoma"/>
              </a:rPr>
              <a:t>125k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99604" y="1888506"/>
            <a:ext cx="1036955" cy="201930"/>
          </a:xfrm>
          <a:prstGeom prst="rect">
            <a:avLst/>
          </a:prstGeom>
          <a:solidFill>
            <a:srgbClr val="FFCCCC"/>
          </a:solidFill>
          <a:ln w="5060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465"/>
              </a:spcBef>
            </a:pPr>
            <a:r>
              <a:rPr sz="500" dirty="0">
                <a:latin typeface="Tahoma"/>
                <a:cs typeface="Tahoma"/>
              </a:rPr>
              <a:t>Active</a:t>
            </a:r>
            <a:r>
              <a:rPr sz="500" spc="60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UAVs:</a:t>
            </a:r>
            <a:r>
              <a:rPr sz="500" spc="130" dirty="0">
                <a:latin typeface="Tahoma"/>
                <a:cs typeface="Tahoma"/>
              </a:rPr>
              <a:t> </a:t>
            </a:r>
            <a:r>
              <a:rPr sz="500" spc="-50" dirty="0">
                <a:latin typeface="Tahoma"/>
                <a:cs typeface="Tahoma"/>
              </a:rPr>
              <a:t>8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90376" y="2174467"/>
            <a:ext cx="119286" cy="1192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610823" y="2173944"/>
            <a:ext cx="4654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ahoma"/>
                <a:cs typeface="Tahoma"/>
              </a:rPr>
              <a:t>System </a:t>
            </a:r>
            <a:r>
              <a:rPr sz="500" spc="-10" dirty="0">
                <a:latin typeface="Tahoma"/>
                <a:cs typeface="Tahoma"/>
              </a:rPr>
              <a:t>Healthy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6" name="object 2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-30" dirty="0"/>
              <a:t> </a:t>
            </a:r>
            <a:r>
              <a:rPr dirty="0"/>
              <a:t>Plan:</a:t>
            </a:r>
            <a:r>
              <a:rPr spc="110" dirty="0"/>
              <a:t> </a:t>
            </a:r>
            <a:r>
              <a:rPr spc="-45" dirty="0"/>
              <a:t>Performance</a:t>
            </a:r>
            <a:r>
              <a:rPr spc="-25" dirty="0"/>
              <a:t> </a:t>
            </a:r>
            <a:r>
              <a:rPr spc="-10" dirty="0"/>
              <a:t>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692873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882662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072451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262227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452016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641805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021382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4528" y="2211171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2400960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4528" y="2590749"/>
            <a:ext cx="59601" cy="596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4528" y="2780538"/>
            <a:ext cx="59601" cy="596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1653" y="388029"/>
            <a:ext cx="1889125" cy="24930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20" dirty="0">
                <a:latin typeface="Arial"/>
                <a:cs typeface="Arial"/>
              </a:rPr>
              <a:t>Real-</a:t>
            </a:r>
            <a:r>
              <a:rPr sz="1000" b="1" dirty="0">
                <a:latin typeface="Arial"/>
                <a:cs typeface="Arial"/>
              </a:rPr>
              <a:t>time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Metrics: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24500"/>
              </a:lnSpc>
            </a:pPr>
            <a:r>
              <a:rPr sz="1000" spc="-20" dirty="0">
                <a:latin typeface="Tahoma"/>
                <a:cs typeface="Tahoma"/>
              </a:rPr>
              <a:t>Number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active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devices </a:t>
            </a:r>
            <a:r>
              <a:rPr sz="1000" spc="-50" dirty="0">
                <a:latin typeface="Tahoma"/>
                <a:cs typeface="Tahoma"/>
              </a:rPr>
              <a:t>Served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10" dirty="0">
                <a:latin typeface="Tahoma"/>
                <a:cs typeface="Tahoma"/>
              </a:rPr>
              <a:t> percentage </a:t>
            </a:r>
            <a:r>
              <a:rPr sz="1000" spc="-35" dirty="0">
                <a:latin typeface="Tahoma"/>
                <a:cs typeface="Tahoma"/>
              </a:rPr>
              <a:t>Average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completion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delay </a:t>
            </a:r>
            <a:r>
              <a:rPr sz="1000" dirty="0">
                <a:latin typeface="Tahoma"/>
                <a:cs typeface="Tahoma"/>
              </a:rPr>
              <a:t>SINR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distribution</a:t>
            </a:r>
            <a:endParaRPr sz="1000">
              <a:latin typeface="Tahoma"/>
              <a:cs typeface="Tahoma"/>
            </a:endParaRPr>
          </a:p>
          <a:p>
            <a:pPr marL="265430" marR="4114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UAV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buffer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utilization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computational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load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b="1" spc="-65" dirty="0">
                <a:latin typeface="Arial"/>
                <a:cs typeface="Arial"/>
              </a:rPr>
              <a:t>Business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Metrics:</a:t>
            </a:r>
            <a:endParaRPr sz="1000">
              <a:latin typeface="Arial"/>
              <a:cs typeface="Arial"/>
            </a:endParaRPr>
          </a:p>
          <a:p>
            <a:pPr marL="265430" marR="72390">
              <a:lnSpc>
                <a:spcPct val="124500"/>
              </a:lnSpc>
            </a:pPr>
            <a:r>
              <a:rPr sz="1000" spc="-50" dirty="0">
                <a:latin typeface="Tahoma"/>
                <a:cs typeface="Tahoma"/>
              </a:rPr>
              <a:t>Revenue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task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offloading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leasing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costs</a:t>
            </a:r>
            <a:endParaRPr sz="1000">
              <a:latin typeface="Tahoma"/>
              <a:cs typeface="Tahoma"/>
            </a:endParaRPr>
          </a:p>
          <a:p>
            <a:pPr marL="265430" marR="43815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UAV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operational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costs </a:t>
            </a:r>
            <a:r>
              <a:rPr sz="1000" spc="-10" dirty="0">
                <a:latin typeface="Tahoma"/>
                <a:cs typeface="Tahoma"/>
              </a:rPr>
              <a:t>Overall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SP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profit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Tahoma"/>
                <a:cs typeface="Tahoma"/>
              </a:rPr>
              <a:t>User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satisfaction</a:t>
            </a:r>
            <a:r>
              <a:rPr sz="1000" spc="-10" dirty="0">
                <a:latin typeface="Tahoma"/>
                <a:cs typeface="Tahoma"/>
              </a:rPr>
              <a:t> scores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39463" y="877950"/>
            <a:ext cx="1157605" cy="1445260"/>
            <a:chOff x="3539463" y="877950"/>
            <a:chExt cx="1157605" cy="1445260"/>
          </a:xfrm>
        </p:grpSpPr>
        <p:sp>
          <p:nvSpPr>
            <p:cNvPr id="16" name="object 16"/>
            <p:cNvSpPr/>
            <p:nvPr/>
          </p:nvSpPr>
          <p:spPr>
            <a:xfrm>
              <a:off x="3542003" y="880490"/>
              <a:ext cx="1152525" cy="1440180"/>
            </a:xfrm>
            <a:custGeom>
              <a:avLst/>
              <a:gdLst/>
              <a:ahLst/>
              <a:cxnLst/>
              <a:rect l="l" t="t" r="r" b="b"/>
              <a:pathLst>
                <a:path w="1152525" h="1440180">
                  <a:moveTo>
                    <a:pt x="1101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89412"/>
                  </a:lnTo>
                  <a:lnTo>
                    <a:pt x="3977" y="1409112"/>
                  </a:lnTo>
                  <a:lnTo>
                    <a:pt x="14823" y="1425199"/>
                  </a:lnTo>
                  <a:lnTo>
                    <a:pt x="30910" y="1436046"/>
                  </a:lnTo>
                  <a:lnTo>
                    <a:pt x="50610" y="1440023"/>
                  </a:lnTo>
                  <a:lnTo>
                    <a:pt x="1101407" y="1440023"/>
                  </a:lnTo>
                  <a:lnTo>
                    <a:pt x="1121107" y="1436046"/>
                  </a:lnTo>
                  <a:lnTo>
                    <a:pt x="1137195" y="1425199"/>
                  </a:lnTo>
                  <a:lnTo>
                    <a:pt x="1148041" y="1409112"/>
                  </a:lnTo>
                  <a:lnTo>
                    <a:pt x="1152018" y="1389412"/>
                  </a:lnTo>
                  <a:lnTo>
                    <a:pt x="1152018" y="50610"/>
                  </a:lnTo>
                  <a:lnTo>
                    <a:pt x="1148041" y="30910"/>
                  </a:lnTo>
                  <a:lnTo>
                    <a:pt x="1137195" y="14823"/>
                  </a:lnTo>
                  <a:lnTo>
                    <a:pt x="1121107" y="3977"/>
                  </a:lnTo>
                  <a:lnTo>
                    <a:pt x="1101407" y="0"/>
                  </a:lnTo>
                  <a:close/>
                </a:path>
              </a:pathLst>
            </a:custGeom>
            <a:solidFill>
              <a:srgbClr val="E5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2003" y="880490"/>
              <a:ext cx="1152525" cy="1440180"/>
            </a:xfrm>
            <a:custGeom>
              <a:avLst/>
              <a:gdLst/>
              <a:ahLst/>
              <a:cxnLst/>
              <a:rect l="l" t="t" r="r" b="b"/>
              <a:pathLst>
                <a:path w="1152525" h="1440180">
                  <a:moveTo>
                    <a:pt x="0" y="1389412"/>
                  </a:moveTo>
                  <a:lnTo>
                    <a:pt x="0" y="50610"/>
                  </a:lnTo>
                  <a:lnTo>
                    <a:pt x="3977" y="30910"/>
                  </a:lnTo>
                  <a:lnTo>
                    <a:pt x="14823" y="14823"/>
                  </a:lnTo>
                  <a:lnTo>
                    <a:pt x="30910" y="3977"/>
                  </a:lnTo>
                  <a:lnTo>
                    <a:pt x="50610" y="0"/>
                  </a:lnTo>
                  <a:lnTo>
                    <a:pt x="1101407" y="0"/>
                  </a:lnTo>
                  <a:lnTo>
                    <a:pt x="1121107" y="3977"/>
                  </a:lnTo>
                  <a:lnTo>
                    <a:pt x="1137195" y="14823"/>
                  </a:lnTo>
                  <a:lnTo>
                    <a:pt x="1148041" y="30910"/>
                  </a:lnTo>
                  <a:lnTo>
                    <a:pt x="1152018" y="50610"/>
                  </a:lnTo>
                  <a:lnTo>
                    <a:pt x="1152018" y="1389412"/>
                  </a:lnTo>
                  <a:lnTo>
                    <a:pt x="1148041" y="1409112"/>
                  </a:lnTo>
                  <a:lnTo>
                    <a:pt x="1137195" y="1425199"/>
                  </a:lnTo>
                  <a:lnTo>
                    <a:pt x="1121107" y="1436046"/>
                  </a:lnTo>
                  <a:lnTo>
                    <a:pt x="1101407" y="1440023"/>
                  </a:lnTo>
                  <a:lnTo>
                    <a:pt x="50610" y="1440023"/>
                  </a:lnTo>
                  <a:lnTo>
                    <a:pt x="30910" y="1436046"/>
                  </a:lnTo>
                  <a:lnTo>
                    <a:pt x="14823" y="1425199"/>
                  </a:lnTo>
                  <a:lnTo>
                    <a:pt x="3977" y="1409112"/>
                  </a:lnTo>
                  <a:lnTo>
                    <a:pt x="0" y="138941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21989" y="629483"/>
            <a:ext cx="11918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latin typeface="Arial"/>
                <a:cs typeface="Arial"/>
              </a:rPr>
              <a:t>Monitoring </a:t>
            </a:r>
            <a:r>
              <a:rPr sz="900" b="1" spc="-35" dirty="0">
                <a:latin typeface="Arial"/>
                <a:cs typeface="Arial"/>
              </a:rPr>
              <a:t>Dashboard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9604" y="1024492"/>
            <a:ext cx="1036955" cy="201930"/>
          </a:xfrm>
          <a:prstGeom prst="rect">
            <a:avLst/>
          </a:prstGeom>
          <a:solidFill>
            <a:srgbClr val="CCEADB"/>
          </a:solidFill>
          <a:ln w="5060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465"/>
              </a:spcBef>
            </a:pPr>
            <a:r>
              <a:rPr sz="500" dirty="0">
                <a:latin typeface="Tahoma"/>
                <a:cs typeface="Tahoma"/>
              </a:rPr>
              <a:t>Served</a:t>
            </a:r>
            <a:r>
              <a:rPr sz="500" spc="-1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IoTs:</a:t>
            </a:r>
            <a:r>
              <a:rPr sz="500" spc="35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93.4%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9604" y="1312497"/>
            <a:ext cx="1036955" cy="201930"/>
          </a:xfrm>
          <a:prstGeom prst="rect">
            <a:avLst/>
          </a:prstGeom>
          <a:solidFill>
            <a:srgbClr val="D6EAFF"/>
          </a:solidFill>
          <a:ln w="506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415"/>
              </a:spcBef>
            </a:pPr>
            <a:r>
              <a:rPr sz="500" dirty="0">
                <a:latin typeface="Tahoma"/>
                <a:cs typeface="Tahoma"/>
              </a:rPr>
              <a:t>Avg</a:t>
            </a:r>
            <a:r>
              <a:rPr sz="500" spc="1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Delay:</a:t>
            </a:r>
            <a:r>
              <a:rPr sz="500" spc="80" dirty="0">
                <a:latin typeface="Tahoma"/>
                <a:cs typeface="Tahoma"/>
              </a:rPr>
              <a:t> </a:t>
            </a:r>
            <a:r>
              <a:rPr sz="500" spc="-20" dirty="0">
                <a:latin typeface="Tahoma"/>
                <a:cs typeface="Tahoma"/>
              </a:rPr>
              <a:t>2.3s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604" y="1600501"/>
            <a:ext cx="1036955" cy="201930"/>
          </a:xfrm>
          <a:prstGeom prst="rect">
            <a:avLst/>
          </a:prstGeom>
          <a:solidFill>
            <a:srgbClr val="FFE0CC"/>
          </a:solidFill>
          <a:ln w="5060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480"/>
              </a:spcBef>
            </a:pPr>
            <a:r>
              <a:rPr sz="500" dirty="0">
                <a:latin typeface="Tahoma"/>
                <a:cs typeface="Tahoma"/>
              </a:rPr>
              <a:t>SP</a:t>
            </a:r>
            <a:r>
              <a:rPr sz="500" spc="7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Profit:</a:t>
            </a:r>
            <a:r>
              <a:rPr sz="500" spc="155" dirty="0">
                <a:latin typeface="Tahoma"/>
                <a:cs typeface="Tahoma"/>
              </a:rPr>
              <a:t> </a:t>
            </a:r>
            <a:r>
              <a:rPr sz="500" spc="-10" dirty="0">
                <a:latin typeface="Lucida Sans Unicode"/>
                <a:cs typeface="Lucida Sans Unicode"/>
              </a:rPr>
              <a:t>$</a:t>
            </a:r>
            <a:r>
              <a:rPr sz="500" spc="-10" dirty="0">
                <a:latin typeface="Tahoma"/>
                <a:cs typeface="Tahoma"/>
              </a:rPr>
              <a:t>125k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99604" y="1888506"/>
            <a:ext cx="1036955" cy="201930"/>
          </a:xfrm>
          <a:prstGeom prst="rect">
            <a:avLst/>
          </a:prstGeom>
          <a:solidFill>
            <a:srgbClr val="FFCCCC"/>
          </a:solidFill>
          <a:ln w="5060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465"/>
              </a:spcBef>
            </a:pPr>
            <a:r>
              <a:rPr sz="500" dirty="0">
                <a:latin typeface="Tahoma"/>
                <a:cs typeface="Tahoma"/>
              </a:rPr>
              <a:t>Active</a:t>
            </a:r>
            <a:r>
              <a:rPr sz="500" spc="60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UAVs:</a:t>
            </a:r>
            <a:r>
              <a:rPr sz="500" spc="130" dirty="0">
                <a:latin typeface="Tahoma"/>
                <a:cs typeface="Tahoma"/>
              </a:rPr>
              <a:t> </a:t>
            </a:r>
            <a:r>
              <a:rPr sz="500" spc="-50" dirty="0">
                <a:latin typeface="Tahoma"/>
                <a:cs typeface="Tahoma"/>
              </a:rPr>
              <a:t>8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90376" y="2174467"/>
            <a:ext cx="119286" cy="1192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610823" y="2173944"/>
            <a:ext cx="4654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ahoma"/>
                <a:cs typeface="Tahoma"/>
              </a:rPr>
              <a:t>System </a:t>
            </a:r>
            <a:r>
              <a:rPr sz="500" spc="-10" dirty="0">
                <a:latin typeface="Tahoma"/>
                <a:cs typeface="Tahoma"/>
              </a:rPr>
              <a:t>Healthy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052356" y="2703740"/>
            <a:ext cx="59601" cy="5960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52356" y="2893529"/>
            <a:ext cx="59601" cy="5960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052356" y="3083305"/>
            <a:ext cx="59601" cy="5960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909481" y="2398896"/>
            <a:ext cx="2697480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20" dirty="0">
                <a:latin typeface="Arial"/>
                <a:cs typeface="Arial"/>
              </a:rPr>
              <a:t>Adaptive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Actions: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24500"/>
              </a:lnSpc>
            </a:pPr>
            <a:r>
              <a:rPr sz="1000" spc="-25" dirty="0">
                <a:latin typeface="Tahoma"/>
                <a:cs typeface="Tahoma"/>
              </a:rPr>
              <a:t>Trigger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re-</a:t>
            </a:r>
            <a:r>
              <a:rPr sz="1000" spc="-20" dirty="0">
                <a:latin typeface="Tahoma"/>
                <a:cs typeface="Tahoma"/>
              </a:rPr>
              <a:t>optimization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significant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changes </a:t>
            </a:r>
            <a:r>
              <a:rPr sz="1000" dirty="0">
                <a:latin typeface="Tahoma"/>
                <a:cs typeface="Tahoma"/>
              </a:rPr>
              <a:t>Alert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25" dirty="0">
                <a:latin typeface="Tahoma"/>
                <a:cs typeface="Tahoma"/>
              </a:rPr>
              <a:t> constraint </a:t>
            </a:r>
            <a:r>
              <a:rPr sz="1000" spc="-10" dirty="0">
                <a:latin typeface="Tahoma"/>
                <a:cs typeface="Tahoma"/>
              </a:rPr>
              <a:t>violations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Automatic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repositioning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19973" y="3148621"/>
            <a:ext cx="3840479" cy="91440"/>
            <a:chOff x="1919973" y="3148621"/>
            <a:chExt cx="3840479" cy="91440"/>
          </a:xfrm>
        </p:grpSpPr>
        <p:sp>
          <p:nvSpPr>
            <p:cNvPr id="32" name="object 32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Simulation</a:t>
            </a:r>
            <a:r>
              <a:rPr spc="-65" dirty="0"/>
              <a:t> </a:t>
            </a:r>
            <a:r>
              <a:rPr spc="-10" dirty="0"/>
              <a:t>Setup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5" dirty="0"/>
              <a:t> </a:t>
            </a:r>
            <a:r>
              <a:rPr spc="-45" dirty="0"/>
              <a:t>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861072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5086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240650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430439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620227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999805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189594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4528" y="2379383"/>
            <a:ext cx="59601" cy="59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4528" y="2569171"/>
            <a:ext cx="59601" cy="596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4528" y="2758960"/>
            <a:ext cx="59601" cy="596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253" y="556241"/>
            <a:ext cx="2356485" cy="23031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30" dirty="0">
                <a:latin typeface="Arial"/>
                <a:cs typeface="Arial"/>
              </a:rPr>
              <a:t>Environment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Setup:</a:t>
            </a:r>
            <a:endParaRPr sz="1000">
              <a:latin typeface="Arial"/>
              <a:cs typeface="Arial"/>
            </a:endParaRPr>
          </a:p>
          <a:p>
            <a:pPr marL="290830" marR="275590">
              <a:lnSpc>
                <a:spcPct val="124500"/>
              </a:lnSpc>
            </a:pPr>
            <a:r>
              <a:rPr sz="1000" spc="-10" dirty="0">
                <a:latin typeface="Tahoma"/>
                <a:cs typeface="Tahoma"/>
              </a:rPr>
              <a:t>Area: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km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×</a:t>
            </a:r>
            <a:r>
              <a:rPr sz="1000" spc="-4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km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urban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region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distribution: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Uniform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random</a:t>
            </a:r>
            <a:endParaRPr sz="1000">
              <a:latin typeface="Tahoma"/>
              <a:cs typeface="Tahoma"/>
            </a:endParaRPr>
          </a:p>
          <a:p>
            <a:pPr marL="290830" marR="304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positions: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Fixed </a:t>
            </a:r>
            <a:r>
              <a:rPr sz="1000" spc="-25" dirty="0">
                <a:latin typeface="Tahoma"/>
                <a:cs typeface="Tahoma"/>
              </a:rPr>
              <a:t>strategic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locations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altitude: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100-</a:t>
            </a:r>
            <a:r>
              <a:rPr sz="1000" spc="-20" dirty="0">
                <a:latin typeface="Tahoma"/>
                <a:cs typeface="Tahoma"/>
              </a:rPr>
              <a:t>150m </a:t>
            </a:r>
            <a:r>
              <a:rPr sz="1000" spc="-25" dirty="0">
                <a:latin typeface="Tahoma"/>
                <a:cs typeface="Tahoma"/>
              </a:rPr>
              <a:t>Communication: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2.4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GHz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System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Parameters: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IoT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devices: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55" dirty="0">
                <a:latin typeface="Tahoma"/>
                <a:cs typeface="Tahoma"/>
              </a:rPr>
              <a:t>[50</a:t>
            </a:r>
            <a:r>
              <a:rPr sz="1000" i="1" spc="-5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spc="-20" dirty="0">
                <a:latin typeface="Tahoma"/>
                <a:cs typeface="Tahoma"/>
              </a:rPr>
              <a:t>300]</a:t>
            </a:r>
            <a:endParaRPr sz="1000">
              <a:latin typeface="Tahoma"/>
              <a:cs typeface="Tahoma"/>
            </a:endParaRPr>
          </a:p>
          <a:p>
            <a:pPr marL="290830" marR="514350">
              <a:lnSpc>
                <a:spcPct val="124500"/>
              </a:lnSpc>
            </a:pPr>
            <a:r>
              <a:rPr sz="1000" spc="-25" dirty="0">
                <a:latin typeface="Tahoma"/>
                <a:cs typeface="Tahoma"/>
              </a:rPr>
              <a:t>Edge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Servers: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Tahoma"/>
                <a:cs typeface="Tahoma"/>
              </a:rPr>
              <a:t>[4</a:t>
            </a:r>
            <a:r>
              <a:rPr sz="1000" i="1" spc="-50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spc="-25" dirty="0">
                <a:latin typeface="Tahoma"/>
                <a:cs typeface="Tahoma"/>
              </a:rPr>
              <a:t>12]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capacity: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i="1" baseline="-11904" dirty="0">
                <a:latin typeface="Arial"/>
                <a:cs typeface="Arial"/>
              </a:rPr>
              <a:t>U</a:t>
            </a:r>
            <a:r>
              <a:rPr sz="1050" i="1" spc="254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IoTs </a:t>
            </a:r>
            <a:r>
              <a:rPr sz="1000" dirty="0">
                <a:latin typeface="Tahoma"/>
                <a:cs typeface="Tahoma"/>
              </a:rPr>
              <a:t>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capacity: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i="1" baseline="-11904" dirty="0">
                <a:latin typeface="Arial"/>
                <a:cs typeface="Arial"/>
              </a:rPr>
              <a:t>S</a:t>
            </a:r>
            <a:r>
              <a:rPr sz="1050" i="1" spc="23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40</a:t>
            </a:r>
            <a:r>
              <a:rPr sz="1000" spc="-10" dirty="0">
                <a:latin typeface="Tahoma"/>
                <a:cs typeface="Tahoma"/>
              </a:rPr>
              <a:t> tasks </a:t>
            </a:r>
            <a:r>
              <a:rPr sz="1000" spc="-30" dirty="0">
                <a:latin typeface="Tahoma"/>
                <a:cs typeface="Tahoma"/>
              </a:rPr>
              <a:t>Service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threshold: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i="1" spc="80" dirty="0">
                <a:latin typeface="Calibri"/>
                <a:cs typeface="Calibri"/>
              </a:rPr>
              <a:t>ζ</a:t>
            </a:r>
            <a:r>
              <a:rPr sz="1000" i="1" spc="95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90%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52356" y="861072"/>
            <a:ext cx="59601" cy="5960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52356" y="1050861"/>
            <a:ext cx="59601" cy="596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052356" y="1240650"/>
            <a:ext cx="59601" cy="5960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52356" y="1620227"/>
            <a:ext cx="59601" cy="596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052356" y="1810016"/>
            <a:ext cx="59601" cy="5960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52356" y="1999805"/>
            <a:ext cx="59601" cy="596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884081" y="556241"/>
            <a:ext cx="2459990" cy="17335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Task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Characteristics:</a:t>
            </a:r>
            <a:endParaRPr sz="10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Data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size: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179" baseline="-11904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40" dirty="0">
                <a:latin typeface="Tahoma"/>
                <a:cs typeface="Tahoma"/>
              </a:rPr>
              <a:t>[0</a:t>
            </a:r>
            <a:r>
              <a:rPr sz="1000" i="1" spc="-40" dirty="0">
                <a:latin typeface="Calibri"/>
                <a:cs typeface="Calibri"/>
              </a:rPr>
              <a:t>.</a:t>
            </a:r>
            <a:r>
              <a:rPr sz="1000" spc="-40" dirty="0">
                <a:latin typeface="Tahoma"/>
                <a:cs typeface="Tahoma"/>
              </a:rPr>
              <a:t>5</a:t>
            </a:r>
            <a:r>
              <a:rPr sz="1000" i="1" spc="-40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spc="-65" dirty="0">
                <a:latin typeface="Tahoma"/>
                <a:cs typeface="Tahoma"/>
              </a:rPr>
              <a:t>5]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MB</a:t>
            </a:r>
            <a:endParaRPr sz="1000">
              <a:latin typeface="Tahoma"/>
              <a:cs typeface="Tahoma"/>
            </a:endParaRPr>
          </a:p>
          <a:p>
            <a:pPr marL="290830" marR="304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CPU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cycles:</a:t>
            </a:r>
            <a:r>
              <a:rPr sz="1000" spc="1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217" baseline="-11904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55" dirty="0">
                <a:latin typeface="Tahoma"/>
                <a:cs typeface="Tahoma"/>
              </a:rPr>
              <a:t>[500</a:t>
            </a:r>
            <a:r>
              <a:rPr sz="1000" i="1" spc="-5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spc="-60" dirty="0">
                <a:latin typeface="Tahoma"/>
                <a:cs typeface="Tahoma"/>
              </a:rPr>
              <a:t>1500]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cycles/bit </a:t>
            </a:r>
            <a:r>
              <a:rPr sz="1000" dirty="0">
                <a:latin typeface="Tahoma"/>
                <a:cs typeface="Tahoma"/>
              </a:rPr>
              <a:t>Max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delay:</a:t>
            </a:r>
            <a:r>
              <a:rPr sz="1000" spc="114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τ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209" baseline="-11904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Tahoma"/>
                <a:cs typeface="Tahoma"/>
              </a:rPr>
              <a:t>[1</a:t>
            </a:r>
            <a:r>
              <a:rPr sz="1000" i="1" spc="-50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spc="-65" dirty="0">
                <a:latin typeface="Tahoma"/>
                <a:cs typeface="Tahoma"/>
              </a:rPr>
              <a:t>10]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seconds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25" dirty="0">
                <a:latin typeface="Arial"/>
                <a:cs typeface="Arial"/>
              </a:rPr>
              <a:t>Pricing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Model:</a:t>
            </a:r>
            <a:endParaRPr sz="1000">
              <a:latin typeface="Arial"/>
              <a:cs typeface="Arial"/>
            </a:endParaRPr>
          </a:p>
          <a:p>
            <a:pPr marL="290830" marR="399415">
              <a:lnSpc>
                <a:spcPct val="124500"/>
              </a:lnSpc>
            </a:pPr>
            <a:r>
              <a:rPr sz="1000" spc="-50" dirty="0">
                <a:latin typeface="Tahoma"/>
                <a:cs typeface="Tahoma"/>
              </a:rPr>
              <a:t>Revenue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param: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SimSun-ExtB"/>
                <a:cs typeface="SimSun-ExtB"/>
              </a:rPr>
              <a:t>$</a:t>
            </a:r>
            <a:r>
              <a:rPr sz="1000" spc="-10" dirty="0">
                <a:latin typeface="Tahoma"/>
                <a:cs typeface="Tahoma"/>
              </a:rPr>
              <a:t>/Mbps </a:t>
            </a:r>
            <a:r>
              <a:rPr sz="1000" dirty="0">
                <a:latin typeface="Tahoma"/>
                <a:cs typeface="Tahoma"/>
              </a:rPr>
              <a:t>Cost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param: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0</a:t>
            </a:r>
            <a:r>
              <a:rPr sz="1000" i="1" spc="-20" dirty="0">
                <a:latin typeface="Calibri"/>
                <a:cs typeface="Calibri"/>
              </a:rPr>
              <a:t>.</a:t>
            </a:r>
            <a:r>
              <a:rPr sz="1000" spc="-20" dirty="0">
                <a:latin typeface="Tahoma"/>
                <a:cs typeface="Tahoma"/>
              </a:rPr>
              <a:t>01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SimSun-ExtB"/>
                <a:cs typeface="SimSun-ExtB"/>
              </a:rPr>
              <a:t>$</a:t>
            </a:r>
            <a:r>
              <a:rPr sz="1000" spc="-10" dirty="0">
                <a:latin typeface="Tahoma"/>
                <a:cs typeface="Tahoma"/>
              </a:rPr>
              <a:t>/Mbps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cost: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UAV</a:t>
            </a:r>
            <a:r>
              <a:rPr sz="1050" i="1" spc="29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100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SimSun-ExtB"/>
                <a:cs typeface="SimSun-ExtB"/>
              </a:rPr>
              <a:t>$</a:t>
            </a:r>
            <a:r>
              <a:rPr sz="1000" spc="-20" dirty="0">
                <a:latin typeface="Tahoma"/>
                <a:cs typeface="Tahoma"/>
              </a:rPr>
              <a:t>/UAV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35" dirty="0">
                <a:latin typeface="Arial"/>
                <a:cs typeface="Arial"/>
              </a:rPr>
              <a:t>Benchmark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Schemes: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3575" y="2352817"/>
            <a:ext cx="104301" cy="1043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26232" y="234343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2528" y="2264327"/>
            <a:ext cx="220916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Fixed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Offloading</a:t>
            </a:r>
            <a:r>
              <a:rPr sz="1000" spc="-25" dirty="0">
                <a:latin typeface="Tahoma"/>
                <a:cs typeface="Tahoma"/>
              </a:rPr>
              <a:t>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Predefined </a:t>
            </a:r>
            <a:r>
              <a:rPr sz="1000" spc="-35" dirty="0">
                <a:latin typeface="Tahoma"/>
                <a:cs typeface="Tahoma"/>
              </a:rPr>
              <a:t>associations </a:t>
            </a:r>
            <a:r>
              <a:rPr sz="1000" spc="-30" dirty="0">
                <a:solidFill>
                  <a:srgbClr val="FF6600"/>
                </a:solidFill>
                <a:latin typeface="Tahoma"/>
                <a:cs typeface="Tahoma"/>
              </a:rPr>
              <a:t>Random </a:t>
            </a:r>
            <a:r>
              <a:rPr sz="1000" spc="-25" dirty="0">
                <a:solidFill>
                  <a:srgbClr val="FF6600"/>
                </a:solidFill>
                <a:latin typeface="Tahoma"/>
                <a:cs typeface="Tahoma"/>
              </a:rPr>
              <a:t>Offloading</a:t>
            </a:r>
            <a:r>
              <a:rPr sz="1000" spc="-25" dirty="0">
                <a:latin typeface="Tahoma"/>
                <a:cs typeface="Tahoma"/>
              </a:rPr>
              <a:t>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Random </a:t>
            </a:r>
            <a:r>
              <a:rPr sz="1000" spc="-10" dirty="0">
                <a:latin typeface="Tahoma"/>
                <a:cs typeface="Tahoma"/>
              </a:rPr>
              <a:t>pairing </a:t>
            </a:r>
            <a:r>
              <a:rPr sz="1000" spc="-25" dirty="0">
                <a:solidFill>
                  <a:srgbClr val="00994C"/>
                </a:solidFill>
                <a:latin typeface="Tahoma"/>
                <a:cs typeface="Tahoma"/>
              </a:rPr>
              <a:t>Proposed</a:t>
            </a:r>
            <a:r>
              <a:rPr sz="1000" spc="10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00994C"/>
                </a:solidFill>
                <a:latin typeface="Tahoma"/>
                <a:cs typeface="Tahoma"/>
              </a:rPr>
              <a:t>R-TMSC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Our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scheme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003575" y="2542606"/>
            <a:ext cx="104301" cy="10430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026232" y="2533227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03575" y="2732395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26232" y="272301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9" name="object 29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21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19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Results:</a:t>
            </a:r>
            <a:r>
              <a:rPr spc="65" dirty="0"/>
              <a:t> </a:t>
            </a:r>
            <a:r>
              <a:rPr spc="-45" dirty="0"/>
              <a:t>Performance</a:t>
            </a:r>
            <a:r>
              <a:rPr spc="-60" dirty="0"/>
              <a:t> </a:t>
            </a:r>
            <a:r>
              <a:rPr spc="-40" dirty="0"/>
              <a:t>Comparison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61833" y="622000"/>
            <a:ext cx="2580640" cy="1356995"/>
            <a:chOff x="1761833" y="622000"/>
            <a:chExt cx="2580640" cy="1356995"/>
          </a:xfrm>
        </p:grpSpPr>
        <p:sp>
          <p:nvSpPr>
            <p:cNvPr id="4" name="object 4"/>
            <p:cNvSpPr/>
            <p:nvPr/>
          </p:nvSpPr>
          <p:spPr>
            <a:xfrm>
              <a:off x="1764056" y="624223"/>
              <a:ext cx="0" cy="1352550"/>
            </a:xfrm>
            <a:custGeom>
              <a:avLst/>
              <a:gdLst/>
              <a:ahLst/>
              <a:cxnLst/>
              <a:rect l="l" t="t" r="r" b="b"/>
              <a:pathLst>
                <a:path h="1352550">
                  <a:moveTo>
                    <a:pt x="0" y="1352006"/>
                  </a:moveTo>
                  <a:lnTo>
                    <a:pt x="0" y="0"/>
                  </a:lnTo>
                </a:path>
              </a:pathLst>
            </a:custGeom>
            <a:ln w="4301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79264" y="624223"/>
              <a:ext cx="0" cy="1352550"/>
            </a:xfrm>
            <a:custGeom>
              <a:avLst/>
              <a:gdLst/>
              <a:ahLst/>
              <a:cxnLst/>
              <a:rect l="l" t="t" r="r" b="b"/>
              <a:pathLst>
                <a:path h="1352550">
                  <a:moveTo>
                    <a:pt x="0" y="0"/>
                  </a:moveTo>
                  <a:lnTo>
                    <a:pt x="0" y="973809"/>
                  </a:lnTo>
                </a:path>
                <a:path h="1352550">
                  <a:moveTo>
                    <a:pt x="0" y="1309297"/>
                  </a:moveTo>
                  <a:lnTo>
                    <a:pt x="0" y="1352006"/>
                  </a:lnTo>
                </a:path>
              </a:pathLst>
            </a:custGeom>
            <a:ln w="4301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94473" y="624223"/>
              <a:ext cx="1546225" cy="1352550"/>
            </a:xfrm>
            <a:custGeom>
              <a:avLst/>
              <a:gdLst/>
              <a:ahLst/>
              <a:cxnLst/>
              <a:rect l="l" t="t" r="r" b="b"/>
              <a:pathLst>
                <a:path w="1546225" h="1352550">
                  <a:moveTo>
                    <a:pt x="0" y="1352006"/>
                  </a:moveTo>
                  <a:lnTo>
                    <a:pt x="0" y="0"/>
                  </a:lnTo>
                </a:path>
                <a:path w="1546225" h="1352550">
                  <a:moveTo>
                    <a:pt x="515208" y="1352006"/>
                  </a:moveTo>
                  <a:lnTo>
                    <a:pt x="515208" y="0"/>
                  </a:lnTo>
                </a:path>
                <a:path w="1546225" h="1352550">
                  <a:moveTo>
                    <a:pt x="1030417" y="1352006"/>
                  </a:moveTo>
                  <a:lnTo>
                    <a:pt x="1030417" y="0"/>
                  </a:lnTo>
                </a:path>
                <a:path w="1546225" h="1352550">
                  <a:moveTo>
                    <a:pt x="1545626" y="1352006"/>
                  </a:moveTo>
                  <a:lnTo>
                    <a:pt x="1545626" y="0"/>
                  </a:lnTo>
                </a:path>
              </a:pathLst>
            </a:custGeom>
            <a:ln w="4301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64056" y="1783086"/>
              <a:ext cx="2576195" cy="0"/>
            </a:xfrm>
            <a:custGeom>
              <a:avLst/>
              <a:gdLst/>
              <a:ahLst/>
              <a:cxnLst/>
              <a:rect l="l" t="t" r="r" b="b"/>
              <a:pathLst>
                <a:path w="2576195">
                  <a:moveTo>
                    <a:pt x="0" y="0"/>
                  </a:moveTo>
                  <a:lnTo>
                    <a:pt x="79428" y="0"/>
                  </a:lnTo>
                </a:path>
                <a:path w="2576195">
                  <a:moveTo>
                    <a:pt x="876843" y="0"/>
                  </a:moveTo>
                  <a:lnTo>
                    <a:pt x="2576043" y="0"/>
                  </a:lnTo>
                </a:path>
              </a:pathLst>
            </a:custGeom>
            <a:ln w="4301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4056" y="624223"/>
              <a:ext cx="2576195" cy="772795"/>
            </a:xfrm>
            <a:custGeom>
              <a:avLst/>
              <a:gdLst/>
              <a:ahLst/>
              <a:cxnLst/>
              <a:rect l="l" t="t" r="r" b="b"/>
              <a:pathLst>
                <a:path w="2576195" h="772794">
                  <a:moveTo>
                    <a:pt x="0" y="772575"/>
                  </a:moveTo>
                  <a:lnTo>
                    <a:pt x="2576043" y="772575"/>
                  </a:lnTo>
                </a:path>
                <a:path w="2576195" h="772794">
                  <a:moveTo>
                    <a:pt x="0" y="386287"/>
                  </a:moveTo>
                  <a:lnTo>
                    <a:pt x="2576043" y="386287"/>
                  </a:lnTo>
                </a:path>
                <a:path w="2576195" h="772794">
                  <a:moveTo>
                    <a:pt x="0" y="0"/>
                  </a:moveTo>
                  <a:lnTo>
                    <a:pt x="2576043" y="0"/>
                  </a:lnTo>
                </a:path>
              </a:pathLst>
            </a:custGeom>
            <a:ln w="4301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4056" y="1930329"/>
              <a:ext cx="0" cy="46355"/>
            </a:xfrm>
            <a:custGeom>
              <a:avLst/>
              <a:gdLst/>
              <a:ahLst/>
              <a:cxnLst/>
              <a:rect l="l" t="t" r="r" b="b"/>
              <a:pathLst>
                <a:path h="46355">
                  <a:moveTo>
                    <a:pt x="0" y="459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79264" y="1933520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0"/>
                  </a:moveTo>
                  <a:lnTo>
                    <a:pt x="0" y="4270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4056" y="624223"/>
              <a:ext cx="2576195" cy="1352550"/>
            </a:xfrm>
            <a:custGeom>
              <a:avLst/>
              <a:gdLst/>
              <a:ahLst/>
              <a:cxnLst/>
              <a:rect l="l" t="t" r="r" b="b"/>
              <a:pathLst>
                <a:path w="2576195" h="1352550">
                  <a:moveTo>
                    <a:pt x="1030417" y="1352006"/>
                  </a:moveTo>
                  <a:lnTo>
                    <a:pt x="1030417" y="1306105"/>
                  </a:lnTo>
                </a:path>
                <a:path w="2576195" h="1352550">
                  <a:moveTo>
                    <a:pt x="1545626" y="1352006"/>
                  </a:moveTo>
                  <a:lnTo>
                    <a:pt x="1545626" y="1306105"/>
                  </a:lnTo>
                </a:path>
                <a:path w="2576195" h="1352550">
                  <a:moveTo>
                    <a:pt x="2060834" y="1352006"/>
                  </a:moveTo>
                  <a:lnTo>
                    <a:pt x="2060834" y="1306105"/>
                  </a:lnTo>
                </a:path>
                <a:path w="2576195" h="1352550">
                  <a:moveTo>
                    <a:pt x="2576043" y="1352006"/>
                  </a:moveTo>
                  <a:lnTo>
                    <a:pt x="2576043" y="1306105"/>
                  </a:lnTo>
                </a:path>
                <a:path w="2576195" h="1352550">
                  <a:moveTo>
                    <a:pt x="0" y="0"/>
                  </a:moveTo>
                  <a:lnTo>
                    <a:pt x="0" y="45901"/>
                  </a:lnTo>
                </a:path>
                <a:path w="2576195" h="1352550">
                  <a:moveTo>
                    <a:pt x="515208" y="0"/>
                  </a:moveTo>
                  <a:lnTo>
                    <a:pt x="515208" y="45901"/>
                  </a:lnTo>
                </a:path>
                <a:path w="2576195" h="1352550">
                  <a:moveTo>
                    <a:pt x="1030417" y="0"/>
                  </a:moveTo>
                  <a:lnTo>
                    <a:pt x="1030417" y="45901"/>
                  </a:lnTo>
                </a:path>
                <a:path w="2576195" h="1352550">
                  <a:moveTo>
                    <a:pt x="1545626" y="0"/>
                  </a:moveTo>
                  <a:lnTo>
                    <a:pt x="1545626" y="45901"/>
                  </a:lnTo>
                </a:path>
                <a:path w="2576195" h="1352550">
                  <a:moveTo>
                    <a:pt x="2060834" y="0"/>
                  </a:moveTo>
                  <a:lnTo>
                    <a:pt x="2060834" y="45901"/>
                  </a:lnTo>
                </a:path>
                <a:path w="2576195" h="1352550">
                  <a:moveTo>
                    <a:pt x="2576043" y="0"/>
                  </a:moveTo>
                  <a:lnTo>
                    <a:pt x="2576043" y="45901"/>
                  </a:lnTo>
                </a:path>
                <a:path w="2576195" h="1352550">
                  <a:moveTo>
                    <a:pt x="0" y="1158862"/>
                  </a:moveTo>
                  <a:lnTo>
                    <a:pt x="45896" y="1158862"/>
                  </a:lnTo>
                </a:path>
                <a:path w="2576195" h="1352550">
                  <a:moveTo>
                    <a:pt x="0" y="772575"/>
                  </a:moveTo>
                  <a:lnTo>
                    <a:pt x="45896" y="772575"/>
                  </a:lnTo>
                </a:path>
                <a:path w="2576195" h="1352550">
                  <a:moveTo>
                    <a:pt x="0" y="386287"/>
                  </a:moveTo>
                  <a:lnTo>
                    <a:pt x="45896" y="386287"/>
                  </a:lnTo>
                </a:path>
                <a:path w="2576195" h="1352550">
                  <a:moveTo>
                    <a:pt x="0" y="0"/>
                  </a:moveTo>
                  <a:lnTo>
                    <a:pt x="45896" y="0"/>
                  </a:lnTo>
                </a:path>
                <a:path w="2576195" h="1352550">
                  <a:moveTo>
                    <a:pt x="2576043" y="1158862"/>
                  </a:moveTo>
                  <a:lnTo>
                    <a:pt x="2530146" y="1158862"/>
                  </a:lnTo>
                </a:path>
                <a:path w="2576195" h="1352550">
                  <a:moveTo>
                    <a:pt x="2576043" y="772575"/>
                  </a:moveTo>
                  <a:lnTo>
                    <a:pt x="2530146" y="772575"/>
                  </a:lnTo>
                </a:path>
                <a:path w="2576195" h="1352550">
                  <a:moveTo>
                    <a:pt x="2576043" y="386287"/>
                  </a:moveTo>
                  <a:lnTo>
                    <a:pt x="2530146" y="386287"/>
                  </a:lnTo>
                </a:path>
                <a:path w="2576195" h="1352550">
                  <a:moveTo>
                    <a:pt x="2576043" y="0"/>
                  </a:moveTo>
                  <a:lnTo>
                    <a:pt x="2530146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4056" y="624223"/>
              <a:ext cx="2576195" cy="1352550"/>
            </a:xfrm>
            <a:custGeom>
              <a:avLst/>
              <a:gdLst/>
              <a:ahLst/>
              <a:cxnLst/>
              <a:rect l="l" t="t" r="r" b="b"/>
              <a:pathLst>
                <a:path w="2576195" h="1352550">
                  <a:moveTo>
                    <a:pt x="0" y="1352006"/>
                  </a:moveTo>
                  <a:lnTo>
                    <a:pt x="0" y="0"/>
                  </a:lnTo>
                  <a:lnTo>
                    <a:pt x="2576043" y="0"/>
                  </a:lnTo>
                  <a:lnTo>
                    <a:pt x="2576043" y="1352006"/>
                  </a:lnTo>
                  <a:lnTo>
                    <a:pt x="0" y="1352006"/>
                  </a:lnTo>
                  <a:close/>
                </a:path>
              </a:pathLst>
            </a:custGeom>
            <a:ln w="4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97586" y="1964483"/>
            <a:ext cx="13335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25" dirty="0">
                <a:latin typeface="Tahoma"/>
                <a:cs typeface="Tahoma"/>
              </a:rPr>
              <a:t>50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5897" y="1964483"/>
            <a:ext cx="18732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30" dirty="0">
                <a:latin typeface="Tahoma"/>
                <a:cs typeface="Tahoma"/>
              </a:rPr>
              <a:t>100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1504" y="1964483"/>
            <a:ext cx="18732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30" dirty="0">
                <a:latin typeface="Tahoma"/>
                <a:cs typeface="Tahoma"/>
              </a:rPr>
              <a:t>250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6706" y="1964483"/>
            <a:ext cx="18732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30" dirty="0">
                <a:latin typeface="Tahoma"/>
                <a:cs typeface="Tahoma"/>
              </a:rPr>
              <a:t>300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5817" y="1698095"/>
            <a:ext cx="13335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25" dirty="0">
                <a:latin typeface="Tahoma"/>
                <a:cs typeface="Tahoma"/>
              </a:rPr>
              <a:t>70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2037" y="539241"/>
            <a:ext cx="187325" cy="927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30" dirty="0">
                <a:latin typeface="Tahoma"/>
                <a:cs typeface="Tahoma"/>
              </a:rPr>
              <a:t>100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85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</a:pPr>
            <a:r>
              <a:rPr sz="850" spc="-25" dirty="0">
                <a:latin typeface="Tahoma"/>
                <a:cs typeface="Tahoma"/>
              </a:rPr>
              <a:t>90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85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</a:pPr>
            <a:r>
              <a:rPr sz="850" spc="-25" dirty="0">
                <a:latin typeface="Tahoma"/>
                <a:cs typeface="Tahoma"/>
              </a:rPr>
              <a:t>80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38101" y="636897"/>
            <a:ext cx="2628265" cy="1050290"/>
            <a:chOff x="1738101" y="636897"/>
            <a:chExt cx="2628265" cy="1050290"/>
          </a:xfrm>
        </p:grpSpPr>
        <p:sp>
          <p:nvSpPr>
            <p:cNvPr id="20" name="object 20"/>
            <p:cNvSpPr/>
            <p:nvPr/>
          </p:nvSpPr>
          <p:spPr>
            <a:xfrm>
              <a:off x="1764056" y="817367"/>
              <a:ext cx="2576195" cy="850265"/>
            </a:xfrm>
            <a:custGeom>
              <a:avLst/>
              <a:gdLst/>
              <a:ahLst/>
              <a:cxnLst/>
              <a:rect l="l" t="t" r="r" b="b"/>
              <a:pathLst>
                <a:path w="2576195" h="850264">
                  <a:moveTo>
                    <a:pt x="0" y="0"/>
                  </a:moveTo>
                  <a:lnTo>
                    <a:pt x="515208" y="270401"/>
                  </a:lnTo>
                  <a:lnTo>
                    <a:pt x="1030417" y="502173"/>
                  </a:lnTo>
                  <a:lnTo>
                    <a:pt x="1545626" y="656689"/>
                  </a:lnTo>
                  <a:lnTo>
                    <a:pt x="2060834" y="772575"/>
                  </a:lnTo>
                  <a:lnTo>
                    <a:pt x="2576043" y="849832"/>
                  </a:lnTo>
                </a:path>
              </a:pathLst>
            </a:custGeom>
            <a:ln w="8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64056" y="740109"/>
              <a:ext cx="2576195" cy="772795"/>
            </a:xfrm>
            <a:custGeom>
              <a:avLst/>
              <a:gdLst/>
              <a:ahLst/>
              <a:cxnLst/>
              <a:rect l="l" t="t" r="r" b="b"/>
              <a:pathLst>
                <a:path w="2576195" h="772794">
                  <a:moveTo>
                    <a:pt x="0" y="0"/>
                  </a:moveTo>
                  <a:lnTo>
                    <a:pt x="515208" y="193143"/>
                  </a:lnTo>
                  <a:lnTo>
                    <a:pt x="1030417" y="386287"/>
                  </a:lnTo>
                  <a:lnTo>
                    <a:pt x="1545626" y="579431"/>
                  </a:lnTo>
                  <a:lnTo>
                    <a:pt x="2060834" y="695317"/>
                  </a:lnTo>
                  <a:lnTo>
                    <a:pt x="2576043" y="772575"/>
                  </a:lnTo>
                </a:path>
              </a:pathLst>
            </a:custGeom>
            <a:ln w="8603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64056" y="662852"/>
              <a:ext cx="2576195" cy="347980"/>
            </a:xfrm>
            <a:custGeom>
              <a:avLst/>
              <a:gdLst/>
              <a:ahLst/>
              <a:cxnLst/>
              <a:rect l="l" t="t" r="r" b="b"/>
              <a:pathLst>
                <a:path w="2576195" h="347980">
                  <a:moveTo>
                    <a:pt x="0" y="0"/>
                  </a:moveTo>
                  <a:lnTo>
                    <a:pt x="515208" y="77257"/>
                  </a:lnTo>
                  <a:lnTo>
                    <a:pt x="1030417" y="154514"/>
                  </a:lnTo>
                  <a:lnTo>
                    <a:pt x="1545626" y="231772"/>
                  </a:lnTo>
                  <a:lnTo>
                    <a:pt x="2060834" y="270401"/>
                  </a:lnTo>
                  <a:lnTo>
                    <a:pt x="2576043" y="347658"/>
                  </a:lnTo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48846" y="802157"/>
              <a:ext cx="2606675" cy="880744"/>
            </a:xfrm>
            <a:custGeom>
              <a:avLst/>
              <a:gdLst/>
              <a:ahLst/>
              <a:cxnLst/>
              <a:rect l="l" t="t" r="r" b="b"/>
              <a:pathLst>
                <a:path w="2606675" h="880744">
                  <a:moveTo>
                    <a:pt x="0" y="30419"/>
                  </a:moveTo>
                  <a:lnTo>
                    <a:pt x="30419" y="0"/>
                  </a:lnTo>
                </a:path>
                <a:path w="2606675" h="880744">
                  <a:moveTo>
                    <a:pt x="0" y="0"/>
                  </a:moveTo>
                  <a:lnTo>
                    <a:pt x="30419" y="30419"/>
                  </a:lnTo>
                </a:path>
                <a:path w="2606675" h="880744">
                  <a:moveTo>
                    <a:pt x="515208" y="300820"/>
                  </a:moveTo>
                  <a:lnTo>
                    <a:pt x="545627" y="270401"/>
                  </a:lnTo>
                </a:path>
                <a:path w="2606675" h="880744">
                  <a:moveTo>
                    <a:pt x="515208" y="270401"/>
                  </a:moveTo>
                  <a:lnTo>
                    <a:pt x="545627" y="300820"/>
                  </a:lnTo>
                </a:path>
                <a:path w="2606675" h="880744">
                  <a:moveTo>
                    <a:pt x="1030417" y="532593"/>
                  </a:moveTo>
                  <a:lnTo>
                    <a:pt x="1060836" y="502173"/>
                  </a:lnTo>
                </a:path>
                <a:path w="2606675" h="880744">
                  <a:moveTo>
                    <a:pt x="1030417" y="502173"/>
                  </a:moveTo>
                  <a:lnTo>
                    <a:pt x="1060836" y="532593"/>
                  </a:lnTo>
                </a:path>
                <a:path w="2606675" h="880744">
                  <a:moveTo>
                    <a:pt x="1545626" y="687108"/>
                  </a:moveTo>
                  <a:lnTo>
                    <a:pt x="1576045" y="656689"/>
                  </a:lnTo>
                </a:path>
                <a:path w="2606675" h="880744">
                  <a:moveTo>
                    <a:pt x="1545626" y="656689"/>
                  </a:moveTo>
                  <a:lnTo>
                    <a:pt x="1576045" y="687108"/>
                  </a:lnTo>
                </a:path>
                <a:path w="2606675" h="880744">
                  <a:moveTo>
                    <a:pt x="2060834" y="802994"/>
                  </a:moveTo>
                  <a:lnTo>
                    <a:pt x="2091254" y="772575"/>
                  </a:lnTo>
                </a:path>
                <a:path w="2606675" h="880744">
                  <a:moveTo>
                    <a:pt x="2060834" y="772575"/>
                  </a:moveTo>
                  <a:lnTo>
                    <a:pt x="2091254" y="802994"/>
                  </a:lnTo>
                </a:path>
                <a:path w="2606675" h="880744">
                  <a:moveTo>
                    <a:pt x="2576043" y="880252"/>
                  </a:moveTo>
                  <a:lnTo>
                    <a:pt x="2606462" y="849832"/>
                  </a:lnTo>
                </a:path>
                <a:path w="2606675" h="880744">
                  <a:moveTo>
                    <a:pt x="2576043" y="849832"/>
                  </a:moveTo>
                  <a:lnTo>
                    <a:pt x="2606462" y="880252"/>
                  </a:lnTo>
                </a:path>
              </a:pathLst>
            </a:custGeom>
            <a:ln w="8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2546" y="718599"/>
              <a:ext cx="2619375" cy="815975"/>
            </a:xfrm>
            <a:custGeom>
              <a:avLst/>
              <a:gdLst/>
              <a:ahLst/>
              <a:cxnLst/>
              <a:rect l="l" t="t" r="r" b="b"/>
              <a:pathLst>
                <a:path w="2619375" h="815975">
                  <a:moveTo>
                    <a:pt x="0" y="43019"/>
                  </a:moveTo>
                  <a:lnTo>
                    <a:pt x="43019" y="43019"/>
                  </a:lnTo>
                  <a:lnTo>
                    <a:pt x="43019" y="0"/>
                  </a:lnTo>
                  <a:lnTo>
                    <a:pt x="0" y="0"/>
                  </a:lnTo>
                  <a:lnTo>
                    <a:pt x="0" y="43019"/>
                  </a:lnTo>
                  <a:close/>
                </a:path>
                <a:path w="2619375" h="815975">
                  <a:moveTo>
                    <a:pt x="515208" y="236162"/>
                  </a:moveTo>
                  <a:lnTo>
                    <a:pt x="558227" y="236162"/>
                  </a:lnTo>
                  <a:lnTo>
                    <a:pt x="558227" y="193143"/>
                  </a:lnTo>
                  <a:lnTo>
                    <a:pt x="515208" y="193143"/>
                  </a:lnTo>
                  <a:lnTo>
                    <a:pt x="515208" y="236162"/>
                  </a:lnTo>
                  <a:close/>
                </a:path>
                <a:path w="2619375" h="815975">
                  <a:moveTo>
                    <a:pt x="1030417" y="429306"/>
                  </a:moveTo>
                  <a:lnTo>
                    <a:pt x="1073436" y="429306"/>
                  </a:lnTo>
                  <a:lnTo>
                    <a:pt x="1073436" y="386287"/>
                  </a:lnTo>
                  <a:lnTo>
                    <a:pt x="1030417" y="386287"/>
                  </a:lnTo>
                  <a:lnTo>
                    <a:pt x="1030417" y="429306"/>
                  </a:lnTo>
                  <a:close/>
                </a:path>
                <a:path w="2619375" h="815975">
                  <a:moveTo>
                    <a:pt x="1545626" y="622450"/>
                  </a:moveTo>
                  <a:lnTo>
                    <a:pt x="1588645" y="622450"/>
                  </a:lnTo>
                  <a:lnTo>
                    <a:pt x="1588645" y="579431"/>
                  </a:lnTo>
                  <a:lnTo>
                    <a:pt x="1545626" y="579431"/>
                  </a:lnTo>
                  <a:lnTo>
                    <a:pt x="1545626" y="622450"/>
                  </a:lnTo>
                  <a:close/>
                </a:path>
                <a:path w="2619375" h="815975">
                  <a:moveTo>
                    <a:pt x="2060834" y="738336"/>
                  </a:moveTo>
                  <a:lnTo>
                    <a:pt x="2103854" y="738336"/>
                  </a:lnTo>
                  <a:lnTo>
                    <a:pt x="2103854" y="695317"/>
                  </a:lnTo>
                  <a:lnTo>
                    <a:pt x="2060834" y="695317"/>
                  </a:lnTo>
                  <a:lnTo>
                    <a:pt x="2060834" y="738336"/>
                  </a:lnTo>
                  <a:close/>
                </a:path>
                <a:path w="2619375" h="815975">
                  <a:moveTo>
                    <a:pt x="2576043" y="815594"/>
                  </a:moveTo>
                  <a:lnTo>
                    <a:pt x="2619062" y="815594"/>
                  </a:lnTo>
                  <a:lnTo>
                    <a:pt x="2619062" y="772575"/>
                  </a:lnTo>
                  <a:lnTo>
                    <a:pt x="2576043" y="772575"/>
                  </a:lnTo>
                  <a:lnTo>
                    <a:pt x="2576043" y="815594"/>
                  </a:lnTo>
                  <a:close/>
                </a:path>
              </a:pathLst>
            </a:custGeom>
            <a:ln w="8603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42546" y="64134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21509" y="0"/>
                  </a:moveTo>
                  <a:lnTo>
                    <a:pt x="13137" y="1690"/>
                  </a:lnTo>
                  <a:lnTo>
                    <a:pt x="6299" y="6299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lnTo>
                    <a:pt x="41328" y="13137"/>
                  </a:lnTo>
                  <a:lnTo>
                    <a:pt x="36719" y="6299"/>
                  </a:lnTo>
                  <a:lnTo>
                    <a:pt x="29882" y="1690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42546" y="64134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43019" y="21509"/>
                  </a:moveTo>
                  <a:lnTo>
                    <a:pt x="41328" y="13137"/>
                  </a:lnTo>
                  <a:lnTo>
                    <a:pt x="36719" y="6299"/>
                  </a:lnTo>
                  <a:lnTo>
                    <a:pt x="29882" y="1690"/>
                  </a:lnTo>
                  <a:lnTo>
                    <a:pt x="21509" y="0"/>
                  </a:lnTo>
                  <a:lnTo>
                    <a:pt x="13137" y="1690"/>
                  </a:lnTo>
                  <a:lnTo>
                    <a:pt x="6299" y="6299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close/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57755" y="718600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21509" y="0"/>
                  </a:moveTo>
                  <a:lnTo>
                    <a:pt x="13137" y="1690"/>
                  </a:lnTo>
                  <a:lnTo>
                    <a:pt x="6299" y="6299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lnTo>
                    <a:pt x="41328" y="13137"/>
                  </a:lnTo>
                  <a:lnTo>
                    <a:pt x="36719" y="6299"/>
                  </a:lnTo>
                  <a:lnTo>
                    <a:pt x="29882" y="1690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57755" y="718599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43019" y="21509"/>
                  </a:moveTo>
                  <a:lnTo>
                    <a:pt x="41328" y="13137"/>
                  </a:lnTo>
                  <a:lnTo>
                    <a:pt x="36719" y="6299"/>
                  </a:lnTo>
                  <a:lnTo>
                    <a:pt x="29882" y="1690"/>
                  </a:lnTo>
                  <a:lnTo>
                    <a:pt x="21509" y="0"/>
                  </a:lnTo>
                  <a:lnTo>
                    <a:pt x="13137" y="1690"/>
                  </a:lnTo>
                  <a:lnTo>
                    <a:pt x="6299" y="6299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close/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72963" y="79585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21509" y="0"/>
                  </a:move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72963" y="79585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43019" y="21509"/>
                  </a:move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close/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88172" y="87311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509" y="0"/>
                  </a:move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88172" y="87311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3019" y="21509"/>
                  </a:move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close/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03381" y="91174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509" y="0"/>
                  </a:move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03381" y="91174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3019" y="21509"/>
                  </a:move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close/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18590" y="989001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509" y="0"/>
                  </a:move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18590" y="989001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3019" y="21509"/>
                  </a:moveTo>
                  <a:lnTo>
                    <a:pt x="41328" y="13137"/>
                  </a:lnTo>
                  <a:lnTo>
                    <a:pt x="36719" y="6300"/>
                  </a:lnTo>
                  <a:lnTo>
                    <a:pt x="29882" y="1690"/>
                  </a:lnTo>
                  <a:lnTo>
                    <a:pt x="21509" y="0"/>
                  </a:lnTo>
                  <a:lnTo>
                    <a:pt x="13137" y="1690"/>
                  </a:lnTo>
                  <a:lnTo>
                    <a:pt x="6299" y="6300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7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close/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407324" y="1920343"/>
            <a:ext cx="1290320" cy="3549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445"/>
              </a:spcBef>
              <a:tabLst>
                <a:tab pos="821055" algn="l"/>
              </a:tabLst>
            </a:pPr>
            <a:r>
              <a:rPr sz="850" spc="-25" dirty="0">
                <a:latin typeface="Tahoma"/>
                <a:cs typeface="Tahoma"/>
              </a:rPr>
              <a:t>150</a:t>
            </a:r>
            <a:r>
              <a:rPr sz="850" dirty="0">
                <a:latin typeface="Tahoma"/>
                <a:cs typeface="Tahoma"/>
              </a:rPr>
              <a:t>	</a:t>
            </a:r>
            <a:r>
              <a:rPr sz="850" spc="-25" dirty="0">
                <a:latin typeface="Tahoma"/>
                <a:cs typeface="Tahoma"/>
              </a:rPr>
              <a:t>200</a:t>
            </a:r>
            <a:endParaRPr sz="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750" dirty="0">
                <a:latin typeface="Arial MT"/>
                <a:cs typeface="Arial MT"/>
              </a:rPr>
              <a:t>Number</a:t>
            </a:r>
            <a:r>
              <a:rPr sz="750" spc="5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of</a:t>
            </a:r>
            <a:r>
              <a:rPr sz="750" spc="5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Active</a:t>
            </a:r>
            <a:r>
              <a:rPr sz="750" spc="5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IoT</a:t>
            </a:r>
            <a:r>
              <a:rPr sz="750" spc="50" dirty="0">
                <a:latin typeface="Arial MT"/>
                <a:cs typeface="Arial MT"/>
              </a:rPr>
              <a:t> </a:t>
            </a:r>
            <a:r>
              <a:rPr sz="750" spc="-20" dirty="0">
                <a:latin typeface="Arial MT"/>
                <a:cs typeface="Arial MT"/>
              </a:rPr>
              <a:t>Devices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5574" y="643089"/>
            <a:ext cx="123189" cy="13144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30"/>
              </a:lnSpc>
            </a:pPr>
            <a:r>
              <a:rPr sz="750" spc="-20" dirty="0">
                <a:latin typeface="Arial MT"/>
                <a:cs typeface="Arial MT"/>
              </a:rPr>
              <a:t>Percentage</a:t>
            </a:r>
            <a:r>
              <a:rPr sz="750" spc="2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of</a:t>
            </a:r>
            <a:r>
              <a:rPr sz="750" spc="25" dirty="0">
                <a:latin typeface="Arial MT"/>
                <a:cs typeface="Arial MT"/>
              </a:rPr>
              <a:t> </a:t>
            </a:r>
            <a:r>
              <a:rPr sz="750" spc="-30" dirty="0">
                <a:latin typeface="Arial MT"/>
                <a:cs typeface="Arial MT"/>
              </a:rPr>
              <a:t>Served</a:t>
            </a:r>
            <a:r>
              <a:rPr sz="750" spc="2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IoTs</a:t>
            </a:r>
            <a:r>
              <a:rPr sz="750" spc="25" dirty="0">
                <a:latin typeface="Arial MT"/>
                <a:cs typeface="Arial MT"/>
              </a:rPr>
              <a:t> </a:t>
            </a:r>
            <a:r>
              <a:rPr sz="750" spc="-25" dirty="0">
                <a:latin typeface="Arial MT"/>
                <a:cs typeface="Arial MT"/>
              </a:rPr>
              <a:t>(%)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841333" y="1595881"/>
            <a:ext cx="802005" cy="340360"/>
            <a:chOff x="1841333" y="1595881"/>
            <a:chExt cx="802005" cy="340360"/>
          </a:xfrm>
        </p:grpSpPr>
        <p:sp>
          <p:nvSpPr>
            <p:cNvPr id="40" name="object 40"/>
            <p:cNvSpPr/>
            <p:nvPr/>
          </p:nvSpPr>
          <p:spPr>
            <a:xfrm>
              <a:off x="1843484" y="1598032"/>
              <a:ext cx="797560" cy="335915"/>
            </a:xfrm>
            <a:custGeom>
              <a:avLst/>
              <a:gdLst/>
              <a:ahLst/>
              <a:cxnLst/>
              <a:rect l="l" t="t" r="r" b="b"/>
              <a:pathLst>
                <a:path w="797560" h="335914">
                  <a:moveTo>
                    <a:pt x="797414" y="0"/>
                  </a:moveTo>
                  <a:lnTo>
                    <a:pt x="0" y="0"/>
                  </a:lnTo>
                  <a:lnTo>
                    <a:pt x="0" y="335487"/>
                  </a:lnTo>
                  <a:lnTo>
                    <a:pt x="797414" y="335487"/>
                  </a:lnTo>
                  <a:lnTo>
                    <a:pt x="7974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43484" y="1598032"/>
              <a:ext cx="797560" cy="335915"/>
            </a:xfrm>
            <a:custGeom>
              <a:avLst/>
              <a:gdLst/>
              <a:ahLst/>
              <a:cxnLst/>
              <a:rect l="l" t="t" r="r" b="b"/>
              <a:pathLst>
                <a:path w="797560" h="335914">
                  <a:moveTo>
                    <a:pt x="0" y="335487"/>
                  </a:moveTo>
                  <a:lnTo>
                    <a:pt x="797414" y="335487"/>
                  </a:lnTo>
                  <a:lnTo>
                    <a:pt x="797414" y="0"/>
                  </a:lnTo>
                  <a:lnTo>
                    <a:pt x="0" y="0"/>
                  </a:lnTo>
                  <a:lnTo>
                    <a:pt x="0" y="335487"/>
                  </a:lnTo>
                  <a:close/>
                </a:path>
              </a:pathLst>
            </a:custGeom>
            <a:ln w="4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80048" y="1652585"/>
              <a:ext cx="184150" cy="30480"/>
            </a:xfrm>
            <a:custGeom>
              <a:avLst/>
              <a:gdLst/>
              <a:ahLst/>
              <a:cxnLst/>
              <a:rect l="l" t="t" r="r" b="b"/>
              <a:pathLst>
                <a:path w="184150" h="30480">
                  <a:moveTo>
                    <a:pt x="0" y="15209"/>
                  </a:moveTo>
                  <a:lnTo>
                    <a:pt x="91801" y="15209"/>
                  </a:lnTo>
                  <a:lnTo>
                    <a:pt x="183604" y="15209"/>
                  </a:lnTo>
                </a:path>
                <a:path w="184150" h="30480">
                  <a:moveTo>
                    <a:pt x="76592" y="30419"/>
                  </a:moveTo>
                  <a:lnTo>
                    <a:pt x="107011" y="0"/>
                  </a:lnTo>
                </a:path>
                <a:path w="184150" h="30480">
                  <a:moveTo>
                    <a:pt x="76592" y="0"/>
                  </a:moveTo>
                  <a:lnTo>
                    <a:pt x="107011" y="30419"/>
                  </a:lnTo>
                </a:path>
              </a:pathLst>
            </a:custGeom>
            <a:ln w="8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80048" y="1742771"/>
              <a:ext cx="184150" cy="43180"/>
            </a:xfrm>
            <a:custGeom>
              <a:avLst/>
              <a:gdLst/>
              <a:ahLst/>
              <a:cxnLst/>
              <a:rect l="l" t="t" r="r" b="b"/>
              <a:pathLst>
                <a:path w="184150" h="43180">
                  <a:moveTo>
                    <a:pt x="0" y="21509"/>
                  </a:moveTo>
                  <a:lnTo>
                    <a:pt x="91801" y="21509"/>
                  </a:lnTo>
                  <a:lnTo>
                    <a:pt x="183604" y="21509"/>
                  </a:lnTo>
                </a:path>
                <a:path w="184150" h="43180">
                  <a:moveTo>
                    <a:pt x="70292" y="43019"/>
                  </a:moveTo>
                  <a:lnTo>
                    <a:pt x="113311" y="43019"/>
                  </a:lnTo>
                  <a:lnTo>
                    <a:pt x="113311" y="0"/>
                  </a:lnTo>
                  <a:lnTo>
                    <a:pt x="70292" y="0"/>
                  </a:lnTo>
                  <a:lnTo>
                    <a:pt x="70292" y="43019"/>
                  </a:lnTo>
                  <a:close/>
                </a:path>
              </a:pathLst>
            </a:custGeom>
            <a:ln w="8603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880048" y="1862266"/>
              <a:ext cx="184150" cy="0"/>
            </a:xfrm>
            <a:custGeom>
              <a:avLst/>
              <a:gdLst/>
              <a:ahLst/>
              <a:cxnLst/>
              <a:rect l="l" t="t" r="r" b="b"/>
              <a:pathLst>
                <a:path w="184150">
                  <a:moveTo>
                    <a:pt x="0" y="0"/>
                  </a:moveTo>
                  <a:lnTo>
                    <a:pt x="91801" y="0"/>
                  </a:lnTo>
                  <a:lnTo>
                    <a:pt x="183604" y="0"/>
                  </a:lnTo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50340" y="184075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21509" y="0"/>
                  </a:moveTo>
                  <a:lnTo>
                    <a:pt x="13136" y="1690"/>
                  </a:lnTo>
                  <a:lnTo>
                    <a:pt x="6299" y="6299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6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lnTo>
                    <a:pt x="41328" y="13137"/>
                  </a:lnTo>
                  <a:lnTo>
                    <a:pt x="36719" y="6299"/>
                  </a:lnTo>
                  <a:lnTo>
                    <a:pt x="29882" y="1690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50340" y="184075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43019" y="21509"/>
                  </a:moveTo>
                  <a:lnTo>
                    <a:pt x="41328" y="13137"/>
                  </a:lnTo>
                  <a:lnTo>
                    <a:pt x="36719" y="6299"/>
                  </a:lnTo>
                  <a:lnTo>
                    <a:pt x="29882" y="1690"/>
                  </a:lnTo>
                  <a:lnTo>
                    <a:pt x="21509" y="0"/>
                  </a:lnTo>
                  <a:lnTo>
                    <a:pt x="13136" y="1690"/>
                  </a:lnTo>
                  <a:lnTo>
                    <a:pt x="6299" y="6299"/>
                  </a:lnTo>
                  <a:lnTo>
                    <a:pt x="1690" y="13137"/>
                  </a:lnTo>
                  <a:lnTo>
                    <a:pt x="0" y="21509"/>
                  </a:lnTo>
                  <a:lnTo>
                    <a:pt x="1690" y="29882"/>
                  </a:lnTo>
                  <a:lnTo>
                    <a:pt x="6299" y="36719"/>
                  </a:lnTo>
                  <a:lnTo>
                    <a:pt x="13136" y="41328"/>
                  </a:lnTo>
                  <a:lnTo>
                    <a:pt x="21509" y="43019"/>
                  </a:lnTo>
                  <a:lnTo>
                    <a:pt x="29882" y="41328"/>
                  </a:lnTo>
                  <a:lnTo>
                    <a:pt x="36719" y="36719"/>
                  </a:lnTo>
                  <a:lnTo>
                    <a:pt x="41328" y="29882"/>
                  </a:lnTo>
                  <a:lnTo>
                    <a:pt x="43019" y="21509"/>
                  </a:lnTo>
                  <a:close/>
                </a:path>
              </a:pathLst>
            </a:custGeom>
            <a:ln w="8603">
              <a:solidFill>
                <a:srgbClr val="0099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60" y="1579953"/>
            <a:ext cx="523240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2560" marR="154940" algn="ctr">
              <a:lnSpc>
                <a:spcPct val="158300"/>
              </a:lnSpc>
              <a:spcBef>
                <a:spcPts val="95"/>
              </a:spcBef>
            </a:pPr>
            <a:r>
              <a:rPr sz="400" spc="-10" dirty="0">
                <a:latin typeface="Tahoma"/>
                <a:cs typeface="Tahoma"/>
              </a:rPr>
              <a:t>Random</a:t>
            </a:r>
            <a:r>
              <a:rPr sz="400" spc="500" dirty="0">
                <a:latin typeface="Tahoma"/>
                <a:cs typeface="Tahoma"/>
              </a:rPr>
              <a:t> </a:t>
            </a:r>
            <a:r>
              <a:rPr sz="400" spc="-10" dirty="0">
                <a:latin typeface="Tahoma"/>
                <a:cs typeface="Tahoma"/>
              </a:rPr>
              <a:t>Fixed</a:t>
            </a:r>
            <a:endParaRPr sz="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400" dirty="0">
                <a:latin typeface="Tahoma"/>
                <a:cs typeface="Tahoma"/>
              </a:rPr>
              <a:t>Proposed</a:t>
            </a:r>
            <a:r>
              <a:rPr sz="400" spc="210" dirty="0">
                <a:latin typeface="Tahoma"/>
                <a:cs typeface="Tahoma"/>
              </a:rPr>
              <a:t> </a:t>
            </a:r>
            <a:r>
              <a:rPr sz="400" dirty="0">
                <a:latin typeface="Tahoma"/>
                <a:cs typeface="Tahoma"/>
              </a:rPr>
              <a:t>(R-</a:t>
            </a:r>
            <a:r>
              <a:rPr sz="400" spc="-10" dirty="0">
                <a:latin typeface="Tahoma"/>
                <a:cs typeface="Tahoma"/>
              </a:rPr>
              <a:t>TMSC)</a:t>
            </a:r>
            <a:endParaRPr sz="400">
              <a:latin typeface="Tahoma"/>
              <a:cs typeface="Tahoma"/>
            </a:endParaRPr>
          </a:p>
        </p:txBody>
      </p:sp>
      <p:pic>
        <p:nvPicPr>
          <p:cNvPr id="48" name="object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2507488"/>
            <a:ext cx="59601" cy="59601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366877" y="2392432"/>
            <a:ext cx="3816350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sz="1000" b="1" spc="-40" dirty="0">
                <a:latin typeface="Arial"/>
                <a:cs typeface="Arial"/>
              </a:rPr>
              <a:t>Proposed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scheme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achieves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93.4%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average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served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IoT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percentage </a:t>
            </a:r>
            <a:r>
              <a:rPr sz="1000" b="1" dirty="0">
                <a:latin typeface="Arial"/>
                <a:cs typeface="Arial"/>
              </a:rPr>
              <a:t>19%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improvement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28%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improvement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Random Maintains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high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performance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even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increasing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density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2697264"/>
            <a:ext cx="59601" cy="59601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2887052"/>
            <a:ext cx="59601" cy="59601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53" name="object 53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3993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20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object 53"/>
          <p:cNvGrpSpPr/>
          <p:nvPr/>
        </p:nvGrpSpPr>
        <p:grpSpPr>
          <a:xfrm>
            <a:off x="63500" y="2708033"/>
            <a:ext cx="5659755" cy="532130"/>
            <a:chOff x="75742" y="2708033"/>
            <a:chExt cx="5659755" cy="532130"/>
          </a:xfrm>
        </p:grpSpPr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42" y="2836824"/>
              <a:ext cx="5608620" cy="5060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26542" y="2708033"/>
              <a:ext cx="5608955" cy="532130"/>
            </a:xfrm>
            <a:custGeom>
              <a:avLst/>
              <a:gdLst/>
              <a:ahLst/>
              <a:cxnLst/>
              <a:rect l="l" t="t" r="r" b="b"/>
              <a:pathLst>
                <a:path w="5608955" h="532130">
                  <a:moveTo>
                    <a:pt x="5608620" y="0"/>
                  </a:moveTo>
                  <a:lnTo>
                    <a:pt x="0" y="0"/>
                  </a:lnTo>
                  <a:lnTo>
                    <a:pt x="0" y="531965"/>
                  </a:lnTo>
                  <a:lnTo>
                    <a:pt x="5608620" y="5319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5742" y="2881095"/>
              <a:ext cx="5608955" cy="359410"/>
            </a:xfrm>
            <a:custGeom>
              <a:avLst/>
              <a:gdLst/>
              <a:ahLst/>
              <a:cxnLst/>
              <a:rect l="l" t="t" r="r" b="b"/>
              <a:pathLst>
                <a:path w="5608955" h="359410">
                  <a:moveTo>
                    <a:pt x="5608620" y="0"/>
                  </a:moveTo>
                  <a:lnTo>
                    <a:pt x="0" y="0"/>
                  </a:lnTo>
                  <a:lnTo>
                    <a:pt x="0" y="358902"/>
                  </a:lnTo>
                  <a:lnTo>
                    <a:pt x="5608620" y="358902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17" y="2939173"/>
              <a:ext cx="59601" cy="59601"/>
            </a:xfrm>
            <a:prstGeom prst="rect">
              <a:avLst/>
            </a:prstGeom>
          </p:spPr>
        </p:pic>
      </p:grpSp>
      <p:sp>
        <p:nvSpPr>
          <p:cNvPr id="2" name="object 2"/>
          <p:cNvSpPr/>
          <p:nvPr/>
        </p:nvSpPr>
        <p:spPr>
          <a:xfrm>
            <a:off x="5648746" y="3053536"/>
            <a:ext cx="66040" cy="50800"/>
          </a:xfrm>
          <a:custGeom>
            <a:avLst/>
            <a:gdLst/>
            <a:ahLst/>
            <a:cxnLst/>
            <a:rect l="l" t="t" r="r" b="b"/>
            <a:pathLst>
              <a:path w="66039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  <a:path w="66039" h="50800">
                <a:moveTo>
                  <a:pt x="66040" y="17780"/>
                </a:moveTo>
                <a:lnTo>
                  <a:pt x="50800" y="30480"/>
                </a:lnTo>
                <a:lnTo>
                  <a:pt x="35560" y="17780"/>
                </a:lnTo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Results:</a:t>
            </a:r>
            <a:r>
              <a:rPr spc="140" dirty="0"/>
              <a:t> </a:t>
            </a:r>
            <a:r>
              <a:rPr spc="50" dirty="0"/>
              <a:t>SP</a:t>
            </a:r>
            <a:r>
              <a:rPr dirty="0"/>
              <a:t> Profit</a:t>
            </a:r>
            <a:r>
              <a:rPr spc="-5" dirty="0"/>
              <a:t> </a:t>
            </a:r>
            <a:r>
              <a:rPr spc="-30" dirty="0"/>
              <a:t>and</a:t>
            </a:r>
            <a:r>
              <a:rPr dirty="0"/>
              <a:t> UAV </a:t>
            </a:r>
            <a:r>
              <a:rPr spc="-20" dirty="0"/>
              <a:t>Efficiency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873" y="583443"/>
            <a:ext cx="12903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SP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Profit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Comparison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62901" y="759831"/>
            <a:ext cx="1731010" cy="1512570"/>
            <a:chOff x="762901" y="759831"/>
            <a:chExt cx="1731010" cy="1512570"/>
          </a:xfrm>
        </p:grpSpPr>
        <p:sp>
          <p:nvSpPr>
            <p:cNvPr id="7" name="object 7"/>
            <p:cNvSpPr/>
            <p:nvPr/>
          </p:nvSpPr>
          <p:spPr>
            <a:xfrm>
              <a:off x="908737" y="760783"/>
              <a:ext cx="0" cy="1510665"/>
            </a:xfrm>
            <a:custGeom>
              <a:avLst/>
              <a:gdLst/>
              <a:ahLst/>
              <a:cxnLst/>
              <a:rect l="l" t="t" r="r" b="b"/>
              <a:pathLst>
                <a:path h="1510664">
                  <a:moveTo>
                    <a:pt x="0" y="1510414"/>
                  </a:moveTo>
                  <a:lnTo>
                    <a:pt x="0" y="1472611"/>
                  </a:lnTo>
                </a:path>
                <a:path h="1510664">
                  <a:moveTo>
                    <a:pt x="0" y="0"/>
                  </a:moveTo>
                  <a:lnTo>
                    <a:pt x="0" y="37803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806" y="22338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797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4806" y="120853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797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54089" y="22338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797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4806" y="798587"/>
              <a:ext cx="1727200" cy="1435100"/>
            </a:xfrm>
            <a:custGeom>
              <a:avLst/>
              <a:gdLst/>
              <a:ahLst/>
              <a:cxnLst/>
              <a:rect l="l" t="t" r="r" b="b"/>
              <a:pathLst>
                <a:path w="1727200" h="1435100">
                  <a:moveTo>
                    <a:pt x="0" y="1434808"/>
                  </a:moveTo>
                  <a:lnTo>
                    <a:pt x="0" y="0"/>
                  </a:lnTo>
                  <a:lnTo>
                    <a:pt x="1727080" y="0"/>
                  </a:lnTo>
                  <a:lnTo>
                    <a:pt x="1727080" y="1434808"/>
                  </a:lnTo>
                  <a:lnTo>
                    <a:pt x="0" y="1434808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 rot="20760000">
            <a:off x="651922" y="2285931"/>
            <a:ext cx="237531" cy="5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65"/>
              </a:lnSpc>
            </a:pPr>
            <a:r>
              <a:rPr sz="450" spc="-10" dirty="0">
                <a:latin typeface="Tahoma"/>
                <a:cs typeface="Tahoma"/>
              </a:rPr>
              <a:t>Random</a:t>
            </a:r>
            <a:endParaRPr sz="4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6534" y="2161153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252" y="164872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ahoma"/>
                <a:cs typeface="Tahoma"/>
              </a:rPr>
              <a:t>50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7962" y="1136305"/>
            <a:ext cx="1587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latin typeface="Tahoma"/>
                <a:cs typeface="Tahoma"/>
              </a:rPr>
              <a:t>100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3035" y="950545"/>
            <a:ext cx="1731010" cy="1285240"/>
            <a:chOff x="763035" y="950545"/>
            <a:chExt cx="1731010" cy="1285240"/>
          </a:xfrm>
        </p:grpSpPr>
        <p:sp>
          <p:nvSpPr>
            <p:cNvPr id="17" name="object 17"/>
            <p:cNvSpPr/>
            <p:nvPr/>
          </p:nvSpPr>
          <p:spPr>
            <a:xfrm>
              <a:off x="764806" y="1362261"/>
              <a:ext cx="73660" cy="871219"/>
            </a:xfrm>
            <a:custGeom>
              <a:avLst/>
              <a:gdLst/>
              <a:ahLst/>
              <a:cxnLst/>
              <a:rect l="l" t="t" r="r" b="b"/>
              <a:pathLst>
                <a:path w="73659" h="871219">
                  <a:moveTo>
                    <a:pt x="0" y="871133"/>
                  </a:moveTo>
                  <a:lnTo>
                    <a:pt x="73075" y="871133"/>
                  </a:lnTo>
                  <a:lnTo>
                    <a:pt x="73075" y="0"/>
                  </a:lnTo>
                  <a:lnTo>
                    <a:pt x="0" y="0"/>
                  </a:lnTo>
                  <a:lnTo>
                    <a:pt x="0" y="87113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4806" y="1362261"/>
              <a:ext cx="73660" cy="871219"/>
            </a:xfrm>
            <a:custGeom>
              <a:avLst/>
              <a:gdLst/>
              <a:ahLst/>
              <a:cxnLst/>
              <a:rect l="l" t="t" r="r" b="b"/>
              <a:pathLst>
                <a:path w="73659" h="871219">
                  <a:moveTo>
                    <a:pt x="0" y="871133"/>
                  </a:moveTo>
                  <a:lnTo>
                    <a:pt x="73075" y="871133"/>
                  </a:lnTo>
                  <a:lnTo>
                    <a:pt x="73075" y="0"/>
                  </a:lnTo>
                  <a:lnTo>
                    <a:pt x="0" y="0"/>
                  </a:lnTo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5205" y="1208532"/>
              <a:ext cx="106680" cy="1024890"/>
            </a:xfrm>
            <a:custGeom>
              <a:avLst/>
              <a:gdLst/>
              <a:ahLst/>
              <a:cxnLst/>
              <a:rect l="l" t="t" r="r" b="b"/>
              <a:pathLst>
                <a:path w="106680" h="1024889">
                  <a:moveTo>
                    <a:pt x="106282" y="0"/>
                  </a:moveTo>
                  <a:lnTo>
                    <a:pt x="0" y="0"/>
                  </a:lnTo>
                  <a:lnTo>
                    <a:pt x="0" y="1024862"/>
                  </a:lnTo>
                  <a:lnTo>
                    <a:pt x="106282" y="1024862"/>
                  </a:lnTo>
                  <a:lnTo>
                    <a:pt x="106282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75205" y="1208532"/>
              <a:ext cx="106680" cy="1024890"/>
            </a:xfrm>
            <a:custGeom>
              <a:avLst/>
              <a:gdLst/>
              <a:ahLst/>
              <a:cxnLst/>
              <a:rect l="l" t="t" r="r" b="b"/>
              <a:pathLst>
                <a:path w="106680" h="1024889">
                  <a:moveTo>
                    <a:pt x="0" y="1024862"/>
                  </a:moveTo>
                  <a:lnTo>
                    <a:pt x="106282" y="1024862"/>
                  </a:lnTo>
                  <a:lnTo>
                    <a:pt x="106282" y="0"/>
                  </a:lnTo>
                  <a:lnTo>
                    <a:pt x="0" y="0"/>
                  </a:lnTo>
                  <a:lnTo>
                    <a:pt x="0" y="1024862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18811" y="952316"/>
              <a:ext cx="73660" cy="1281430"/>
            </a:xfrm>
            <a:custGeom>
              <a:avLst/>
              <a:gdLst/>
              <a:ahLst/>
              <a:cxnLst/>
              <a:rect l="l" t="t" r="r" b="b"/>
              <a:pathLst>
                <a:path w="73660" h="1281430">
                  <a:moveTo>
                    <a:pt x="73075" y="0"/>
                  </a:moveTo>
                  <a:lnTo>
                    <a:pt x="0" y="0"/>
                  </a:lnTo>
                  <a:lnTo>
                    <a:pt x="0" y="1281078"/>
                  </a:lnTo>
                  <a:lnTo>
                    <a:pt x="73075" y="1281078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18811" y="952316"/>
              <a:ext cx="73660" cy="1281430"/>
            </a:xfrm>
            <a:custGeom>
              <a:avLst/>
              <a:gdLst/>
              <a:ahLst/>
              <a:cxnLst/>
              <a:rect l="l" t="t" r="r" b="b"/>
              <a:pathLst>
                <a:path w="73660" h="1281430">
                  <a:moveTo>
                    <a:pt x="73075" y="0"/>
                  </a:moveTo>
                  <a:lnTo>
                    <a:pt x="0" y="0"/>
                  </a:lnTo>
                  <a:lnTo>
                    <a:pt x="0" y="1281078"/>
                  </a:lnTo>
                  <a:lnTo>
                    <a:pt x="73075" y="1281078"/>
                  </a:lnTo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8516" y="1273996"/>
            <a:ext cx="73025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25" dirty="0">
                <a:latin typeface="Tahoma"/>
                <a:cs typeface="Tahoma"/>
              </a:rPr>
              <a:t>85</a:t>
            </a:r>
            <a:endParaRPr sz="3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0344" y="1120270"/>
            <a:ext cx="965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25" dirty="0">
                <a:latin typeface="Tahoma"/>
                <a:cs typeface="Tahoma"/>
              </a:rPr>
              <a:t>100</a:t>
            </a:r>
            <a:endParaRPr sz="3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3943" y="864051"/>
            <a:ext cx="965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25" dirty="0">
                <a:latin typeface="Tahoma"/>
                <a:cs typeface="Tahoma"/>
              </a:rPr>
              <a:t>125</a:t>
            </a:r>
            <a:endParaRPr sz="3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9746" y="1195402"/>
            <a:ext cx="123825" cy="641350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dirty="0">
                <a:latin typeface="Arial MT"/>
                <a:cs typeface="Arial MT"/>
              </a:rPr>
              <a:t>SP</a:t>
            </a:r>
            <a:r>
              <a:rPr sz="600" spc="9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Profit</a:t>
            </a:r>
            <a:r>
              <a:rPr sz="600" spc="9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(</a:t>
            </a:r>
            <a:r>
              <a:rPr sz="600" spc="-10" dirty="0">
                <a:latin typeface="Calibri"/>
                <a:cs typeface="Calibri"/>
              </a:rPr>
              <a:t>$</a:t>
            </a:r>
            <a:r>
              <a:rPr sz="600" spc="-10" dirty="0">
                <a:latin typeface="Arial MT"/>
                <a:cs typeface="Arial MT"/>
              </a:rPr>
              <a:t>1000)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75291" y="583443"/>
            <a:ext cx="12471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UAV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Count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Required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06402" y="759827"/>
            <a:ext cx="1731010" cy="1512570"/>
            <a:chOff x="3606402" y="759827"/>
            <a:chExt cx="1731010" cy="1512570"/>
          </a:xfrm>
        </p:grpSpPr>
        <p:sp>
          <p:nvSpPr>
            <p:cNvPr id="29" name="object 29"/>
            <p:cNvSpPr/>
            <p:nvPr/>
          </p:nvSpPr>
          <p:spPr>
            <a:xfrm>
              <a:off x="3752237" y="760779"/>
              <a:ext cx="0" cy="1510665"/>
            </a:xfrm>
            <a:custGeom>
              <a:avLst/>
              <a:gdLst/>
              <a:ahLst/>
              <a:cxnLst/>
              <a:rect l="l" t="t" r="r" b="b"/>
              <a:pathLst>
                <a:path h="1510664">
                  <a:moveTo>
                    <a:pt x="0" y="1510424"/>
                  </a:moveTo>
                  <a:lnTo>
                    <a:pt x="0" y="1472619"/>
                  </a:lnTo>
                </a:path>
                <a:path h="1510664">
                  <a:moveTo>
                    <a:pt x="0" y="0"/>
                  </a:moveTo>
                  <a:lnTo>
                    <a:pt x="0" y="37805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08307" y="223384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797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08307" y="88826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797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97590" y="223384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797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97590" y="888261"/>
              <a:ext cx="38100" cy="448945"/>
            </a:xfrm>
            <a:custGeom>
              <a:avLst/>
              <a:gdLst/>
              <a:ahLst/>
              <a:cxnLst/>
              <a:rect l="l" t="t" r="r" b="b"/>
              <a:pathLst>
                <a:path w="38100" h="448944">
                  <a:moveTo>
                    <a:pt x="37797" y="448379"/>
                  </a:moveTo>
                  <a:lnTo>
                    <a:pt x="0" y="448379"/>
                  </a:lnTo>
                </a:path>
                <a:path w="38100" h="448944">
                  <a:moveTo>
                    <a:pt x="3779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08307" y="798585"/>
              <a:ext cx="1727200" cy="1435100"/>
            </a:xfrm>
            <a:custGeom>
              <a:avLst/>
              <a:gdLst/>
              <a:ahLst/>
              <a:cxnLst/>
              <a:rect l="l" t="t" r="r" b="b"/>
              <a:pathLst>
                <a:path w="1727200" h="1435100">
                  <a:moveTo>
                    <a:pt x="0" y="1434813"/>
                  </a:moveTo>
                  <a:lnTo>
                    <a:pt x="0" y="0"/>
                  </a:lnTo>
                  <a:lnTo>
                    <a:pt x="1727080" y="0"/>
                  </a:lnTo>
                  <a:lnTo>
                    <a:pt x="1727080" y="1434813"/>
                  </a:lnTo>
                  <a:lnTo>
                    <a:pt x="0" y="1434813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 rot="20760000">
            <a:off x="3495414" y="2285944"/>
            <a:ext cx="237531" cy="5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65"/>
              </a:lnSpc>
            </a:pPr>
            <a:r>
              <a:rPr sz="450" spc="-10" dirty="0">
                <a:latin typeface="Tahoma"/>
                <a:cs typeface="Tahoma"/>
              </a:rPr>
              <a:t>Random</a:t>
            </a:r>
            <a:endParaRPr sz="4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20025" y="2161166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20025" y="1712790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75753" y="1264414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ahoma"/>
                <a:cs typeface="Tahoma"/>
              </a:rPr>
              <a:t>10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75753" y="816038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ahoma"/>
                <a:cs typeface="Tahoma"/>
              </a:rPr>
              <a:t>15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606535" y="1065841"/>
            <a:ext cx="1731010" cy="1169670"/>
            <a:chOff x="3606535" y="1065841"/>
            <a:chExt cx="1731010" cy="1169670"/>
          </a:xfrm>
        </p:grpSpPr>
        <p:sp>
          <p:nvSpPr>
            <p:cNvPr id="41" name="object 41"/>
            <p:cNvSpPr/>
            <p:nvPr/>
          </p:nvSpPr>
          <p:spPr>
            <a:xfrm>
              <a:off x="3608307" y="1067613"/>
              <a:ext cx="73660" cy="1165860"/>
            </a:xfrm>
            <a:custGeom>
              <a:avLst/>
              <a:gdLst/>
              <a:ahLst/>
              <a:cxnLst/>
              <a:rect l="l" t="t" r="r" b="b"/>
              <a:pathLst>
                <a:path w="73660" h="1165860">
                  <a:moveTo>
                    <a:pt x="0" y="1165786"/>
                  </a:moveTo>
                  <a:lnTo>
                    <a:pt x="73075" y="1165786"/>
                  </a:lnTo>
                  <a:lnTo>
                    <a:pt x="73075" y="0"/>
                  </a:lnTo>
                  <a:lnTo>
                    <a:pt x="0" y="0"/>
                  </a:lnTo>
                  <a:lnTo>
                    <a:pt x="0" y="116578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08307" y="1067613"/>
              <a:ext cx="73660" cy="1165860"/>
            </a:xfrm>
            <a:custGeom>
              <a:avLst/>
              <a:gdLst/>
              <a:ahLst/>
              <a:cxnLst/>
              <a:rect l="l" t="t" r="r" b="b"/>
              <a:pathLst>
                <a:path w="73660" h="1165860">
                  <a:moveTo>
                    <a:pt x="0" y="1165786"/>
                  </a:moveTo>
                  <a:lnTo>
                    <a:pt x="73075" y="1165786"/>
                  </a:lnTo>
                  <a:lnTo>
                    <a:pt x="73075" y="0"/>
                  </a:lnTo>
                  <a:lnTo>
                    <a:pt x="0" y="0"/>
                  </a:lnTo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18705" y="1157288"/>
              <a:ext cx="106680" cy="1076325"/>
            </a:xfrm>
            <a:custGeom>
              <a:avLst/>
              <a:gdLst/>
              <a:ahLst/>
              <a:cxnLst/>
              <a:rect l="l" t="t" r="r" b="b"/>
              <a:pathLst>
                <a:path w="106679" h="1076325">
                  <a:moveTo>
                    <a:pt x="106282" y="0"/>
                  </a:moveTo>
                  <a:lnTo>
                    <a:pt x="0" y="0"/>
                  </a:lnTo>
                  <a:lnTo>
                    <a:pt x="0" y="1076110"/>
                  </a:lnTo>
                  <a:lnTo>
                    <a:pt x="106282" y="1076110"/>
                  </a:lnTo>
                  <a:lnTo>
                    <a:pt x="106282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8705" y="1157288"/>
              <a:ext cx="106680" cy="1076325"/>
            </a:xfrm>
            <a:custGeom>
              <a:avLst/>
              <a:gdLst/>
              <a:ahLst/>
              <a:cxnLst/>
              <a:rect l="l" t="t" r="r" b="b"/>
              <a:pathLst>
                <a:path w="106679" h="1076325">
                  <a:moveTo>
                    <a:pt x="0" y="1076110"/>
                  </a:moveTo>
                  <a:lnTo>
                    <a:pt x="106282" y="1076110"/>
                  </a:lnTo>
                  <a:lnTo>
                    <a:pt x="106282" y="0"/>
                  </a:lnTo>
                  <a:lnTo>
                    <a:pt x="0" y="0"/>
                  </a:lnTo>
                  <a:lnTo>
                    <a:pt x="0" y="1076110"/>
                  </a:lnTo>
                  <a:close/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62311" y="1426316"/>
              <a:ext cx="73660" cy="807085"/>
            </a:xfrm>
            <a:custGeom>
              <a:avLst/>
              <a:gdLst/>
              <a:ahLst/>
              <a:cxnLst/>
              <a:rect l="l" t="t" r="r" b="b"/>
              <a:pathLst>
                <a:path w="73660" h="807085">
                  <a:moveTo>
                    <a:pt x="73075" y="0"/>
                  </a:moveTo>
                  <a:lnTo>
                    <a:pt x="0" y="0"/>
                  </a:lnTo>
                  <a:lnTo>
                    <a:pt x="0" y="807082"/>
                  </a:lnTo>
                  <a:lnTo>
                    <a:pt x="73075" y="807082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99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62311" y="1426316"/>
              <a:ext cx="73660" cy="807085"/>
            </a:xfrm>
            <a:custGeom>
              <a:avLst/>
              <a:gdLst/>
              <a:ahLst/>
              <a:cxnLst/>
              <a:rect l="l" t="t" r="r" b="b"/>
              <a:pathLst>
                <a:path w="73660" h="807085">
                  <a:moveTo>
                    <a:pt x="73075" y="0"/>
                  </a:moveTo>
                  <a:lnTo>
                    <a:pt x="0" y="0"/>
                  </a:lnTo>
                  <a:lnTo>
                    <a:pt x="0" y="807082"/>
                  </a:lnTo>
                  <a:lnTo>
                    <a:pt x="73075" y="807082"/>
                  </a:lnTo>
                </a:path>
              </a:pathLst>
            </a:custGeom>
            <a:ln w="3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592017" y="979350"/>
            <a:ext cx="73025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25" dirty="0">
                <a:latin typeface="Tahoma"/>
                <a:cs typeface="Tahoma"/>
              </a:rPr>
              <a:t>13</a:t>
            </a:r>
            <a:endParaRPr sz="3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35616" y="1069032"/>
            <a:ext cx="73025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25" dirty="0">
                <a:latin typeface="Tahoma"/>
                <a:cs typeface="Tahoma"/>
              </a:rPr>
              <a:t>12</a:t>
            </a:r>
            <a:endParaRPr sz="35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90976" y="1338052"/>
            <a:ext cx="4953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0" dirty="0">
                <a:latin typeface="Tahoma"/>
                <a:cs typeface="Tahoma"/>
              </a:rPr>
              <a:t>9</a:t>
            </a:r>
            <a:endParaRPr sz="35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52726" y="1211847"/>
            <a:ext cx="106045" cy="6089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695"/>
              </a:lnSpc>
            </a:pPr>
            <a:r>
              <a:rPr sz="600" dirty="0">
                <a:latin typeface="Arial MT"/>
                <a:cs typeface="Arial MT"/>
              </a:rPr>
              <a:t>Number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of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UAVs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5742" y="2651099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26542" y="2679559"/>
            <a:ext cx="80073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Findings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5742" y="2862077"/>
            <a:ext cx="5608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25%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higher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SP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profit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proposed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scheme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0" y="3128962"/>
            <a:ext cx="5760085" cy="111125"/>
            <a:chOff x="0" y="3128962"/>
            <a:chExt cx="5760085" cy="111125"/>
          </a:xfrm>
        </p:grpSpPr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17" y="3128962"/>
              <a:ext cx="59601" cy="5960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0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85" y="0"/>
                  </a:moveTo>
                  <a:lnTo>
                    <a:pt x="12" y="0"/>
                  </a:lnTo>
                  <a:lnTo>
                    <a:pt x="12" y="91376"/>
                  </a:lnTo>
                  <a:lnTo>
                    <a:pt x="1919985" y="91376"/>
                  </a:lnTo>
                  <a:lnTo>
                    <a:pt x="1919985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19985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39959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79590" y="3092401"/>
            <a:ext cx="1557655" cy="13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75"/>
              </a:lnSpc>
            </a:pPr>
            <a:r>
              <a:rPr sz="1000" b="1" dirty="0">
                <a:latin typeface="Arial"/>
                <a:cs typeface="Arial"/>
              </a:rPr>
              <a:t>25%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fewer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UAVs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required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931265" y="3095058"/>
            <a:ext cx="1685289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45"/>
              </a:lnSpc>
            </a:pPr>
            <a:r>
              <a:rPr sz="1500" spc="-37" baseline="8333" dirty="0">
                <a:latin typeface="Tahoma"/>
                <a:cs typeface="Tahoma"/>
              </a:rPr>
              <a:t>red</a:t>
            </a:r>
            <a:r>
              <a:rPr sz="1500" spc="7" baseline="8333" dirty="0">
                <a:latin typeface="Tahoma"/>
                <a:cs typeface="Tahoma"/>
              </a:rPr>
              <a:t> </a:t>
            </a:r>
            <a:r>
              <a:rPr sz="1500" baseline="8333" dirty="0">
                <a:latin typeface="Tahoma"/>
                <a:cs typeface="Tahoma"/>
              </a:rPr>
              <a:t>to</a:t>
            </a:r>
            <a:r>
              <a:rPr sz="1500" spc="7" baseline="8333" dirty="0">
                <a:latin typeface="Tahoma"/>
                <a:cs typeface="Tahoma"/>
              </a:rPr>
              <a:t> </a:t>
            </a:r>
            <a:r>
              <a:rPr sz="1500" spc="-37" baseline="8333" dirty="0">
                <a:latin typeface="Tahoma"/>
                <a:cs typeface="Tahoma"/>
                <a:hlinkClick r:id="rId5" action="ppaction://hlinksldjump"/>
              </a:rPr>
              <a:t>b</a:t>
            </a:r>
            <a:r>
              <a:rPr sz="1500" spc="-75" baseline="8333" dirty="0">
                <a:latin typeface="Tahoma"/>
                <a:cs typeface="Tahoma"/>
                <a:hlinkClick r:id="rId5" action="ppaction://hlinksldjump"/>
              </a:rPr>
              <a:t>enchm</a:t>
            </a:r>
            <a:r>
              <a:rPr sz="1500" spc="-127" baseline="8333" dirty="0">
                <a:latin typeface="Tahoma"/>
                <a:cs typeface="Tahoma"/>
                <a:hlinkClick r:id="rId5" action="ppaction://hlinksldjump"/>
              </a:rPr>
              <a:t>a</a:t>
            </a:r>
            <a:r>
              <a:rPr sz="1500" spc="-75" baseline="8333" dirty="0">
                <a:latin typeface="Tahoma"/>
                <a:cs typeface="Tahoma"/>
                <a:hlinkClick r:id="rId5" action="ppaction://hlinksldjump"/>
              </a:rPr>
              <a:t>rk</a:t>
            </a:r>
            <a:r>
              <a:rPr sz="1500" spc="-16620" baseline="8333" dirty="0">
                <a:latin typeface="Tahoma"/>
                <a:cs typeface="Tahoma"/>
                <a:hlinkClick r:id="rId5" action="ppaction://hlinksldjump"/>
              </a:rPr>
              <a:t>s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5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Vol.</a:t>
            </a:r>
            <a:r>
              <a:rPr sz="500" spc="5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22,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No.</a:t>
            </a:r>
            <a:r>
              <a:rPr sz="500" spc="6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1,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1935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1500" spc="300" baseline="8333" dirty="0">
                <a:latin typeface="Tahoma"/>
                <a:cs typeface="Tahoma"/>
              </a:rPr>
              <a:t>ompa</a:t>
            </a:r>
            <a:endParaRPr sz="1500" baseline="8333" dirty="0">
              <a:latin typeface="Tahoma"/>
              <a:cs typeface="Tahoma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2487155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21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Conclusion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20" dirty="0"/>
              <a:t>Future</a:t>
            </a:r>
            <a:r>
              <a:rPr spc="-5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86168"/>
            <a:ext cx="11201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Contributions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729" y="514641"/>
            <a:ext cx="5659755" cy="1165225"/>
            <a:chOff x="75729" y="514641"/>
            <a:chExt cx="5659755" cy="11652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514641"/>
              <a:ext cx="5608955" cy="1165225"/>
            </a:xfrm>
            <a:custGeom>
              <a:avLst/>
              <a:gdLst/>
              <a:ahLst/>
              <a:cxnLst/>
              <a:rect l="l" t="t" r="r" b="b"/>
              <a:pathLst>
                <a:path w="5608955" h="1165225">
                  <a:moveTo>
                    <a:pt x="5608620" y="0"/>
                  </a:moveTo>
                  <a:lnTo>
                    <a:pt x="0" y="0"/>
                  </a:lnTo>
                  <a:lnTo>
                    <a:pt x="0" y="1165226"/>
                  </a:lnTo>
                  <a:lnTo>
                    <a:pt x="5608620" y="116522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687703"/>
              <a:ext cx="5608955" cy="941705"/>
            </a:xfrm>
            <a:custGeom>
              <a:avLst/>
              <a:gdLst/>
              <a:ahLst/>
              <a:cxnLst/>
              <a:rect l="l" t="t" r="r" b="b"/>
              <a:pathLst>
                <a:path w="5608955" h="941705">
                  <a:moveTo>
                    <a:pt x="5608620" y="0"/>
                  </a:moveTo>
                  <a:lnTo>
                    <a:pt x="0" y="0"/>
                  </a:lnTo>
                  <a:lnTo>
                    <a:pt x="0" y="890563"/>
                  </a:lnTo>
                  <a:lnTo>
                    <a:pt x="4008" y="910288"/>
                  </a:lnTo>
                  <a:lnTo>
                    <a:pt x="14922" y="926441"/>
                  </a:lnTo>
                  <a:lnTo>
                    <a:pt x="31075" y="937355"/>
                  </a:lnTo>
                  <a:lnTo>
                    <a:pt x="50800" y="941363"/>
                  </a:lnTo>
                  <a:lnTo>
                    <a:pt x="5557819" y="941363"/>
                  </a:lnTo>
                  <a:lnTo>
                    <a:pt x="5577544" y="937355"/>
                  </a:lnTo>
                  <a:lnTo>
                    <a:pt x="5593697" y="926441"/>
                  </a:lnTo>
                  <a:lnTo>
                    <a:pt x="5604611" y="910288"/>
                  </a:lnTo>
                  <a:lnTo>
                    <a:pt x="5608620" y="89056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738746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928535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118323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1308112"/>
              <a:ext cx="59601" cy="596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705" y="1497901"/>
              <a:ext cx="59601" cy="5960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6877" y="623690"/>
            <a:ext cx="505396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10" dirty="0">
                <a:latin typeface="Tahoma"/>
                <a:cs typeface="Tahoma"/>
              </a:rPr>
              <a:t>Novel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Arial"/>
                <a:cs typeface="Arial"/>
              </a:rPr>
              <a:t>UAV-</a:t>
            </a:r>
            <a:r>
              <a:rPr sz="1000" b="1" spc="-45" dirty="0">
                <a:latin typeface="Arial"/>
                <a:cs typeface="Arial"/>
              </a:rPr>
              <a:t>assisted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MEC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architecture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urban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environments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First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addressing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Arial"/>
                <a:cs typeface="Arial"/>
              </a:rPr>
              <a:t>three-</a:t>
            </a:r>
            <a:r>
              <a:rPr sz="1000" b="1" spc="-20" dirty="0">
                <a:latin typeface="Arial"/>
                <a:cs typeface="Arial"/>
              </a:rPr>
              <a:t>sided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collaboration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(IoT-UAV-</a:t>
            </a:r>
            <a:r>
              <a:rPr sz="1000" dirty="0">
                <a:latin typeface="Tahoma"/>
                <a:cs typeface="Tahoma"/>
              </a:rPr>
              <a:t>ES)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SP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profit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maximization </a:t>
            </a:r>
            <a:r>
              <a:rPr sz="1000" b="1" dirty="0">
                <a:latin typeface="Arial"/>
                <a:cs typeface="Arial"/>
              </a:rPr>
              <a:t>R-TMSC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 </a:t>
            </a:r>
            <a:r>
              <a:rPr sz="1000" spc="-30" dirty="0">
                <a:latin typeface="Tahoma"/>
                <a:cs typeface="Tahoma"/>
              </a:rPr>
              <a:t>stable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10" dirty="0">
                <a:latin typeface="Tahoma"/>
                <a:cs typeface="Tahoma"/>
              </a:rPr>
              <a:t> cyclic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preferences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K-</a:t>
            </a:r>
            <a:r>
              <a:rPr sz="1000" b="1" spc="-40" dirty="0">
                <a:latin typeface="Arial"/>
                <a:cs typeface="Arial"/>
              </a:rPr>
              <a:t>means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optimal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topology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45" dirty="0">
                <a:latin typeface="Tahoma"/>
                <a:cs typeface="Tahoma"/>
              </a:rPr>
              <a:t>Comprehensive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evaluation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showing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Arial"/>
                <a:cs typeface="Arial"/>
              </a:rPr>
              <a:t>significant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performance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improvements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17"/>
          <p:cNvGrpSpPr/>
          <p:nvPr/>
        </p:nvGrpSpPr>
        <p:grpSpPr>
          <a:xfrm>
            <a:off x="63500" y="1799953"/>
            <a:ext cx="5659755" cy="982980"/>
            <a:chOff x="75729" y="1799953"/>
            <a:chExt cx="5659755" cy="98298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928736"/>
              <a:ext cx="5608620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530" y="1799953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729" y="1973015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2031098"/>
              <a:ext cx="59601" cy="596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2220887"/>
              <a:ext cx="59601" cy="596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2410675"/>
              <a:ext cx="59601" cy="596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2600451"/>
              <a:ext cx="59601" cy="5960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5729" y="514641"/>
            <a:ext cx="5659755" cy="1165225"/>
            <a:chOff x="75729" y="514641"/>
            <a:chExt cx="5659755" cy="11652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514641"/>
              <a:ext cx="5608955" cy="1165225"/>
            </a:xfrm>
            <a:custGeom>
              <a:avLst/>
              <a:gdLst/>
              <a:ahLst/>
              <a:cxnLst/>
              <a:rect l="l" t="t" r="r" b="b"/>
              <a:pathLst>
                <a:path w="5608955" h="1165225">
                  <a:moveTo>
                    <a:pt x="5608620" y="0"/>
                  </a:moveTo>
                  <a:lnTo>
                    <a:pt x="0" y="0"/>
                  </a:lnTo>
                  <a:lnTo>
                    <a:pt x="0" y="1165226"/>
                  </a:lnTo>
                  <a:lnTo>
                    <a:pt x="5608620" y="116522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687703"/>
              <a:ext cx="5608955" cy="941705"/>
            </a:xfrm>
            <a:custGeom>
              <a:avLst/>
              <a:gdLst/>
              <a:ahLst/>
              <a:cxnLst/>
              <a:rect l="l" t="t" r="r" b="b"/>
              <a:pathLst>
                <a:path w="5608955" h="941705">
                  <a:moveTo>
                    <a:pt x="5608620" y="0"/>
                  </a:moveTo>
                  <a:lnTo>
                    <a:pt x="0" y="0"/>
                  </a:lnTo>
                  <a:lnTo>
                    <a:pt x="0" y="890563"/>
                  </a:lnTo>
                  <a:lnTo>
                    <a:pt x="4008" y="910288"/>
                  </a:lnTo>
                  <a:lnTo>
                    <a:pt x="14922" y="926441"/>
                  </a:lnTo>
                  <a:lnTo>
                    <a:pt x="31075" y="937355"/>
                  </a:lnTo>
                  <a:lnTo>
                    <a:pt x="50800" y="941363"/>
                  </a:lnTo>
                  <a:lnTo>
                    <a:pt x="5557819" y="941363"/>
                  </a:lnTo>
                  <a:lnTo>
                    <a:pt x="5577544" y="937355"/>
                  </a:lnTo>
                  <a:lnTo>
                    <a:pt x="5593697" y="926441"/>
                  </a:lnTo>
                  <a:lnTo>
                    <a:pt x="5604611" y="910288"/>
                  </a:lnTo>
                  <a:lnTo>
                    <a:pt x="5608620" y="89056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705" y="738746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705" y="928535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705" y="1118323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6705" y="1308112"/>
              <a:ext cx="59601" cy="596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6705" y="1497901"/>
              <a:ext cx="59601" cy="5960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Conclusion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20" dirty="0"/>
              <a:t>Future</a:t>
            </a:r>
            <a:r>
              <a:rPr spc="-5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486168"/>
            <a:ext cx="11201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Contributions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877" y="623690"/>
            <a:ext cx="505396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10" dirty="0">
                <a:latin typeface="Tahoma"/>
                <a:cs typeface="Tahoma"/>
              </a:rPr>
              <a:t>Novel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Arial"/>
                <a:cs typeface="Arial"/>
              </a:rPr>
              <a:t>UAV-</a:t>
            </a:r>
            <a:r>
              <a:rPr sz="1000" b="1" spc="-45" dirty="0">
                <a:latin typeface="Arial"/>
                <a:cs typeface="Arial"/>
              </a:rPr>
              <a:t>assisted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MEC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architecture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urban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environments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First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addressing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Arial"/>
                <a:cs typeface="Arial"/>
              </a:rPr>
              <a:t>three-</a:t>
            </a:r>
            <a:r>
              <a:rPr sz="1000" b="1" spc="-20" dirty="0">
                <a:latin typeface="Arial"/>
                <a:cs typeface="Arial"/>
              </a:rPr>
              <a:t>sided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collaboration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(IoT-UAV-</a:t>
            </a:r>
            <a:r>
              <a:rPr sz="1000" dirty="0">
                <a:latin typeface="Tahoma"/>
                <a:cs typeface="Tahoma"/>
              </a:rPr>
              <a:t>ES)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SP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profit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maximization </a:t>
            </a:r>
            <a:r>
              <a:rPr sz="1000" b="1" dirty="0">
                <a:latin typeface="Arial"/>
                <a:cs typeface="Arial"/>
              </a:rPr>
              <a:t>R-TMSC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 </a:t>
            </a:r>
            <a:r>
              <a:rPr sz="1000" spc="-30" dirty="0">
                <a:latin typeface="Tahoma"/>
                <a:cs typeface="Tahoma"/>
              </a:rPr>
              <a:t>stable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10" dirty="0">
                <a:latin typeface="Tahoma"/>
                <a:cs typeface="Tahoma"/>
              </a:rPr>
              <a:t> cyclic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preferences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K-</a:t>
            </a:r>
            <a:r>
              <a:rPr sz="1000" b="1" spc="-40" dirty="0">
                <a:latin typeface="Arial"/>
                <a:cs typeface="Arial"/>
              </a:rPr>
              <a:t>means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optimal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topology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45" dirty="0">
                <a:latin typeface="Tahoma"/>
                <a:cs typeface="Tahoma"/>
              </a:rPr>
              <a:t>Comprehensive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evaluation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showing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Arial"/>
                <a:cs typeface="Arial"/>
              </a:rPr>
              <a:t>significant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performance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improvements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729" y="174302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6530" y="1771484"/>
            <a:ext cx="14408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Highlights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530" y="1799953"/>
            <a:ext cx="5608955" cy="98298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endParaRPr sz="1000">
              <a:latin typeface="Times New Roman"/>
              <a:cs typeface="Times New Roman"/>
            </a:endParaRPr>
          </a:p>
          <a:p>
            <a:pPr marL="399415" indent="-146685">
              <a:lnSpc>
                <a:spcPct val="100000"/>
              </a:lnSpc>
              <a:spcBef>
                <a:spcPts val="5"/>
              </a:spcBef>
              <a:buClr>
                <a:srgbClr val="00994C"/>
              </a:buClr>
              <a:buFont typeface="Segoe UI Symbol"/>
              <a:buChar char="✓"/>
              <a:tabLst>
                <a:tab pos="399415" algn="l"/>
              </a:tabLst>
            </a:pPr>
            <a:r>
              <a:rPr sz="1000" spc="-85" dirty="0">
                <a:latin typeface="Tahoma"/>
                <a:cs typeface="Tahoma"/>
              </a:rPr>
              <a:t>19%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more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>
              <a:latin typeface="Tahoma"/>
              <a:cs typeface="Tahoma"/>
            </a:endParaRPr>
          </a:p>
          <a:p>
            <a:pPr marL="399415" indent="-146685">
              <a:lnSpc>
                <a:spcPct val="100000"/>
              </a:lnSpc>
              <a:spcBef>
                <a:spcPts val="290"/>
              </a:spcBef>
              <a:buClr>
                <a:srgbClr val="00994C"/>
              </a:buClr>
              <a:buFont typeface="Segoe UI Symbol"/>
              <a:buChar char="✓"/>
              <a:tabLst>
                <a:tab pos="399415" algn="l"/>
              </a:tabLst>
            </a:pPr>
            <a:r>
              <a:rPr sz="1000" spc="-85" dirty="0">
                <a:latin typeface="Tahoma"/>
                <a:cs typeface="Tahoma"/>
              </a:rPr>
              <a:t>25%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higher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SP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profit</a:t>
            </a:r>
            <a:endParaRPr sz="1000">
              <a:latin typeface="Tahoma"/>
              <a:cs typeface="Tahoma"/>
            </a:endParaRPr>
          </a:p>
          <a:p>
            <a:pPr marL="3994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399415" algn="l"/>
              </a:tabLst>
            </a:pPr>
            <a:r>
              <a:rPr sz="1000" spc="-85" dirty="0">
                <a:latin typeface="Tahoma"/>
                <a:cs typeface="Tahoma"/>
              </a:rPr>
              <a:t>12%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better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user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satisfaction</a:t>
            </a:r>
            <a:endParaRPr sz="1000">
              <a:latin typeface="Tahoma"/>
              <a:cs typeface="Tahoma"/>
            </a:endParaRPr>
          </a:p>
          <a:p>
            <a:pPr marL="3994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399415" algn="l"/>
              </a:tabLst>
            </a:pPr>
            <a:r>
              <a:rPr sz="1000" spc="-85" dirty="0">
                <a:latin typeface="Tahoma"/>
                <a:cs typeface="Tahoma"/>
              </a:rPr>
              <a:t>25%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fewer</a:t>
            </a:r>
            <a:r>
              <a:rPr sz="1000" dirty="0">
                <a:latin typeface="Tahoma"/>
                <a:cs typeface="Tahoma"/>
              </a:rPr>
              <a:t> UAVs </a:t>
            </a:r>
            <a:r>
              <a:rPr sz="1000" spc="-10" dirty="0">
                <a:latin typeface="Tahoma"/>
                <a:cs typeface="Tahoma"/>
              </a:rPr>
              <a:t>required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7" name="object 2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534174" y="3151037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32"/>
          <p:cNvGrpSpPr/>
          <p:nvPr/>
        </p:nvGrpSpPr>
        <p:grpSpPr>
          <a:xfrm>
            <a:off x="75729" y="1799953"/>
            <a:ext cx="5659755" cy="982980"/>
            <a:chOff x="75729" y="1799953"/>
            <a:chExt cx="5659755" cy="98298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928736"/>
              <a:ext cx="5608620" cy="5060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6530" y="1799953"/>
              <a:ext cx="5608955" cy="982980"/>
            </a:xfrm>
            <a:custGeom>
              <a:avLst/>
              <a:gdLst/>
              <a:ahLst/>
              <a:cxnLst/>
              <a:rect l="l" t="t" r="r" b="b"/>
              <a:pathLst>
                <a:path w="5608955" h="982980">
                  <a:moveTo>
                    <a:pt x="5608620" y="0"/>
                  </a:moveTo>
                  <a:lnTo>
                    <a:pt x="0" y="0"/>
                  </a:lnTo>
                  <a:lnTo>
                    <a:pt x="0" y="982465"/>
                  </a:lnTo>
                  <a:lnTo>
                    <a:pt x="5608620" y="98246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729" y="1973015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2031098"/>
              <a:ext cx="59601" cy="5960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2220887"/>
              <a:ext cx="59601" cy="5960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2410675"/>
              <a:ext cx="59601" cy="596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2600451"/>
              <a:ext cx="59601" cy="59601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75729" y="514641"/>
            <a:ext cx="5659755" cy="1165225"/>
            <a:chOff x="75729" y="514641"/>
            <a:chExt cx="5659755" cy="116522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43420"/>
              <a:ext cx="5608620" cy="506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6530" y="514641"/>
              <a:ext cx="5608955" cy="1165225"/>
            </a:xfrm>
            <a:custGeom>
              <a:avLst/>
              <a:gdLst/>
              <a:ahLst/>
              <a:cxnLst/>
              <a:rect l="l" t="t" r="r" b="b"/>
              <a:pathLst>
                <a:path w="5608955" h="1165225">
                  <a:moveTo>
                    <a:pt x="5608620" y="0"/>
                  </a:moveTo>
                  <a:lnTo>
                    <a:pt x="0" y="0"/>
                  </a:lnTo>
                  <a:lnTo>
                    <a:pt x="0" y="1165226"/>
                  </a:lnTo>
                  <a:lnTo>
                    <a:pt x="5608620" y="116522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729" y="687703"/>
              <a:ext cx="5608955" cy="941705"/>
            </a:xfrm>
            <a:custGeom>
              <a:avLst/>
              <a:gdLst/>
              <a:ahLst/>
              <a:cxnLst/>
              <a:rect l="l" t="t" r="r" b="b"/>
              <a:pathLst>
                <a:path w="5608955" h="941705">
                  <a:moveTo>
                    <a:pt x="5608620" y="0"/>
                  </a:moveTo>
                  <a:lnTo>
                    <a:pt x="0" y="0"/>
                  </a:lnTo>
                  <a:lnTo>
                    <a:pt x="0" y="890563"/>
                  </a:lnTo>
                  <a:lnTo>
                    <a:pt x="4008" y="910288"/>
                  </a:lnTo>
                  <a:lnTo>
                    <a:pt x="14922" y="926441"/>
                  </a:lnTo>
                  <a:lnTo>
                    <a:pt x="31075" y="937355"/>
                  </a:lnTo>
                  <a:lnTo>
                    <a:pt x="50800" y="941363"/>
                  </a:lnTo>
                  <a:lnTo>
                    <a:pt x="5557819" y="941363"/>
                  </a:lnTo>
                  <a:lnTo>
                    <a:pt x="5577544" y="937355"/>
                  </a:lnTo>
                  <a:lnTo>
                    <a:pt x="5593697" y="926441"/>
                  </a:lnTo>
                  <a:lnTo>
                    <a:pt x="5604611" y="910288"/>
                  </a:lnTo>
                  <a:lnTo>
                    <a:pt x="5608620" y="89056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705" y="738746"/>
              <a:ext cx="59601" cy="5960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705" y="928535"/>
              <a:ext cx="59601" cy="5960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705" y="1118323"/>
              <a:ext cx="59601" cy="5960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6705" y="1308112"/>
              <a:ext cx="59601" cy="5960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6705" y="1497901"/>
              <a:ext cx="59601" cy="59601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0" y="2902511"/>
            <a:ext cx="5735320" cy="337820"/>
            <a:chOff x="0" y="2902511"/>
            <a:chExt cx="5735320" cy="337820"/>
          </a:xfrm>
        </p:grpSpPr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729" y="3020758"/>
              <a:ext cx="5608620" cy="506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26530" y="2902511"/>
              <a:ext cx="5608955" cy="337820"/>
            </a:xfrm>
            <a:custGeom>
              <a:avLst/>
              <a:gdLst/>
              <a:ahLst/>
              <a:cxnLst/>
              <a:rect l="l" t="t" r="r" b="b"/>
              <a:pathLst>
                <a:path w="5608955" h="337819">
                  <a:moveTo>
                    <a:pt x="5608620" y="0"/>
                  </a:moveTo>
                  <a:lnTo>
                    <a:pt x="0" y="0"/>
                  </a:lnTo>
                  <a:lnTo>
                    <a:pt x="0" y="337487"/>
                  </a:lnTo>
                  <a:lnTo>
                    <a:pt x="5608620" y="337487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729" y="3065029"/>
              <a:ext cx="5608955" cy="175260"/>
            </a:xfrm>
            <a:custGeom>
              <a:avLst/>
              <a:gdLst/>
              <a:ahLst/>
              <a:cxnLst/>
              <a:rect l="l" t="t" r="r" b="b"/>
              <a:pathLst>
                <a:path w="5608955" h="175260">
                  <a:moveTo>
                    <a:pt x="5608620" y="0"/>
                  </a:moveTo>
                  <a:lnTo>
                    <a:pt x="0" y="0"/>
                  </a:lnTo>
                  <a:lnTo>
                    <a:pt x="0" y="174969"/>
                  </a:lnTo>
                  <a:lnTo>
                    <a:pt x="5608620" y="174969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6705" y="3116071"/>
              <a:ext cx="59601" cy="5960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0" y="3148622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/>
          <p:nvPr/>
        </p:nvSpPr>
        <p:spPr>
          <a:xfrm>
            <a:off x="4221087" y="306384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41470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9272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412450" y="3051006"/>
            <a:ext cx="203200" cy="55880"/>
            <a:chOff x="4412450" y="3051006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4475618" y="305353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12450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683417" y="3059886"/>
            <a:ext cx="203200" cy="48260"/>
            <a:chOff x="4683417" y="3059886"/>
            <a:chExt cx="203200" cy="48260"/>
          </a:xfrm>
        </p:grpSpPr>
        <p:sp>
          <p:nvSpPr>
            <p:cNvPr id="9" name="object 9"/>
            <p:cNvSpPr/>
            <p:nvPr/>
          </p:nvSpPr>
          <p:spPr>
            <a:xfrm>
              <a:off x="4683417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59618" y="307893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12700" y="0"/>
                  </a:moveTo>
                  <a:lnTo>
                    <a:pt x="50800" y="0"/>
                  </a:lnTo>
                </a:path>
                <a:path w="50800" h="25400">
                  <a:moveTo>
                    <a:pt x="0" y="12700"/>
                  </a:moveTo>
                  <a:lnTo>
                    <a:pt x="381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CCD6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954397" y="3059886"/>
            <a:ext cx="203200" cy="38100"/>
            <a:chOff x="4954397" y="3059886"/>
            <a:chExt cx="203200" cy="38100"/>
          </a:xfrm>
        </p:grpSpPr>
        <p:sp>
          <p:nvSpPr>
            <p:cNvPr id="12" name="object 12"/>
            <p:cNvSpPr/>
            <p:nvPr/>
          </p:nvSpPr>
          <p:spPr>
            <a:xfrm>
              <a:off x="5043298" y="307893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4397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493813" y="3051006"/>
            <a:ext cx="223520" cy="55880"/>
            <a:chOff x="5493813" y="3051006"/>
            <a:chExt cx="223520" cy="55880"/>
          </a:xfrm>
        </p:grpSpPr>
        <p:sp>
          <p:nvSpPr>
            <p:cNvPr id="15" name="object 15"/>
            <p:cNvSpPr/>
            <p:nvPr/>
          </p:nvSpPr>
          <p:spPr>
            <a:xfrm>
              <a:off x="5575961" y="30575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96344" y="3053536"/>
              <a:ext cx="218440" cy="50800"/>
            </a:xfrm>
            <a:custGeom>
              <a:avLst/>
              <a:gdLst/>
              <a:ahLst/>
              <a:cxnLst/>
              <a:rect l="l" t="t" r="r" b="b"/>
              <a:pathLst>
                <a:path w="218439" h="50800">
                  <a:moveTo>
                    <a:pt x="25400" y="50800"/>
                  </a:moveTo>
                  <a:lnTo>
                    <a:pt x="35160" y="48796"/>
                  </a:lnTo>
                  <a:lnTo>
                    <a:pt x="43248" y="43339"/>
                  </a:lnTo>
                  <a:lnTo>
                    <a:pt x="48762" y="35262"/>
                  </a:lnTo>
                  <a:lnTo>
                    <a:pt x="50800" y="25400"/>
                  </a:lnTo>
                  <a:lnTo>
                    <a:pt x="48796" y="15537"/>
                  </a:lnTo>
                  <a:lnTo>
                    <a:pt x="43339" y="7461"/>
                  </a:lnTo>
                  <a:lnTo>
                    <a:pt x="35262" y="2004"/>
                  </a:lnTo>
                  <a:lnTo>
                    <a:pt x="25400" y="0"/>
                  </a:lnTo>
                  <a:lnTo>
                    <a:pt x="15537" y="2004"/>
                  </a:lnTo>
                  <a:lnTo>
                    <a:pt x="7461" y="7461"/>
                  </a:lnTo>
                  <a:lnTo>
                    <a:pt x="2004" y="15537"/>
                  </a:lnTo>
                  <a:lnTo>
                    <a:pt x="0" y="25400"/>
                  </a:lnTo>
                </a:path>
                <a:path w="218439" h="50800">
                  <a:moveTo>
                    <a:pt x="177802" y="50800"/>
                  </a:moveTo>
                  <a:lnTo>
                    <a:pt x="167939" y="48796"/>
                  </a:lnTo>
                  <a:lnTo>
                    <a:pt x="159863" y="43339"/>
                  </a:lnTo>
                  <a:lnTo>
                    <a:pt x="154406" y="35262"/>
                  </a:lnTo>
                  <a:lnTo>
                    <a:pt x="152401" y="25400"/>
                  </a:lnTo>
                  <a:lnTo>
                    <a:pt x="154406" y="15537"/>
                  </a:lnTo>
                  <a:lnTo>
                    <a:pt x="159863" y="7461"/>
                  </a:lnTo>
                  <a:lnTo>
                    <a:pt x="167939" y="2004"/>
                  </a:lnTo>
                  <a:lnTo>
                    <a:pt x="177802" y="0"/>
                  </a:lnTo>
                  <a:lnTo>
                    <a:pt x="187664" y="2004"/>
                  </a:lnTo>
                  <a:lnTo>
                    <a:pt x="195741" y="7461"/>
                  </a:lnTo>
                  <a:lnTo>
                    <a:pt x="201198" y="15537"/>
                  </a:lnTo>
                  <a:lnTo>
                    <a:pt x="203202" y="25400"/>
                  </a:lnTo>
                </a:path>
                <a:path w="218439" h="50800">
                  <a:moveTo>
                    <a:pt x="218442" y="17780"/>
                  </a:moveTo>
                  <a:lnTo>
                    <a:pt x="203202" y="30480"/>
                  </a:lnTo>
                  <a:lnTo>
                    <a:pt x="187962" y="177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Conclusion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20" dirty="0"/>
              <a:t>Future</a:t>
            </a:r>
            <a:r>
              <a:rPr spc="-50" dirty="0"/>
              <a:t> </a:t>
            </a:r>
            <a:r>
              <a:rPr spc="-20" dirty="0"/>
              <a:t>Work</a:t>
            </a:r>
          </a:p>
        </p:txBody>
      </p:sp>
      <p:sp>
        <p:nvSpPr>
          <p:cNvPr id="19" name="object 19"/>
          <p:cNvSpPr/>
          <p:nvPr/>
        </p:nvSpPr>
        <p:spPr>
          <a:xfrm>
            <a:off x="75729" y="45770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6530" y="486168"/>
            <a:ext cx="11201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Contributions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729" y="1743023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6530" y="1771484"/>
            <a:ext cx="14408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Highlights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729" y="2845586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60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26530" y="2874034"/>
            <a:ext cx="16681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Future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Research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Directions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31252" y="3163737"/>
            <a:ext cx="168528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5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Vol.</a:t>
            </a:r>
            <a:r>
              <a:rPr sz="500" spc="6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22,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No.</a:t>
            </a:r>
            <a:r>
              <a:rPr sz="500" spc="6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1,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Feb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ruary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r>
              <a:rPr sz="5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919973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-38100" y="3072655"/>
            <a:ext cx="3336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Subhrajit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Bari</a:t>
            </a:r>
            <a:r>
              <a:rPr sz="1500" spc="-225" baseline="13888" dirty="0">
                <a:latin typeface="Tahoma"/>
                <a:cs typeface="Tahoma"/>
              </a:rPr>
              <a:t>E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ck</a:t>
            </a:r>
            <a:r>
              <a:rPr sz="1500" spc="-225" baseline="13888" dirty="0">
                <a:latin typeface="Tahoma"/>
                <a:cs typeface="Tahoma"/>
              </a:rPr>
              <a:t>x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500" spc="-225" baseline="13888" dirty="0">
                <a:latin typeface="Tahoma"/>
                <a:cs typeface="Tahoma"/>
              </a:rPr>
              <a:t>t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500" spc="-225" baseline="13888" dirty="0">
                <a:latin typeface="Tahoma"/>
                <a:cs typeface="Tahoma"/>
              </a:rPr>
              <a:t>e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500" spc="-225" baseline="13888" dirty="0">
                <a:latin typeface="Tahoma"/>
                <a:cs typeface="Tahoma"/>
              </a:rPr>
              <a:t>n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he</a:t>
            </a:r>
            <a:r>
              <a:rPr sz="1500" spc="-225" baseline="13888" dirty="0">
                <a:latin typeface="Tahoma"/>
                <a:cs typeface="Tahoma"/>
              </a:rPr>
              <a:t>s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500" spc="-225" baseline="13888" dirty="0">
                <a:latin typeface="Tahoma"/>
                <a:cs typeface="Tahoma"/>
              </a:rPr>
              <a:t>i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500" spc="-225" baseline="13888" dirty="0">
                <a:latin typeface="Tahoma"/>
                <a:cs typeface="Tahoma"/>
              </a:rPr>
              <a:t>o</a:t>
            </a:r>
            <a:r>
              <a:rPr sz="500" spc="-1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8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500" spc="-397" baseline="13888" dirty="0">
                <a:latin typeface="Tahoma"/>
                <a:cs typeface="Tahoma"/>
              </a:rPr>
              <a:t>n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500" spc="-12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500" spc="-390" baseline="13888" dirty="0">
                <a:latin typeface="Tahoma"/>
                <a:cs typeface="Tahoma"/>
              </a:rPr>
              <a:t>t</a:t>
            </a:r>
            <a:r>
              <a:rPr sz="500" spc="-3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500" spc="-810" baseline="13888" dirty="0">
                <a:latin typeface="Tahoma"/>
                <a:cs typeface="Tahoma"/>
              </a:rPr>
              <a:t>o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</a:rPr>
              <a:t>al</a:t>
            </a:r>
            <a:r>
              <a:rPr sz="500" spc="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500" b="1" spc="-630" baseline="13888" dirty="0">
                <a:latin typeface="Arial"/>
                <a:cs typeface="Arial"/>
              </a:rPr>
              <a:t>d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500" spc="-9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500" b="1" spc="-697" baseline="13888" dirty="0">
                <a:latin typeface="Arial"/>
                <a:cs typeface="Arial"/>
              </a:rPr>
              <a:t>y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500" spc="-204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500" b="1" spc="-277" baseline="13888" dirty="0">
                <a:latin typeface="Arial"/>
                <a:cs typeface="Arial"/>
              </a:rPr>
              <a:t>n</a:t>
            </a:r>
            <a:r>
              <a:rPr sz="500" spc="-17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500" b="1" spc="-585" baseline="13888" dirty="0">
                <a:latin typeface="Arial"/>
                <a:cs typeface="Arial"/>
              </a:rPr>
              <a:t>a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500" spc="-8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500" b="1" spc="-1237" baseline="13888" dirty="0">
                <a:latin typeface="Arial"/>
                <a:cs typeface="Arial"/>
              </a:rPr>
              <a:t>m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nsa</a:t>
            </a:r>
            <a:r>
              <a:rPr sz="500" spc="-17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500" b="1" spc="-150" baseline="13888" dirty="0">
                <a:latin typeface="Arial"/>
                <a:cs typeface="Arial"/>
              </a:rPr>
              <a:t>i</a:t>
            </a:r>
            <a:r>
              <a:rPr sz="500" spc="-10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500" b="1" spc="-660" baseline="13888" dirty="0">
                <a:latin typeface="Arial"/>
                <a:cs typeface="Arial"/>
              </a:rPr>
              <a:t>c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ion</a:t>
            </a:r>
            <a:r>
              <a:rPr sz="500" spc="-14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500" b="1" spc="-52" baseline="13888" dirty="0">
                <a:latin typeface="Arial"/>
                <a:cs typeface="Arial"/>
              </a:rPr>
              <a:t>I</a:t>
            </a:r>
            <a:r>
              <a:rPr sz="500" spc="-254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500" b="1" spc="-540" baseline="13888" dirty="0">
                <a:latin typeface="Arial"/>
                <a:cs typeface="Arial"/>
              </a:rPr>
              <a:t>o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500" b="1" spc="-757" baseline="13888" dirty="0">
                <a:latin typeface="Arial"/>
                <a:cs typeface="Arial"/>
              </a:rPr>
              <a:t>T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Ne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500" spc="-204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1500" b="1" spc="-1080" baseline="13888" dirty="0">
                <a:latin typeface="Arial"/>
                <a:cs typeface="Arial"/>
              </a:rPr>
              <a:t>m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500" spc="-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5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b="1" spc="-30" baseline="13888" dirty="0">
                <a:latin typeface="Arial"/>
                <a:cs typeface="Arial"/>
              </a:rPr>
              <a:t>obility</a:t>
            </a:r>
            <a:r>
              <a:rPr sz="1500" b="1" spc="300" baseline="13888" dirty="0">
                <a:latin typeface="Arial"/>
                <a:cs typeface="Arial"/>
              </a:rPr>
              <a:t> </a:t>
            </a:r>
            <a:r>
              <a:rPr sz="1500" b="1" spc="-30" baseline="13888" dirty="0">
                <a:latin typeface="Arial"/>
                <a:cs typeface="Arial"/>
              </a:rPr>
              <a:t>sc</a:t>
            </a:r>
            <a:r>
              <a:rPr sz="1500" b="1" spc="-532" baseline="13888" dirty="0">
                <a:latin typeface="Arial"/>
                <a:cs typeface="Arial"/>
              </a:rPr>
              <a:t>e</a:t>
            </a:r>
            <a:r>
              <a:rPr sz="500" spc="-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U</a:t>
            </a:r>
            <a:r>
              <a:rPr sz="1500" b="1" spc="-855" baseline="13888" dirty="0">
                <a:latin typeface="Arial"/>
                <a:cs typeface="Arial"/>
                <a:hlinkClick r:id="rId14" action="ppaction://hlinksldjump"/>
              </a:rPr>
              <a:t>n</a:t>
            </a:r>
            <a:r>
              <a:rPr sz="500" spc="-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</a:t>
            </a:r>
            <a:r>
              <a:rPr sz="500" spc="-15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V</a:t>
            </a:r>
            <a:r>
              <a:rPr sz="1500" b="1" spc="-622" baseline="13888" dirty="0">
                <a:latin typeface="Arial"/>
                <a:cs typeface="Arial"/>
                <a:hlinkClick r:id="rId14" action="ppaction://hlinksldjump"/>
              </a:rPr>
              <a:t>a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-</a:t>
            </a:r>
            <a:r>
              <a:rPr sz="500" spc="-1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</a:t>
            </a:r>
            <a:r>
              <a:rPr sz="1500" b="1" spc="-307" baseline="13888" dirty="0">
                <a:latin typeface="Arial"/>
                <a:cs typeface="Arial"/>
                <a:hlinkClick r:id="rId14" action="ppaction://hlinksldjump"/>
              </a:rPr>
              <a:t>r</a:t>
            </a:r>
            <a:r>
              <a:rPr sz="500" spc="-3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s</a:t>
            </a:r>
            <a:r>
              <a:rPr sz="1500" b="1" spc="-412" baseline="13888" dirty="0">
                <a:latin typeface="Arial"/>
                <a:cs typeface="Arial"/>
                <a:hlinkClick r:id="rId14" action="ppaction://hlinksldjump"/>
              </a:rPr>
              <a:t>i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s</a:t>
            </a:r>
            <a:r>
              <a:rPr sz="500" spc="-9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i</a:t>
            </a:r>
            <a:r>
              <a:rPr sz="1500" b="1" spc="-787" baseline="13888" dirty="0">
                <a:latin typeface="Arial"/>
                <a:cs typeface="Arial"/>
                <a:hlinkClick r:id="rId14" action="ppaction://hlinksldjump"/>
              </a:rPr>
              <a:t>o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st</a:t>
            </a:r>
            <a:r>
              <a:rPr sz="500" spc="-21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e</a:t>
            </a:r>
            <a:r>
              <a:rPr sz="1500" b="1" spc="-509" baseline="13888" dirty="0">
                <a:latin typeface="Arial"/>
                <a:cs typeface="Arial"/>
                <a:hlinkClick r:id="rId14" action="ppaction://hlinksldjump"/>
              </a:rPr>
              <a:t>s</a:t>
            </a:r>
            <a:r>
              <a:rPr sz="500" spc="-1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d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39946" y="3148621"/>
            <a:ext cx="1920239" cy="91440"/>
          </a:xfrm>
          <a:custGeom>
            <a:avLst/>
            <a:gdLst/>
            <a:ahLst/>
            <a:cxnLst/>
            <a:rect l="l" t="t" r="r" b="b"/>
            <a:pathLst>
              <a:path w="1920239" h="91439">
                <a:moveTo>
                  <a:pt x="1919973" y="0"/>
                </a:moveTo>
                <a:lnTo>
                  <a:pt x="0" y="0"/>
                </a:lnTo>
                <a:lnTo>
                  <a:pt x="0" y="91376"/>
                </a:lnTo>
                <a:lnTo>
                  <a:pt x="1919973" y="91376"/>
                </a:lnTo>
                <a:lnTo>
                  <a:pt x="191997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479632" y="3135918"/>
            <a:ext cx="517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October</a:t>
            </a:r>
            <a:r>
              <a:rPr sz="5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sz="5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534174" y="313591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FFFFFF"/>
                </a:solidFill>
                <a:latin typeface="Tahoma"/>
                <a:cs typeface="Tahoma"/>
              </a:rPr>
              <a:t>22</a:t>
            </a:r>
            <a:r>
              <a:rPr sz="5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5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5" name="object 40"/>
          <p:cNvSpPr txBox="1"/>
          <p:nvPr/>
        </p:nvSpPr>
        <p:spPr>
          <a:xfrm>
            <a:off x="75729" y="623690"/>
            <a:ext cx="5659755" cy="20770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395"/>
              </a:spcBef>
            </a:pPr>
            <a:r>
              <a:rPr sz="1000" spc="-10" dirty="0">
                <a:latin typeface="Tahoma"/>
                <a:cs typeface="Tahoma"/>
              </a:rPr>
              <a:t>Novel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Arial"/>
                <a:cs typeface="Arial"/>
              </a:rPr>
              <a:t>UAV-</a:t>
            </a:r>
            <a:r>
              <a:rPr sz="1000" b="1" spc="-45" dirty="0">
                <a:latin typeface="Arial"/>
                <a:cs typeface="Arial"/>
              </a:rPr>
              <a:t>assisted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MEC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architecture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urban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environments</a:t>
            </a:r>
            <a:endParaRPr sz="1000" dirty="0">
              <a:latin typeface="Tahoma"/>
              <a:cs typeface="Tahoma"/>
            </a:endParaRPr>
          </a:p>
          <a:p>
            <a:pPr marL="303530" marR="319405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First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addressing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Arial"/>
                <a:cs typeface="Arial"/>
              </a:rPr>
              <a:t>three-</a:t>
            </a:r>
            <a:r>
              <a:rPr sz="1000" b="1" spc="-20" dirty="0">
                <a:latin typeface="Arial"/>
                <a:cs typeface="Arial"/>
              </a:rPr>
              <a:t>sided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collaboration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(IoT-UAV-</a:t>
            </a:r>
            <a:r>
              <a:rPr sz="1000" dirty="0">
                <a:latin typeface="Tahoma"/>
                <a:cs typeface="Tahoma"/>
              </a:rPr>
              <a:t>ES)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SP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profit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maximization </a:t>
            </a:r>
            <a:r>
              <a:rPr sz="1000" b="1" dirty="0">
                <a:latin typeface="Arial"/>
                <a:cs typeface="Arial"/>
              </a:rPr>
              <a:t>R-TMSC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 </a:t>
            </a:r>
            <a:r>
              <a:rPr sz="1000" spc="-30" dirty="0">
                <a:latin typeface="Tahoma"/>
                <a:cs typeface="Tahoma"/>
              </a:rPr>
              <a:t>stable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matching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10" dirty="0">
                <a:latin typeface="Tahoma"/>
                <a:cs typeface="Tahoma"/>
              </a:rPr>
              <a:t> cyclic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preferences</a:t>
            </a:r>
            <a:endParaRPr sz="1000" dirty="0">
              <a:latin typeface="Tahoma"/>
              <a:cs typeface="Tahoma"/>
            </a:endParaRPr>
          </a:p>
          <a:p>
            <a:pPr marL="303530">
              <a:lnSpc>
                <a:spcPct val="100000"/>
              </a:lnSpc>
              <a:spcBef>
                <a:spcPts val="295"/>
              </a:spcBef>
            </a:pPr>
            <a:r>
              <a:rPr sz="1000" b="1" dirty="0">
                <a:latin typeface="Arial"/>
                <a:cs typeface="Arial"/>
              </a:rPr>
              <a:t>K-</a:t>
            </a:r>
            <a:r>
              <a:rPr sz="1000" b="1" spc="-40" dirty="0">
                <a:latin typeface="Arial"/>
                <a:cs typeface="Arial"/>
              </a:rPr>
              <a:t>means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iterative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algorithm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optimal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UAV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topology</a:t>
            </a:r>
            <a:endParaRPr sz="1000" dirty="0">
              <a:latin typeface="Tahoma"/>
              <a:cs typeface="Tahoma"/>
            </a:endParaRPr>
          </a:p>
          <a:p>
            <a:pPr marL="303530">
              <a:lnSpc>
                <a:spcPct val="100000"/>
              </a:lnSpc>
              <a:spcBef>
                <a:spcPts val="295"/>
              </a:spcBef>
            </a:pPr>
            <a:r>
              <a:rPr sz="1000" spc="-45" dirty="0">
                <a:latin typeface="Tahoma"/>
                <a:cs typeface="Tahoma"/>
              </a:rPr>
              <a:t>Comprehensive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evaluation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showing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Arial"/>
                <a:cs typeface="Arial"/>
              </a:rPr>
              <a:t>significant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performance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improvements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000" dirty="0">
              <a:latin typeface="Arial"/>
              <a:cs typeface="Arial"/>
            </a:endParaRPr>
          </a:p>
          <a:p>
            <a:pPr marL="450215" indent="-146685">
              <a:lnSpc>
                <a:spcPct val="100000"/>
              </a:lnSpc>
              <a:buClr>
                <a:srgbClr val="00994C"/>
              </a:buClr>
              <a:buFont typeface="Segoe UI Symbol"/>
              <a:buChar char="✓"/>
              <a:tabLst>
                <a:tab pos="450215" algn="l"/>
              </a:tabLst>
            </a:pPr>
            <a:r>
              <a:rPr sz="1000" spc="-85" dirty="0">
                <a:latin typeface="Tahoma"/>
                <a:cs typeface="Tahoma"/>
              </a:rPr>
              <a:t>19%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more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IoTs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served</a:t>
            </a:r>
            <a:endParaRPr sz="1000" dirty="0">
              <a:latin typeface="Tahoma"/>
              <a:cs typeface="Tahoma"/>
            </a:endParaRPr>
          </a:p>
          <a:p>
            <a:pPr marL="4502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50215" algn="l"/>
              </a:tabLst>
            </a:pPr>
            <a:r>
              <a:rPr sz="1000" spc="-85" dirty="0">
                <a:latin typeface="Tahoma"/>
                <a:cs typeface="Tahoma"/>
              </a:rPr>
              <a:t>25%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higher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SP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profit</a:t>
            </a:r>
            <a:endParaRPr sz="1000" dirty="0">
              <a:latin typeface="Tahoma"/>
              <a:cs typeface="Tahoma"/>
            </a:endParaRPr>
          </a:p>
          <a:p>
            <a:pPr marL="4502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50215" algn="l"/>
              </a:tabLst>
            </a:pPr>
            <a:r>
              <a:rPr sz="1000" spc="-85" dirty="0">
                <a:latin typeface="Tahoma"/>
                <a:cs typeface="Tahoma"/>
              </a:rPr>
              <a:t>12%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better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user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satisfaction</a:t>
            </a:r>
            <a:endParaRPr sz="1000" dirty="0">
              <a:latin typeface="Tahoma"/>
              <a:cs typeface="Tahoma"/>
            </a:endParaRPr>
          </a:p>
          <a:p>
            <a:pPr marL="450215" indent="-146685">
              <a:lnSpc>
                <a:spcPct val="100000"/>
              </a:lnSpc>
              <a:spcBef>
                <a:spcPts val="295"/>
              </a:spcBef>
              <a:buClr>
                <a:srgbClr val="00994C"/>
              </a:buClr>
              <a:buFont typeface="Segoe UI Symbol"/>
              <a:buChar char="✓"/>
              <a:tabLst>
                <a:tab pos="450215" algn="l"/>
              </a:tabLst>
            </a:pPr>
            <a:r>
              <a:rPr sz="1000" spc="-85" dirty="0">
                <a:latin typeface="Tahoma"/>
                <a:cs typeface="Tahoma"/>
              </a:rPr>
              <a:t>25%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fewer</a:t>
            </a:r>
            <a:r>
              <a:rPr sz="1000" dirty="0">
                <a:latin typeface="Tahoma"/>
                <a:cs typeface="Tahoma"/>
              </a:rPr>
              <a:t> UAVs </a:t>
            </a:r>
            <a:r>
              <a:rPr sz="1000" spc="-10" dirty="0">
                <a:latin typeface="Tahoma"/>
                <a:cs typeface="Tahoma"/>
              </a:rPr>
              <a:t>required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7120" y="487307"/>
            <a:ext cx="172593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3366"/>
                </a:solidFill>
                <a:latin typeface="Arial"/>
                <a:cs typeface="Arial"/>
              </a:rPr>
              <a:t>Thank</a:t>
            </a:r>
            <a:r>
              <a:rPr sz="2450" b="1" spc="1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50" b="1" spc="-25" dirty="0">
                <a:solidFill>
                  <a:srgbClr val="003366"/>
                </a:solidFill>
                <a:latin typeface="Arial"/>
                <a:cs typeface="Arial"/>
              </a:rPr>
              <a:t>You!</a:t>
            </a:r>
            <a:endParaRPr sz="245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65099" y="1356470"/>
            <a:ext cx="1630045" cy="1437005"/>
            <a:chOff x="2065099" y="1356470"/>
            <a:chExt cx="1630045" cy="1437005"/>
          </a:xfrm>
        </p:grpSpPr>
        <p:sp>
          <p:nvSpPr>
            <p:cNvPr id="5" name="object 5"/>
            <p:cNvSpPr/>
            <p:nvPr/>
          </p:nvSpPr>
          <p:spPr>
            <a:xfrm>
              <a:off x="2626950" y="1821858"/>
              <a:ext cx="506730" cy="506730"/>
            </a:xfrm>
            <a:custGeom>
              <a:avLst/>
              <a:gdLst/>
              <a:ahLst/>
              <a:cxnLst/>
              <a:rect l="l" t="t" r="r" b="b"/>
              <a:pathLst>
                <a:path w="506730" h="506730">
                  <a:moveTo>
                    <a:pt x="253054" y="0"/>
                  </a:moveTo>
                  <a:lnTo>
                    <a:pt x="207567" y="4076"/>
                  </a:lnTo>
                  <a:lnTo>
                    <a:pt x="164754" y="15831"/>
                  </a:lnTo>
                  <a:lnTo>
                    <a:pt x="125332" y="34548"/>
                  </a:lnTo>
                  <a:lnTo>
                    <a:pt x="90013" y="59514"/>
                  </a:lnTo>
                  <a:lnTo>
                    <a:pt x="59514" y="90013"/>
                  </a:lnTo>
                  <a:lnTo>
                    <a:pt x="34548" y="125332"/>
                  </a:lnTo>
                  <a:lnTo>
                    <a:pt x="15831" y="164754"/>
                  </a:lnTo>
                  <a:lnTo>
                    <a:pt x="4076" y="207567"/>
                  </a:lnTo>
                  <a:lnTo>
                    <a:pt x="0" y="253054"/>
                  </a:lnTo>
                  <a:lnTo>
                    <a:pt x="4076" y="298541"/>
                  </a:lnTo>
                  <a:lnTo>
                    <a:pt x="15831" y="341353"/>
                  </a:lnTo>
                  <a:lnTo>
                    <a:pt x="34548" y="380776"/>
                  </a:lnTo>
                  <a:lnTo>
                    <a:pt x="59514" y="416094"/>
                  </a:lnTo>
                  <a:lnTo>
                    <a:pt x="90013" y="446594"/>
                  </a:lnTo>
                  <a:lnTo>
                    <a:pt x="125332" y="471559"/>
                  </a:lnTo>
                  <a:lnTo>
                    <a:pt x="164754" y="490277"/>
                  </a:lnTo>
                  <a:lnTo>
                    <a:pt x="207567" y="502031"/>
                  </a:lnTo>
                  <a:lnTo>
                    <a:pt x="253054" y="506108"/>
                  </a:lnTo>
                  <a:lnTo>
                    <a:pt x="298541" y="502031"/>
                  </a:lnTo>
                  <a:lnTo>
                    <a:pt x="341353" y="490277"/>
                  </a:lnTo>
                  <a:lnTo>
                    <a:pt x="380776" y="471559"/>
                  </a:lnTo>
                  <a:lnTo>
                    <a:pt x="416094" y="446594"/>
                  </a:lnTo>
                  <a:lnTo>
                    <a:pt x="446594" y="416094"/>
                  </a:lnTo>
                  <a:lnTo>
                    <a:pt x="471559" y="380776"/>
                  </a:lnTo>
                  <a:lnTo>
                    <a:pt x="490277" y="341353"/>
                  </a:lnTo>
                  <a:lnTo>
                    <a:pt x="502031" y="298541"/>
                  </a:lnTo>
                  <a:lnTo>
                    <a:pt x="506108" y="253054"/>
                  </a:lnTo>
                  <a:lnTo>
                    <a:pt x="502031" y="207567"/>
                  </a:lnTo>
                  <a:lnTo>
                    <a:pt x="490277" y="164754"/>
                  </a:lnTo>
                  <a:lnTo>
                    <a:pt x="471559" y="125332"/>
                  </a:lnTo>
                  <a:lnTo>
                    <a:pt x="446594" y="90013"/>
                  </a:lnTo>
                  <a:lnTo>
                    <a:pt x="416094" y="59514"/>
                  </a:lnTo>
                  <a:lnTo>
                    <a:pt x="380776" y="34548"/>
                  </a:lnTo>
                  <a:lnTo>
                    <a:pt x="341353" y="15831"/>
                  </a:lnTo>
                  <a:lnTo>
                    <a:pt x="298541" y="4076"/>
                  </a:lnTo>
                  <a:lnTo>
                    <a:pt x="253054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118" y="1980017"/>
              <a:ext cx="189790" cy="1897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113" y="1356470"/>
              <a:ext cx="189790" cy="1897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5104" y="1356470"/>
              <a:ext cx="189790" cy="1897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5099" y="1980017"/>
              <a:ext cx="189790" cy="1897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5104" y="2603565"/>
              <a:ext cx="189790" cy="1897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5113" y="2603565"/>
              <a:ext cx="189790" cy="18979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59995" y="1451365"/>
              <a:ext cx="1440180" cy="1247140"/>
            </a:xfrm>
            <a:custGeom>
              <a:avLst/>
              <a:gdLst/>
              <a:ahLst/>
              <a:cxnLst/>
              <a:rect l="l" t="t" r="r" b="b"/>
              <a:pathLst>
                <a:path w="1440179" h="1247139">
                  <a:moveTo>
                    <a:pt x="720009" y="623547"/>
                  </a:moveTo>
                  <a:lnTo>
                    <a:pt x="1440018" y="623547"/>
                  </a:lnTo>
                </a:path>
                <a:path w="1440179" h="1247139">
                  <a:moveTo>
                    <a:pt x="720009" y="623547"/>
                  </a:moveTo>
                  <a:lnTo>
                    <a:pt x="1080013" y="0"/>
                  </a:lnTo>
                </a:path>
                <a:path w="1440179" h="1247139">
                  <a:moveTo>
                    <a:pt x="720009" y="623547"/>
                  </a:moveTo>
                  <a:lnTo>
                    <a:pt x="360004" y="0"/>
                  </a:lnTo>
                </a:path>
                <a:path w="1440179" h="1247139">
                  <a:moveTo>
                    <a:pt x="720009" y="623547"/>
                  </a:moveTo>
                  <a:lnTo>
                    <a:pt x="0" y="623547"/>
                  </a:lnTo>
                </a:path>
                <a:path w="1440179" h="1247139">
                  <a:moveTo>
                    <a:pt x="720009" y="623547"/>
                  </a:moveTo>
                  <a:lnTo>
                    <a:pt x="360004" y="1247095"/>
                  </a:lnTo>
                </a:path>
                <a:path w="1440179" h="1247139">
                  <a:moveTo>
                    <a:pt x="720009" y="623547"/>
                  </a:moveTo>
                  <a:lnTo>
                    <a:pt x="1080013" y="1247095"/>
                  </a:lnTo>
                </a:path>
              </a:pathLst>
            </a:custGeom>
            <a:ln w="10122">
              <a:solidFill>
                <a:srgbClr val="FF66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110533" y="318053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30916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08719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26140" y="3167693"/>
            <a:ext cx="203200" cy="55880"/>
            <a:chOff x="4326140" y="3167693"/>
            <a:chExt cx="203200" cy="55880"/>
          </a:xfrm>
        </p:grpSpPr>
        <p:sp>
          <p:nvSpPr>
            <p:cNvPr id="17" name="object 17"/>
            <p:cNvSpPr/>
            <p:nvPr/>
          </p:nvSpPr>
          <p:spPr>
            <a:xfrm>
              <a:off x="4389309" y="317022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26140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621365" y="3166428"/>
            <a:ext cx="203200" cy="58419"/>
            <a:chOff x="4621365" y="3166428"/>
            <a:chExt cx="203200" cy="58419"/>
          </a:xfrm>
        </p:grpSpPr>
        <p:sp>
          <p:nvSpPr>
            <p:cNvPr id="20" name="object 20"/>
            <p:cNvSpPr/>
            <p:nvPr/>
          </p:nvSpPr>
          <p:spPr>
            <a:xfrm>
              <a:off x="4710266" y="3182924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21365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97566" y="3170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CCD6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916589" y="3166428"/>
            <a:ext cx="203200" cy="58419"/>
            <a:chOff x="4916589" y="3166428"/>
            <a:chExt cx="203200" cy="58419"/>
          </a:xfrm>
        </p:grpSpPr>
        <p:sp>
          <p:nvSpPr>
            <p:cNvPr id="24" name="object 24"/>
            <p:cNvSpPr/>
            <p:nvPr/>
          </p:nvSpPr>
          <p:spPr>
            <a:xfrm>
              <a:off x="4992790" y="317022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16589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2790" y="320832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CCD6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5288014" y="31702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5489279" y="3167693"/>
            <a:ext cx="238760" cy="57150"/>
            <a:chOff x="5489279" y="3167693"/>
            <a:chExt cx="238760" cy="57150"/>
          </a:xfrm>
        </p:grpSpPr>
        <p:sp>
          <p:nvSpPr>
            <p:cNvPr id="29" name="object 29"/>
            <p:cNvSpPr/>
            <p:nvPr/>
          </p:nvSpPr>
          <p:spPr>
            <a:xfrm>
              <a:off x="5613731" y="320070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86667" y="31742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91810" y="317022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2658" y="967751"/>
            <a:ext cx="2035175" cy="7829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450" b="1" spc="-30" dirty="0">
                <a:solidFill>
                  <a:srgbClr val="003366"/>
                </a:solidFill>
                <a:latin typeface="Arial"/>
                <a:cs typeface="Arial"/>
              </a:rPr>
              <a:t>Appendix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24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5764" y="1480741"/>
            <a:ext cx="2108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latin typeface="Tahoma"/>
                <a:cs typeface="Tahoma"/>
              </a:rPr>
              <a:t>Additional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Technical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Details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0533" y="318053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30916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8719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6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326140" y="3167693"/>
            <a:ext cx="203200" cy="55880"/>
            <a:chOff x="4326140" y="3167693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4389309" y="317022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26140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621365" y="3166428"/>
            <a:ext cx="203200" cy="58419"/>
            <a:chOff x="4621365" y="3166428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4710266" y="3182924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21365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97566" y="3170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CCD6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916589" y="3166428"/>
            <a:ext cx="203200" cy="58419"/>
            <a:chOff x="4916589" y="3166428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4992790" y="317022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16589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D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790" y="320832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CCD6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288014" y="31702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AD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5489266" y="3167693"/>
            <a:ext cx="238760" cy="57150"/>
            <a:chOff x="5489266" y="3167693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5613718" y="320070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86654" y="31742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1797" y="317022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A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object 26"/>
          <p:cNvGrpSpPr/>
          <p:nvPr/>
        </p:nvGrpSpPr>
        <p:grpSpPr>
          <a:xfrm>
            <a:off x="75729" y="2311024"/>
            <a:ext cx="5659755" cy="618490"/>
            <a:chOff x="75729" y="2311024"/>
            <a:chExt cx="5659755" cy="61849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2429268"/>
              <a:ext cx="5608620" cy="5060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26530" y="2311024"/>
              <a:ext cx="5608955" cy="618490"/>
            </a:xfrm>
            <a:custGeom>
              <a:avLst/>
              <a:gdLst/>
              <a:ahLst/>
              <a:cxnLst/>
              <a:rect l="l" t="t" r="r" b="b"/>
              <a:pathLst>
                <a:path w="5608955" h="618489">
                  <a:moveTo>
                    <a:pt x="5608620" y="0"/>
                  </a:moveTo>
                  <a:lnTo>
                    <a:pt x="0" y="0"/>
                  </a:lnTo>
                  <a:lnTo>
                    <a:pt x="0" y="618167"/>
                  </a:lnTo>
                  <a:lnTo>
                    <a:pt x="5608620" y="618167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729" y="2473543"/>
              <a:ext cx="5608955" cy="405130"/>
            </a:xfrm>
            <a:custGeom>
              <a:avLst/>
              <a:gdLst/>
              <a:ahLst/>
              <a:cxnLst/>
              <a:rect l="l" t="t" r="r" b="b"/>
              <a:pathLst>
                <a:path w="5608955" h="405130">
                  <a:moveTo>
                    <a:pt x="5608620" y="0"/>
                  </a:moveTo>
                  <a:lnTo>
                    <a:pt x="0" y="0"/>
                  </a:lnTo>
                  <a:lnTo>
                    <a:pt x="0" y="354048"/>
                  </a:lnTo>
                  <a:lnTo>
                    <a:pt x="4008" y="373772"/>
                  </a:lnTo>
                  <a:lnTo>
                    <a:pt x="14922" y="389925"/>
                  </a:lnTo>
                  <a:lnTo>
                    <a:pt x="31075" y="400839"/>
                  </a:lnTo>
                  <a:lnTo>
                    <a:pt x="50800" y="404848"/>
                  </a:lnTo>
                  <a:lnTo>
                    <a:pt x="5557819" y="404848"/>
                  </a:lnTo>
                  <a:lnTo>
                    <a:pt x="5577544" y="400839"/>
                  </a:lnTo>
                  <a:lnTo>
                    <a:pt x="5593697" y="389925"/>
                  </a:lnTo>
                  <a:lnTo>
                    <a:pt x="5604611" y="373772"/>
                  </a:lnTo>
                  <a:lnTo>
                    <a:pt x="5608620" y="354048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729" y="652572"/>
            <a:ext cx="5659755" cy="1500505"/>
            <a:chOff x="75729" y="652572"/>
            <a:chExt cx="5659755" cy="15005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770826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652572"/>
              <a:ext cx="5608955" cy="1500505"/>
            </a:xfrm>
            <a:custGeom>
              <a:avLst/>
              <a:gdLst/>
              <a:ahLst/>
              <a:cxnLst/>
              <a:rect l="l" t="t" r="r" b="b"/>
              <a:pathLst>
                <a:path w="5608955" h="1500505">
                  <a:moveTo>
                    <a:pt x="5608620" y="0"/>
                  </a:moveTo>
                  <a:lnTo>
                    <a:pt x="0" y="0"/>
                  </a:lnTo>
                  <a:lnTo>
                    <a:pt x="0" y="1500396"/>
                  </a:lnTo>
                  <a:lnTo>
                    <a:pt x="5608620" y="150039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15090"/>
              <a:ext cx="5608955" cy="1287145"/>
            </a:xfrm>
            <a:custGeom>
              <a:avLst/>
              <a:gdLst/>
              <a:ahLst/>
              <a:cxnLst/>
              <a:rect l="l" t="t" r="r" b="b"/>
              <a:pathLst>
                <a:path w="5608955" h="1287145">
                  <a:moveTo>
                    <a:pt x="5608620" y="0"/>
                  </a:moveTo>
                  <a:lnTo>
                    <a:pt x="0" y="0"/>
                  </a:lnTo>
                  <a:lnTo>
                    <a:pt x="0" y="1236276"/>
                  </a:lnTo>
                  <a:lnTo>
                    <a:pt x="4008" y="1256001"/>
                  </a:lnTo>
                  <a:lnTo>
                    <a:pt x="14922" y="1272154"/>
                  </a:lnTo>
                  <a:lnTo>
                    <a:pt x="31075" y="1283068"/>
                  </a:lnTo>
                  <a:lnTo>
                    <a:pt x="50800" y="1287077"/>
                  </a:lnTo>
                  <a:lnTo>
                    <a:pt x="5557819" y="1287077"/>
                  </a:lnTo>
                  <a:lnTo>
                    <a:pt x="5577544" y="1283068"/>
                  </a:lnTo>
                  <a:lnTo>
                    <a:pt x="5593697" y="1272154"/>
                  </a:lnTo>
                  <a:lnTo>
                    <a:pt x="5604611" y="1256001"/>
                  </a:lnTo>
                  <a:lnTo>
                    <a:pt x="5608620" y="123627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44723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Mathematical</a:t>
            </a:r>
            <a:r>
              <a:rPr spc="-65" dirty="0"/>
              <a:t> </a:t>
            </a:r>
            <a:r>
              <a:rPr spc="-30" dirty="0"/>
              <a:t>Formulation:</a:t>
            </a:r>
            <a:r>
              <a:rPr spc="65" dirty="0"/>
              <a:t> </a:t>
            </a:r>
            <a:r>
              <a:rPr spc="-20" dirty="0"/>
              <a:t>Detailed</a:t>
            </a:r>
            <a:r>
              <a:rPr spc="-60" dirty="0"/>
              <a:t> </a:t>
            </a:r>
            <a:r>
              <a:rPr spc="-35" dirty="0"/>
              <a:t>Communication</a:t>
            </a:r>
            <a:r>
              <a:rPr spc="-6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95654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59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24102"/>
            <a:ext cx="1043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Path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6794" y="750536"/>
            <a:ext cx="71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Sitka Banner"/>
                <a:cs typeface="Sitka Banner"/>
              </a:rPr>
              <a:t> </a:t>
            </a:r>
            <a:endParaRPr sz="1000">
              <a:latin typeface="Sitka Banner"/>
              <a:cs typeface="Sitka Bann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9747" y="922263"/>
            <a:ext cx="870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365760" algn="l"/>
                <a:tab pos="745490" algn="l"/>
              </a:tabLst>
            </a:pPr>
            <a:r>
              <a:rPr sz="1050" i="1" spc="-37" baseline="7936" dirty="0">
                <a:latin typeface="Arial"/>
                <a:cs typeface="Arial"/>
              </a:rPr>
              <a:t>i</a:t>
            </a:r>
            <a:r>
              <a:rPr sz="1050" i="1" spc="-37" baseline="7936" dirty="0">
                <a:latin typeface="Trebuchet MS"/>
                <a:cs typeface="Trebuchet MS"/>
              </a:rPr>
              <a:t>,</a:t>
            </a:r>
            <a:r>
              <a:rPr sz="1050" i="1" spc="-37" baseline="7936" dirty="0">
                <a:latin typeface="Arial"/>
                <a:cs typeface="Arial"/>
              </a:rPr>
              <a:t>j</a:t>
            </a:r>
            <a:r>
              <a:rPr sz="1050" i="1" baseline="7936" dirty="0">
                <a:latin typeface="Arial"/>
                <a:cs typeface="Arial"/>
              </a:rPr>
              <a:t>	</a:t>
            </a:r>
            <a:r>
              <a:rPr sz="1050" baseline="7936" dirty="0">
                <a:latin typeface="Tahoma"/>
                <a:cs typeface="Tahoma"/>
              </a:rPr>
              <a:t>0</a:t>
            </a:r>
            <a:r>
              <a:rPr sz="1050" spc="502" baseline="7936" dirty="0">
                <a:latin typeface="Tahoma"/>
                <a:cs typeface="Tahoma"/>
              </a:rPr>
              <a:t> 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6926" y="838735"/>
            <a:ext cx="6635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59079" algn="l"/>
              </a:tabLst>
            </a:pPr>
            <a:r>
              <a:rPr sz="700" spc="-50" dirty="0">
                <a:latin typeface="Tahoma"/>
                <a:cs typeface="Tahoma"/>
              </a:rPr>
              <a:t>2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i="1" dirty="0">
                <a:latin typeface="Arial"/>
                <a:cs typeface="Arial"/>
              </a:rPr>
              <a:t>LoS</a:t>
            </a:r>
            <a:r>
              <a:rPr sz="700" i="1" spc="465" dirty="0">
                <a:latin typeface="Arial"/>
                <a:cs typeface="Arial"/>
              </a:rPr>
              <a:t> </a:t>
            </a:r>
            <a:r>
              <a:rPr sz="700" i="1" spc="-25" dirty="0">
                <a:latin typeface="Arial"/>
                <a:cs typeface="Arial"/>
              </a:rPr>
              <a:t>LoS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5769" y="853025"/>
            <a:ext cx="1852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85115" algn="l"/>
                <a:tab pos="788670" algn="l"/>
                <a:tab pos="1044575" algn="l"/>
                <a:tab pos="1313815" algn="l"/>
                <a:tab pos="1762760" algn="l"/>
              </a:tabLst>
            </a:pPr>
            <a:r>
              <a:rPr sz="1000" i="1" spc="-25" dirty="0">
                <a:latin typeface="Arial"/>
                <a:cs typeface="Arial"/>
              </a:rPr>
              <a:t>PL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β</a:t>
            </a:r>
            <a:r>
              <a:rPr sz="1000" i="1" spc="240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d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-50" dirty="0">
                <a:latin typeface="Arial"/>
                <a:cs typeface="Arial"/>
              </a:rPr>
              <a:t>P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5" dirty="0">
                <a:latin typeface="Calibri"/>
                <a:cs typeface="Calibri"/>
              </a:rPr>
              <a:t>µ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5" dirty="0">
                <a:latin typeface="Calibri"/>
                <a:cs typeface="Calibri"/>
              </a:rPr>
              <a:t>µ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37242" y="838735"/>
            <a:ext cx="548005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">
              <a:lnSpc>
                <a:spcPts val="75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NLoS</a:t>
            </a:r>
            <a:r>
              <a:rPr sz="700" i="1" spc="495" dirty="0">
                <a:latin typeface="Arial"/>
                <a:cs typeface="Arial"/>
              </a:rPr>
              <a:t> </a:t>
            </a:r>
            <a:r>
              <a:rPr sz="700" i="1" spc="-20" dirty="0">
                <a:latin typeface="Arial"/>
                <a:cs typeface="Arial"/>
              </a:rPr>
              <a:t>NLoS</a:t>
            </a:r>
            <a:endParaRPr sz="700">
              <a:latin typeface="Arial"/>
              <a:cs typeface="Arial"/>
            </a:endParaRPr>
          </a:p>
          <a:p>
            <a:pPr>
              <a:lnSpc>
                <a:spcPts val="750"/>
              </a:lnSpc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6237" y="750536"/>
            <a:ext cx="71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Sitka Banner"/>
                <a:cs typeface="Sitka Banner"/>
              </a:rPr>
              <a:t> </a:t>
            </a:r>
            <a:endParaRPr sz="1000">
              <a:latin typeface="Sitka Banner"/>
              <a:cs typeface="Sitka Banner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6705" y="1347647"/>
            <a:ext cx="2049780" cy="249554"/>
            <a:chOff x="256705" y="1347647"/>
            <a:chExt cx="2049780" cy="249554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1347647"/>
              <a:ext cx="59601" cy="596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537436"/>
              <a:ext cx="59601" cy="596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40943" y="1491145"/>
              <a:ext cx="1463040" cy="0"/>
            </a:xfrm>
            <a:custGeom>
              <a:avLst/>
              <a:gdLst/>
              <a:ahLst/>
              <a:cxnLst/>
              <a:rect l="l" t="t" r="r" b="b"/>
              <a:pathLst>
                <a:path w="1463039">
                  <a:moveTo>
                    <a:pt x="0" y="0"/>
                  </a:moveTo>
                  <a:lnTo>
                    <a:pt x="146284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1130" y="1042803"/>
            <a:ext cx="3413760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000" spc="-10" dirty="0">
                <a:latin typeface="Tahoma"/>
                <a:cs typeface="Tahoma"/>
              </a:rPr>
              <a:t>where:</a:t>
            </a:r>
            <a:endParaRPr sz="100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Calibri"/>
                <a:cs typeface="Calibri"/>
              </a:rPr>
              <a:t>β</a:t>
            </a:r>
            <a:r>
              <a:rPr sz="1050" baseline="-11904" dirty="0">
                <a:latin typeface="Tahoma"/>
                <a:cs typeface="Tahoma"/>
              </a:rPr>
              <a:t>0</a:t>
            </a:r>
            <a:r>
              <a:rPr sz="1050" spc="150" baseline="-119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(4</a:t>
            </a:r>
            <a:r>
              <a:rPr sz="1000" i="1" dirty="0">
                <a:latin typeface="Calibri"/>
                <a:cs typeface="Calibri"/>
              </a:rPr>
              <a:t>π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i="1" dirty="0">
                <a:latin typeface="Calibri"/>
                <a:cs typeface="Calibri"/>
              </a:rPr>
              <a:t>/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Free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space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path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loss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reference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distance</a:t>
            </a:r>
            <a:endParaRPr sz="100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290"/>
              </a:spcBef>
            </a:pP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32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500" spc="172" baseline="47222" dirty="0">
                <a:latin typeface="Sitka Banner"/>
                <a:cs typeface="Sitka Banner"/>
              </a:rPr>
              <a:t>√</a:t>
            </a:r>
            <a:r>
              <a:rPr sz="1000" spc="114" dirty="0">
                <a:latin typeface="Tahoma"/>
                <a:cs typeface="Tahoma"/>
              </a:rPr>
              <a:t>(</a:t>
            </a:r>
            <a:r>
              <a:rPr sz="1000" i="1" spc="114" dirty="0">
                <a:latin typeface="Arial"/>
                <a:cs typeface="Arial"/>
              </a:rPr>
              <a:t>x</a:t>
            </a:r>
            <a:r>
              <a:rPr sz="1050" i="1" spc="172" baseline="-11904" dirty="0">
                <a:latin typeface="Arial"/>
                <a:cs typeface="Arial"/>
              </a:rPr>
              <a:t>i</a:t>
            </a:r>
            <a:r>
              <a:rPr sz="1050" i="1" spc="240" baseline="-11904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8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11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50" baseline="23809" dirty="0">
                <a:latin typeface="Tahoma"/>
                <a:cs typeface="Tahoma"/>
              </a:rPr>
              <a:t>2</a:t>
            </a:r>
            <a:r>
              <a:rPr sz="1050" spc="89" baseline="23809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47" baseline="-11904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8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11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50" baseline="23809" dirty="0">
                <a:latin typeface="Tahoma"/>
                <a:cs typeface="Tahoma"/>
              </a:rPr>
              <a:t>2</a:t>
            </a:r>
            <a:r>
              <a:rPr sz="1050" spc="89" baseline="23809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H</a:t>
            </a:r>
            <a:r>
              <a:rPr sz="1050" baseline="23809" dirty="0">
                <a:latin typeface="Tahoma"/>
                <a:cs typeface="Tahoma"/>
              </a:rPr>
              <a:t>2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1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Euclidean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distance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727225"/>
            <a:ext cx="59601" cy="596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54177" y="1650128"/>
            <a:ext cx="2253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65505" algn="l"/>
                <a:tab pos="1313815" algn="l"/>
              </a:tabLst>
            </a:pP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27777" dirty="0">
                <a:latin typeface="Arial"/>
                <a:cs typeface="Arial"/>
              </a:rPr>
              <a:t>LoS</a:t>
            </a:r>
            <a:r>
              <a:rPr sz="1050" i="1" spc="419" baseline="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50" u="sng" baseline="3174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050" u="sng" spc="-75" baseline="31746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sz="1050" u="sng" baseline="31746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1050" spc="-150" baseline="31746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LoS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probability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1959406"/>
            <a:ext cx="59601" cy="596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54177" y="1700700"/>
            <a:ext cx="1991995" cy="3594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340"/>
              </a:spcBef>
              <a:tabLst>
                <a:tab pos="464820" algn="l"/>
              </a:tabLst>
            </a:pPr>
            <a:r>
              <a:rPr sz="1050" i="1" spc="-37" baseline="3968" dirty="0">
                <a:latin typeface="Arial"/>
                <a:cs typeface="Arial"/>
              </a:rPr>
              <a:t>i</a:t>
            </a:r>
            <a:r>
              <a:rPr sz="1050" i="1" spc="-37" baseline="3968" dirty="0">
                <a:latin typeface="Trebuchet MS"/>
                <a:cs typeface="Trebuchet MS"/>
              </a:rPr>
              <a:t>,</a:t>
            </a:r>
            <a:r>
              <a:rPr sz="1050" i="1" spc="-37" baseline="3968" dirty="0">
                <a:latin typeface="Arial"/>
                <a:cs typeface="Arial"/>
              </a:rPr>
              <a:t>j</a:t>
            </a:r>
            <a:r>
              <a:rPr sz="1050" i="1" baseline="3968" dirty="0">
                <a:latin typeface="Arial"/>
                <a:cs typeface="Arial"/>
              </a:rPr>
              <a:t>	</a:t>
            </a:r>
            <a:r>
              <a:rPr sz="700" dirty="0">
                <a:latin typeface="Tahoma"/>
                <a:cs typeface="Tahoma"/>
              </a:rPr>
              <a:t>1+</a:t>
            </a:r>
            <a:r>
              <a:rPr sz="700" i="1" dirty="0">
                <a:latin typeface="Arial"/>
                <a:cs typeface="Arial"/>
              </a:rPr>
              <a:t>a</a:t>
            </a:r>
            <a:r>
              <a:rPr sz="700" i="1" spc="-15" dirty="0">
                <a:latin typeface="Arial"/>
                <a:cs typeface="Arial"/>
              </a:rPr>
              <a:t> </a:t>
            </a:r>
            <a:r>
              <a:rPr sz="700" spc="10" dirty="0">
                <a:latin typeface="Tahoma"/>
                <a:cs typeface="Tahoma"/>
              </a:rPr>
              <a:t>exp(</a:t>
            </a:r>
            <a:r>
              <a:rPr sz="700" spc="10" dirty="0">
                <a:latin typeface="Lucida Sans Unicode"/>
                <a:cs typeface="Lucida Sans Unicode"/>
              </a:rPr>
              <a:t>−</a:t>
            </a:r>
            <a:r>
              <a:rPr sz="700" i="1" spc="10" dirty="0">
                <a:latin typeface="Arial"/>
                <a:cs typeface="Arial"/>
              </a:rPr>
              <a:t>b</a:t>
            </a:r>
            <a:r>
              <a:rPr sz="700" spc="10" dirty="0">
                <a:latin typeface="Tahoma"/>
                <a:cs typeface="Tahoma"/>
              </a:rPr>
              <a:t>(</a:t>
            </a:r>
            <a:r>
              <a:rPr sz="700" i="1" spc="10" dirty="0">
                <a:latin typeface="Trebuchet MS"/>
                <a:cs typeface="Trebuchet MS"/>
              </a:rPr>
              <a:t>θ</a:t>
            </a:r>
            <a:r>
              <a:rPr sz="750" i="1" spc="15" baseline="-11111" dirty="0">
                <a:latin typeface="Arial"/>
                <a:cs typeface="Arial"/>
              </a:rPr>
              <a:t>i</a:t>
            </a:r>
            <a:r>
              <a:rPr sz="750" i="1" spc="15" baseline="-11111" dirty="0">
                <a:latin typeface="Trebuchet MS"/>
                <a:cs typeface="Trebuchet MS"/>
              </a:rPr>
              <a:t>,</a:t>
            </a:r>
            <a:r>
              <a:rPr sz="750" i="1" spc="15" baseline="-11111" dirty="0">
                <a:latin typeface="Arial"/>
                <a:cs typeface="Arial"/>
              </a:rPr>
              <a:t>j</a:t>
            </a:r>
            <a:r>
              <a:rPr sz="750" i="1" spc="-30" baseline="-11111" dirty="0">
                <a:latin typeface="Arial"/>
                <a:cs typeface="Arial"/>
              </a:rPr>
              <a:t> </a:t>
            </a:r>
            <a:r>
              <a:rPr sz="700" spc="-20" dirty="0">
                <a:latin typeface="Lucida Sans Unicode"/>
                <a:cs typeface="Lucida Sans Unicode"/>
              </a:rPr>
              <a:t>−</a:t>
            </a:r>
            <a:r>
              <a:rPr sz="700" i="1" spc="-20" dirty="0">
                <a:latin typeface="Arial"/>
                <a:cs typeface="Arial"/>
              </a:rPr>
              <a:t>a</a:t>
            </a:r>
            <a:r>
              <a:rPr sz="700" spc="-20" dirty="0">
                <a:latin typeface="Tahoma"/>
                <a:cs typeface="Tahoma"/>
              </a:rPr>
              <a:t>))</a:t>
            </a:r>
            <a:endParaRPr sz="7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45"/>
              </a:spcBef>
            </a:pPr>
            <a:r>
              <a:rPr sz="1000" i="1" dirty="0">
                <a:latin typeface="Calibri"/>
                <a:cs typeface="Calibri"/>
              </a:rPr>
              <a:t>θ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359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sin</a:t>
            </a:r>
            <a:r>
              <a:rPr sz="1050" baseline="35714" dirty="0">
                <a:latin typeface="Lucida Sans Unicode"/>
                <a:cs typeface="Lucida Sans Unicode"/>
              </a:rPr>
              <a:t>−</a:t>
            </a:r>
            <a:r>
              <a:rPr sz="1050" baseline="35714" dirty="0">
                <a:latin typeface="Tahoma"/>
                <a:cs typeface="Tahoma"/>
              </a:rPr>
              <a:t>1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H</a:t>
            </a:r>
            <a:r>
              <a:rPr sz="1000" i="1" dirty="0">
                <a:latin typeface="Calibri"/>
                <a:cs typeface="Calibri"/>
              </a:rPr>
              <a:t>/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):</a:t>
            </a:r>
            <a:r>
              <a:rPr sz="1000" spc="18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Elevation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angle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729" y="2254097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60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26530" y="2282544"/>
            <a:ext cx="128460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SINR</a:t>
            </a: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Rate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27124" y="2609712"/>
            <a:ext cx="990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11782" y="2660370"/>
            <a:ext cx="1129030" cy="0"/>
          </a:xfrm>
          <a:custGeom>
            <a:avLst/>
            <a:gdLst/>
            <a:ahLst/>
            <a:cxnLst/>
            <a:rect l="l" t="t" r="r" b="b"/>
            <a:pathLst>
              <a:path w="1129030">
                <a:moveTo>
                  <a:pt x="0" y="0"/>
                </a:moveTo>
                <a:lnTo>
                  <a:pt x="112863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458594" y="2552768"/>
            <a:ext cx="499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03835" algn="l"/>
              </a:tabLst>
            </a:pPr>
            <a:r>
              <a:rPr sz="1000" spc="-50" dirty="0">
                <a:latin typeface="Tahoma"/>
                <a:cs typeface="Tahoma"/>
              </a:rPr>
              <a:t>Γ</a:t>
            </a:r>
            <a:r>
              <a:rPr sz="1000" dirty="0">
                <a:latin typeface="Tahoma"/>
                <a:cs typeface="Tahoma"/>
              </a:rPr>
              <a:t>	=</a:t>
            </a:r>
            <a:r>
              <a:rPr sz="1000" spc="120" dirty="0">
                <a:latin typeface="Tahoma"/>
                <a:cs typeface="Tahoma"/>
              </a:rPr>
              <a:t> </a:t>
            </a:r>
            <a:r>
              <a:rPr sz="1500" spc="690" baseline="2777" dirty="0">
                <a:latin typeface="Sitka Banner"/>
                <a:cs typeface="Sitka Banner"/>
              </a:rPr>
              <a:t>Σ</a:t>
            </a:r>
            <a:endParaRPr sz="1500" baseline="2777">
              <a:latin typeface="Sitka Banner"/>
              <a:cs typeface="Sitka Banner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19935" y="2715478"/>
            <a:ext cx="224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700" i="1" spc="45" dirty="0">
                <a:latin typeface="Arial"/>
                <a:cs typeface="Arial"/>
              </a:rPr>
              <a:t>i</a:t>
            </a:r>
            <a:r>
              <a:rPr sz="750" spc="67" baseline="22222" dirty="0">
                <a:latin typeface="Lucida Sans Unicode"/>
                <a:cs typeface="Lucida Sans Unicode"/>
              </a:rPr>
              <a:t>′</a:t>
            </a:r>
            <a:r>
              <a:rPr sz="700" spc="45" dirty="0">
                <a:latin typeface="Lucida Sans Unicode"/>
                <a:cs typeface="Lucida Sans Unicode"/>
              </a:rPr>
              <a:t≯</a:t>
            </a:r>
            <a:r>
              <a:rPr sz="700" spc="45" dirty="0">
                <a:latin typeface="Tahoma"/>
                <a:cs typeface="Tahoma"/>
              </a:rPr>
              <a:t>=</a:t>
            </a:r>
            <a:r>
              <a:rPr sz="700" i="1" spc="4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17166" y="2446610"/>
            <a:ext cx="855344" cy="37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 indent="17145">
              <a:lnSpc>
                <a:spcPct val="113100"/>
              </a:lnSpc>
              <a:spcBef>
                <a:spcPts val="100"/>
              </a:spcBef>
            </a:pPr>
            <a:r>
              <a:rPr sz="1000" i="1" spc="-10" dirty="0">
                <a:latin typeface="Arial"/>
                <a:cs typeface="Arial"/>
              </a:rPr>
              <a:t>P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/</a:t>
            </a:r>
            <a:r>
              <a:rPr sz="1000" i="1" spc="-10" dirty="0">
                <a:latin typeface="Arial"/>
                <a:cs typeface="Arial"/>
              </a:rPr>
              <a:t>PL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5" baseline="-11904" dirty="0">
                <a:latin typeface="Trebuchet MS"/>
                <a:cs typeface="Trebuchet MS"/>
              </a:rPr>
              <a:t>,</a:t>
            </a:r>
            <a:r>
              <a:rPr sz="1050" i="1" spc="-15" baseline="-11904" dirty="0">
                <a:latin typeface="Arial"/>
                <a:cs typeface="Arial"/>
              </a:rPr>
              <a:t>j</a:t>
            </a:r>
            <a:r>
              <a:rPr sz="1050" i="1" spc="750" baseline="-11904" dirty="0">
                <a:latin typeface="Arial"/>
                <a:cs typeface="Arial"/>
              </a:rPr>
              <a:t>    </a:t>
            </a:r>
            <a:r>
              <a:rPr sz="1000" i="1" spc="10" dirty="0">
                <a:latin typeface="Arial"/>
                <a:cs typeface="Arial"/>
              </a:rPr>
              <a:t>P</a:t>
            </a:r>
            <a:r>
              <a:rPr sz="1050" i="1" spc="15" baseline="-11904" dirty="0">
                <a:latin typeface="Arial"/>
                <a:cs typeface="Arial"/>
              </a:rPr>
              <a:t>i</a:t>
            </a:r>
            <a:r>
              <a:rPr sz="750" spc="15" baseline="5555" dirty="0">
                <a:latin typeface="Lucida Sans Unicode"/>
                <a:cs typeface="Lucida Sans Unicode"/>
              </a:rPr>
              <a:t>′</a:t>
            </a:r>
            <a:r>
              <a:rPr sz="750" spc="-22" baseline="5555" dirty="0">
                <a:latin typeface="Lucida Sans Unicode"/>
                <a:cs typeface="Lucida Sans Unicode"/>
              </a:rPr>
              <a:t> </a:t>
            </a:r>
            <a:r>
              <a:rPr sz="1000" i="1" spc="10" dirty="0">
                <a:latin typeface="Calibri"/>
                <a:cs typeface="Calibri"/>
              </a:rPr>
              <a:t>/</a:t>
            </a:r>
            <a:r>
              <a:rPr sz="1000" i="1" spc="10" dirty="0">
                <a:latin typeface="Arial"/>
                <a:cs typeface="Arial"/>
              </a:rPr>
              <a:t>PL</a:t>
            </a:r>
            <a:r>
              <a:rPr sz="1050" i="1" spc="15" baseline="-11904" dirty="0">
                <a:latin typeface="Arial"/>
                <a:cs typeface="Arial"/>
              </a:rPr>
              <a:t>i</a:t>
            </a:r>
            <a:r>
              <a:rPr sz="750" spc="15" baseline="5555" dirty="0">
                <a:latin typeface="Lucida Sans Unicode"/>
                <a:cs typeface="Lucida Sans Unicode"/>
              </a:rPr>
              <a:t>′</a:t>
            </a:r>
            <a:r>
              <a:rPr sz="1050" i="1" spc="15" baseline="-11904" dirty="0">
                <a:latin typeface="Trebuchet MS"/>
                <a:cs typeface="Trebuchet MS"/>
              </a:rPr>
              <a:t>,</a:t>
            </a:r>
            <a:r>
              <a:rPr sz="1050" i="1" spc="15" baseline="-11904" dirty="0">
                <a:latin typeface="Arial"/>
                <a:cs typeface="Arial"/>
              </a:rPr>
              <a:t>j</a:t>
            </a:r>
            <a:r>
              <a:rPr sz="1050" i="1" spc="472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Tahoma"/>
                <a:cs typeface="Tahoma"/>
              </a:rPr>
              <a:t>+ </a:t>
            </a:r>
            <a:r>
              <a:rPr sz="1000" i="1" spc="-25" dirty="0">
                <a:latin typeface="Arial"/>
                <a:cs typeface="Arial"/>
              </a:rPr>
              <a:t>N</a:t>
            </a:r>
            <a:r>
              <a:rPr sz="1050" spc="-37" baseline="-11904" dirty="0">
                <a:latin typeface="Tahoma"/>
                <a:cs typeface="Tahoma"/>
              </a:rPr>
              <a:t>0</a:t>
            </a:r>
            <a:endParaRPr sz="1050" baseline="-11904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30207" y="2552768"/>
            <a:ext cx="14097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07645" algn="l"/>
              </a:tabLst>
            </a:pPr>
            <a:r>
              <a:rPr sz="1000" i="1" spc="-50" dirty="0">
                <a:latin typeface="Calibri"/>
                <a:cs typeface="Calibri"/>
              </a:rPr>
              <a:t>,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i="1" dirty="0">
                <a:latin typeface="Arial"/>
                <a:cs typeface="Arial"/>
              </a:rPr>
              <a:t>r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48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262" baseline="-11904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log(1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Γ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baseline="-11904" dirty="0">
                <a:latin typeface="Trebuchet MS"/>
                <a:cs typeface="Trebuchet MS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60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7" name="object 37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25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Algorithm</a:t>
            </a:r>
            <a:r>
              <a:rPr spc="-45" dirty="0"/>
              <a:t> </a:t>
            </a:r>
            <a:r>
              <a:rPr spc="-30" dirty="0"/>
              <a:t>Complexity</a:t>
            </a:r>
            <a:r>
              <a:rPr spc="-45" dirty="0"/>
              <a:t> </a:t>
            </a:r>
            <a:r>
              <a:rPr spc="-25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3092" y="739292"/>
          <a:ext cx="422782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145">
                <a:tc>
                  <a:txBody>
                    <a:bodyPr/>
                    <a:lstStyle/>
                    <a:p>
                      <a:pPr marL="78105">
                        <a:lnSpc>
                          <a:spcPts val="965"/>
                        </a:lnSpc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Algorithm</a:t>
                      </a:r>
                      <a:r>
                        <a:rPr sz="9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Component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Complexity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65"/>
                        </a:lnSpc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Explanation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marL="78105">
                        <a:lnSpc>
                          <a:spcPts val="965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R-TMSC</a:t>
                      </a:r>
                      <a:r>
                        <a:rPr sz="9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Matching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1350" i="1" baseline="6172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baseline="6172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6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600" spc="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i="1" baseline="6172" dirty="0">
                          <a:latin typeface="Georgia"/>
                          <a:cs typeface="Georgia"/>
                        </a:rPr>
                        <a:t>·</a:t>
                      </a:r>
                      <a:r>
                        <a:rPr sz="1350" i="1" spc="22" baseline="6172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50" i="1" spc="-30" baseline="6172" dirty="0">
                          <a:latin typeface="Arial"/>
                          <a:cs typeface="Arial"/>
                        </a:rPr>
                        <a:t>MKL</a:t>
                      </a:r>
                      <a:r>
                        <a:rPr sz="1350" spc="-30" baseline="6172" dirty="0">
                          <a:latin typeface="Arial MT"/>
                          <a:cs typeface="Arial MT"/>
                        </a:rPr>
                        <a:t>)</a:t>
                      </a:r>
                      <a:endParaRPr sz="1350" baseline="6172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035"/>
                        </a:lnSpc>
                      </a:pPr>
                      <a:r>
                        <a:rPr sz="1350" i="1" baseline="6172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6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600" spc="1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5" baseline="6172" dirty="0">
                          <a:latin typeface="Arial MT"/>
                          <a:cs typeface="Arial MT"/>
                        </a:rPr>
                        <a:t>iterations,</a:t>
                      </a:r>
                      <a:r>
                        <a:rPr sz="1350" spc="44" baseline="6172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15" baseline="6172" dirty="0">
                          <a:latin typeface="Arial MT"/>
                          <a:cs typeface="Arial MT"/>
                        </a:rPr>
                        <a:t>matching</a:t>
                      </a:r>
                      <a:r>
                        <a:rPr sz="1350" spc="44" baseline="6172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15" baseline="6172" dirty="0">
                          <a:latin typeface="Arial MT"/>
                          <a:cs typeface="Arial MT"/>
                        </a:rPr>
                        <a:t>triplets</a:t>
                      </a:r>
                      <a:endParaRPr sz="1350" baseline="6172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marL="78105">
                        <a:lnSpc>
                          <a:spcPts val="965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K-</a:t>
                      </a:r>
                      <a:r>
                        <a:rPr sz="900" spc="-45" dirty="0">
                          <a:latin typeface="Arial MT"/>
                          <a:cs typeface="Arial MT"/>
                        </a:rPr>
                        <a:t>means</a:t>
                      </a:r>
                      <a:r>
                        <a:rPr sz="9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Topology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1350" i="1" baseline="6172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baseline="6172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6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600" spc="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i="1" baseline="6172" dirty="0">
                          <a:latin typeface="Georgia"/>
                          <a:cs typeface="Georgia"/>
                        </a:rPr>
                        <a:t>·</a:t>
                      </a:r>
                      <a:r>
                        <a:rPr sz="1350" i="1" spc="37" baseline="6172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350" i="1" spc="-187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7" baseline="6172" dirty="0">
                          <a:latin typeface="Arial MT"/>
                          <a:cs typeface="Arial MT"/>
                        </a:rPr>
                        <a:t>)</a:t>
                      </a:r>
                      <a:endParaRPr sz="1350" baseline="6172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035"/>
                        </a:lnSpc>
                      </a:pPr>
                      <a:r>
                        <a:rPr sz="1350" i="1" baseline="6172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6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600" spc="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5" baseline="6172" dirty="0">
                          <a:latin typeface="Arial MT"/>
                          <a:cs typeface="Arial MT"/>
                        </a:rPr>
                        <a:t>iterations,</a:t>
                      </a:r>
                      <a:r>
                        <a:rPr sz="1350" spc="30" baseline="6172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15" baseline="6172" dirty="0"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1350" spc="30" baseline="6172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15" baseline="6172" dirty="0">
                          <a:latin typeface="Arial MT"/>
                          <a:cs typeface="Arial MT"/>
                        </a:rPr>
                        <a:t>positions</a:t>
                      </a:r>
                      <a:endParaRPr sz="1350" baseline="6172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marL="78105">
                        <a:lnSpc>
                          <a:spcPts val="965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Joint</a:t>
                      </a:r>
                      <a:r>
                        <a:rPr sz="9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Optimization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1350" i="1" baseline="6172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baseline="6172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350" i="1" spc="44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i="1" baseline="6172" dirty="0">
                          <a:latin typeface="Georgia"/>
                          <a:cs typeface="Georgia"/>
                        </a:rPr>
                        <a:t>·</a:t>
                      </a:r>
                      <a:r>
                        <a:rPr sz="1350" i="1" spc="60" baseline="6172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350" baseline="6172" dirty="0">
                          <a:latin typeface="Arial MT"/>
                          <a:cs typeface="Arial MT"/>
                        </a:rPr>
                        <a:t>[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6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MKL</a:t>
                      </a:r>
                      <a:r>
                        <a:rPr sz="1350" i="1" spc="7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277" baseline="6172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350" spc="15" baseline="6172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6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350" i="1" baseline="6172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350" i="1" spc="-172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7" baseline="6172" dirty="0">
                          <a:latin typeface="Arial MT"/>
                          <a:cs typeface="Arial MT"/>
                        </a:rPr>
                        <a:t>])</a:t>
                      </a:r>
                      <a:endParaRPr sz="1350" baseline="6172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65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i="1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outer</a:t>
                      </a:r>
                      <a:r>
                        <a:rPr sz="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iterations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5729" y="1703793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60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530" y="1732253"/>
            <a:ext cx="136271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Practical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729" y="1760725"/>
            <a:ext cx="5659755" cy="972185"/>
            <a:chOff x="75729" y="1760725"/>
            <a:chExt cx="5659755" cy="9721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878964"/>
              <a:ext cx="560862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6530" y="1760725"/>
              <a:ext cx="5608955" cy="972185"/>
            </a:xfrm>
            <a:custGeom>
              <a:avLst/>
              <a:gdLst/>
              <a:ahLst/>
              <a:cxnLst/>
              <a:rect l="l" t="t" r="r" b="b"/>
              <a:pathLst>
                <a:path w="5608955" h="972185">
                  <a:moveTo>
                    <a:pt x="5608620" y="0"/>
                  </a:moveTo>
                  <a:lnTo>
                    <a:pt x="0" y="0"/>
                  </a:lnTo>
                  <a:lnTo>
                    <a:pt x="0" y="971921"/>
                  </a:lnTo>
                  <a:lnTo>
                    <a:pt x="5608620" y="97192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29" y="1923244"/>
              <a:ext cx="5608955" cy="758825"/>
            </a:xfrm>
            <a:custGeom>
              <a:avLst/>
              <a:gdLst/>
              <a:ahLst/>
              <a:cxnLst/>
              <a:rect l="l" t="t" r="r" b="b"/>
              <a:pathLst>
                <a:path w="5608955" h="758825">
                  <a:moveTo>
                    <a:pt x="5608620" y="0"/>
                  </a:moveTo>
                  <a:lnTo>
                    <a:pt x="0" y="0"/>
                  </a:lnTo>
                  <a:lnTo>
                    <a:pt x="0" y="707801"/>
                  </a:lnTo>
                  <a:lnTo>
                    <a:pt x="4008" y="727526"/>
                  </a:lnTo>
                  <a:lnTo>
                    <a:pt x="14922" y="743679"/>
                  </a:lnTo>
                  <a:lnTo>
                    <a:pt x="31075" y="754593"/>
                  </a:lnTo>
                  <a:lnTo>
                    <a:pt x="50800" y="758602"/>
                  </a:lnTo>
                  <a:lnTo>
                    <a:pt x="5557819" y="758602"/>
                  </a:lnTo>
                  <a:lnTo>
                    <a:pt x="5577544" y="754593"/>
                  </a:lnTo>
                  <a:lnTo>
                    <a:pt x="5593697" y="743679"/>
                  </a:lnTo>
                  <a:lnTo>
                    <a:pt x="5604611" y="727526"/>
                  </a:lnTo>
                  <a:lnTo>
                    <a:pt x="5608620" y="70780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1974291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2164080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2353868"/>
              <a:ext cx="59601" cy="596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2543657"/>
              <a:ext cx="59601" cy="5960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6530" y="1760725"/>
            <a:ext cx="5608955" cy="9721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252729">
              <a:lnSpc>
                <a:spcPct val="100000"/>
              </a:lnSpc>
            </a:pPr>
            <a:r>
              <a:rPr sz="1000" spc="-10" dirty="0">
                <a:latin typeface="Tahoma"/>
                <a:cs typeface="Tahoma"/>
              </a:rPr>
              <a:t>Typical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values: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baseline="-11904" dirty="0">
                <a:latin typeface="Tahoma"/>
                <a:cs typeface="Tahoma"/>
              </a:rPr>
              <a:t>1</a:t>
            </a:r>
            <a:r>
              <a:rPr sz="1050" spc="104" baseline="-119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3,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50" baseline="-11904" dirty="0">
                <a:latin typeface="Tahoma"/>
                <a:cs typeface="Tahoma"/>
              </a:rPr>
              <a:t>2</a:t>
            </a:r>
            <a:r>
              <a:rPr sz="1050" spc="104" baseline="-119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 marL="252729" marR="1894839">
              <a:lnSpc>
                <a:spcPct val="124500"/>
              </a:lnSpc>
            </a:pPr>
            <a:r>
              <a:rPr sz="100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200,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10,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8: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Total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complexity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≈</a:t>
            </a:r>
            <a:r>
              <a:rPr sz="1000" spc="-55" dirty="0">
                <a:latin typeface="Lucida Sans Unicode"/>
                <a:cs typeface="Lucida Sans Unicode"/>
              </a:rPr>
              <a:t> </a:t>
            </a:r>
            <a:r>
              <a:rPr sz="1000" i="1" spc="-30" dirty="0">
                <a:latin typeface="Arial"/>
                <a:cs typeface="Arial"/>
              </a:rPr>
              <a:t>O</a:t>
            </a:r>
            <a:r>
              <a:rPr sz="1000" spc="-30" dirty="0">
                <a:latin typeface="Tahoma"/>
                <a:cs typeface="Tahoma"/>
              </a:rPr>
              <a:t>(19</a:t>
            </a:r>
            <a:r>
              <a:rPr sz="1000" i="1" spc="-30" dirty="0">
                <a:latin typeface="Calibri"/>
                <a:cs typeface="Calibri"/>
              </a:rPr>
              <a:t>.</a:t>
            </a:r>
            <a:r>
              <a:rPr sz="1000" spc="-30" dirty="0">
                <a:latin typeface="Tahoma"/>
                <a:cs typeface="Tahoma"/>
              </a:rPr>
              <a:t>2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×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20" dirty="0">
                <a:latin typeface="Tahoma"/>
                <a:cs typeface="Tahoma"/>
              </a:rPr>
              <a:t>10</a:t>
            </a:r>
            <a:r>
              <a:rPr sz="1050" spc="-30" baseline="27777" dirty="0">
                <a:latin typeface="Tahoma"/>
                <a:cs typeface="Tahoma"/>
              </a:rPr>
              <a:t>4</a:t>
            </a:r>
            <a:r>
              <a:rPr sz="1000" spc="-20" dirty="0">
                <a:latin typeface="Tahoma"/>
                <a:cs typeface="Tahoma"/>
              </a:rPr>
              <a:t>) Execution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time: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60ms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per </a:t>
            </a:r>
            <a:r>
              <a:rPr sz="1000" spc="-25" dirty="0">
                <a:latin typeface="Tahoma"/>
                <a:cs typeface="Tahoma"/>
              </a:rPr>
              <a:t>outer</a:t>
            </a:r>
            <a:r>
              <a:rPr sz="1000" spc="-20" dirty="0">
                <a:latin typeface="Tahoma"/>
                <a:cs typeface="Tahoma"/>
              </a:rPr>
              <a:t> iteration, </a:t>
            </a:r>
            <a:r>
              <a:rPr sz="1000" spc="-60" dirty="0">
                <a:latin typeface="Tahoma"/>
                <a:cs typeface="Tahoma"/>
              </a:rPr>
              <a:t>240ms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total</a:t>
            </a:r>
            <a:endParaRPr sz="1000">
              <a:latin typeface="Tahoma"/>
              <a:cs typeface="Tahoma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b="1" spc="-20" dirty="0">
                <a:latin typeface="Arial"/>
                <a:cs typeface="Arial"/>
              </a:rPr>
              <a:t>Suitable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for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quasi-</a:t>
            </a:r>
            <a:r>
              <a:rPr sz="1000" b="1" spc="-10" dirty="0">
                <a:latin typeface="Arial"/>
                <a:cs typeface="Arial"/>
              </a:rPr>
              <a:t>static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70" dirty="0">
                <a:latin typeface="Arial"/>
                <a:cs typeface="Arial"/>
              </a:rPr>
              <a:t>scenarios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(minutes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hours)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26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22885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Real-World</a:t>
            </a:r>
            <a:r>
              <a:rPr spc="-55" dirty="0"/>
              <a:t> </a:t>
            </a:r>
            <a:r>
              <a:rPr spc="-10" dirty="0"/>
              <a:t>Dataset</a:t>
            </a:r>
            <a:r>
              <a:rPr spc="-55" dirty="0"/>
              <a:t> </a:t>
            </a:r>
            <a:r>
              <a:rPr spc="-10" dirty="0"/>
              <a:t>Validation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832065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021854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211630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1401419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1780997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1970785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528" y="2160574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4528" y="2350363"/>
            <a:ext cx="59601" cy="596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653" y="527221"/>
            <a:ext cx="2538730" cy="192341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20" dirty="0">
                <a:latin typeface="Arial"/>
                <a:cs typeface="Arial"/>
              </a:rPr>
              <a:t>China </a:t>
            </a:r>
            <a:r>
              <a:rPr sz="1000" b="1" dirty="0">
                <a:latin typeface="Arial"/>
                <a:cs typeface="Arial"/>
              </a:rPr>
              <a:t>Mobile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User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Dataset: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Tahoma"/>
                <a:cs typeface="Tahoma"/>
              </a:rPr>
              <a:t>Real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user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geolocation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25" dirty="0">
                <a:latin typeface="Tahoma"/>
                <a:cs typeface="Tahoma"/>
              </a:rPr>
              <a:t>Region:</a:t>
            </a:r>
            <a:r>
              <a:rPr sz="1000" spc="15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22.5-</a:t>
            </a:r>
            <a:r>
              <a:rPr sz="1000" spc="-130" dirty="0">
                <a:latin typeface="Tahoma"/>
                <a:cs typeface="Tahoma"/>
              </a:rPr>
              <a:t>23.3</a:t>
            </a:r>
            <a:r>
              <a:rPr sz="1000" spc="-130" dirty="0">
                <a:latin typeface="SimSun-ExtB"/>
                <a:cs typeface="SimSun-ExtB"/>
              </a:rPr>
              <a:t>°</a:t>
            </a:r>
            <a:r>
              <a:rPr sz="1000" spc="-130" dirty="0">
                <a:latin typeface="Tahoma"/>
                <a:cs typeface="Tahoma"/>
              </a:rPr>
              <a:t>N,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112.5-</a:t>
            </a:r>
            <a:r>
              <a:rPr sz="1000" spc="-10" dirty="0">
                <a:latin typeface="Tahoma"/>
                <a:cs typeface="Tahoma"/>
              </a:rPr>
              <a:t>114.8</a:t>
            </a:r>
            <a:r>
              <a:rPr sz="1000" spc="-10" dirty="0">
                <a:latin typeface="SimSun-ExtB"/>
                <a:cs typeface="SimSun-ExtB"/>
              </a:rPr>
              <a:t>°</a:t>
            </a:r>
            <a:r>
              <a:rPr sz="1000" spc="-10" dirty="0">
                <a:latin typeface="Tahoma"/>
                <a:cs typeface="Tahoma"/>
              </a:rPr>
              <a:t>E</a:t>
            </a:r>
            <a:endParaRPr sz="1000">
              <a:latin typeface="Tahoma"/>
              <a:cs typeface="Tahoma"/>
            </a:endParaRPr>
          </a:p>
          <a:p>
            <a:pPr marL="265430" marR="614680">
              <a:lnSpc>
                <a:spcPct val="124500"/>
              </a:lnSpc>
              <a:spcBef>
                <a:spcPts val="5"/>
              </a:spcBef>
            </a:pPr>
            <a:r>
              <a:rPr sz="1000" dirty="0">
                <a:latin typeface="Tahoma"/>
                <a:cs typeface="Tahoma"/>
              </a:rPr>
              <a:t>Time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window: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10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AM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-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12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PM </a:t>
            </a:r>
            <a:r>
              <a:rPr sz="1000" spc="-45" dirty="0">
                <a:latin typeface="Tahoma"/>
                <a:cs typeface="Tahoma"/>
              </a:rPr>
              <a:t>15-</a:t>
            </a:r>
            <a:r>
              <a:rPr sz="1000" spc="-35" dirty="0">
                <a:latin typeface="Tahoma"/>
                <a:cs typeface="Tahoma"/>
              </a:rPr>
              <a:t>minute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time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slots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Arial"/>
                <a:cs typeface="Arial"/>
              </a:rPr>
              <a:t>Results: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24500"/>
              </a:lnSpc>
              <a:spcBef>
                <a:spcPts val="5"/>
              </a:spcBef>
            </a:pPr>
            <a:r>
              <a:rPr sz="1000" spc="-85" dirty="0">
                <a:solidFill>
                  <a:srgbClr val="00994C"/>
                </a:solidFill>
                <a:latin typeface="Tahoma"/>
                <a:cs typeface="Tahoma"/>
              </a:rPr>
              <a:t>10%</a:t>
            </a:r>
            <a:r>
              <a:rPr sz="1000" spc="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higher </a:t>
            </a:r>
            <a:r>
              <a:rPr sz="1000" spc="-60" dirty="0">
                <a:latin typeface="Tahoma"/>
                <a:cs typeface="Tahoma"/>
              </a:rPr>
              <a:t>served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percentage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vs.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Fixed </a:t>
            </a:r>
            <a:r>
              <a:rPr sz="1000" spc="-85" dirty="0">
                <a:solidFill>
                  <a:srgbClr val="00994C"/>
                </a:solidFill>
                <a:latin typeface="Tahoma"/>
                <a:cs typeface="Tahoma"/>
              </a:rPr>
              <a:t>28%</a:t>
            </a:r>
            <a:r>
              <a:rPr sz="1000" spc="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00994C"/>
                </a:solidFill>
                <a:latin typeface="Tahoma"/>
                <a:cs typeface="Tahoma"/>
              </a:rPr>
              <a:t>higher </a:t>
            </a:r>
            <a:r>
              <a:rPr sz="1000" spc="-60" dirty="0">
                <a:latin typeface="Tahoma"/>
                <a:cs typeface="Tahoma"/>
              </a:rPr>
              <a:t>served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percentage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vs.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Random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100" dirty="0">
                <a:solidFill>
                  <a:srgbClr val="00994C"/>
                </a:solidFill>
                <a:latin typeface="Tahoma"/>
                <a:cs typeface="Tahoma"/>
              </a:rPr>
              <a:t>1.2</a:t>
            </a:r>
            <a:r>
              <a:rPr sz="1000" spc="-100" dirty="0">
                <a:solidFill>
                  <a:srgbClr val="00994C"/>
                </a:solidFill>
                <a:latin typeface="SimSun-ExtB"/>
                <a:cs typeface="SimSun-ExtB"/>
              </a:rPr>
              <a:t>×</a:t>
            </a:r>
            <a:r>
              <a:rPr sz="1000" spc="-170" dirty="0">
                <a:solidFill>
                  <a:srgbClr val="00994C"/>
                </a:solidFill>
                <a:latin typeface="SimSun-ExtB"/>
                <a:cs typeface="SimSun-ExtB"/>
              </a:rPr>
              <a:t> </a:t>
            </a:r>
            <a:r>
              <a:rPr sz="1000" dirty="0">
                <a:solidFill>
                  <a:srgbClr val="00994C"/>
                </a:solidFill>
                <a:latin typeface="Tahoma"/>
                <a:cs typeface="Tahoma"/>
              </a:rPr>
              <a:t>SP </a:t>
            </a:r>
            <a:r>
              <a:rPr sz="1000" spc="-10" dirty="0">
                <a:solidFill>
                  <a:srgbClr val="00994C"/>
                </a:solidFill>
                <a:latin typeface="Tahoma"/>
                <a:cs typeface="Tahoma"/>
              </a:rPr>
              <a:t>profit</a:t>
            </a:r>
            <a:r>
              <a:rPr sz="1000" spc="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compared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Fixed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100" dirty="0">
                <a:solidFill>
                  <a:srgbClr val="00994C"/>
                </a:solidFill>
                <a:latin typeface="Tahoma"/>
                <a:cs typeface="Tahoma"/>
              </a:rPr>
              <a:t>1.5</a:t>
            </a:r>
            <a:r>
              <a:rPr sz="1000" spc="-100" dirty="0">
                <a:solidFill>
                  <a:srgbClr val="00994C"/>
                </a:solidFill>
                <a:latin typeface="SimSun-ExtB"/>
                <a:cs typeface="SimSun-ExtB"/>
              </a:rPr>
              <a:t>×</a:t>
            </a:r>
            <a:r>
              <a:rPr sz="1000" spc="-170" dirty="0">
                <a:solidFill>
                  <a:srgbClr val="00994C"/>
                </a:solidFill>
                <a:latin typeface="SimSun-ExtB"/>
                <a:cs typeface="SimSun-ExtB"/>
              </a:rPr>
              <a:t> </a:t>
            </a:r>
            <a:r>
              <a:rPr sz="1000" dirty="0">
                <a:solidFill>
                  <a:srgbClr val="00994C"/>
                </a:solidFill>
                <a:latin typeface="Tahoma"/>
                <a:cs typeface="Tahoma"/>
              </a:rPr>
              <a:t>SP </a:t>
            </a:r>
            <a:r>
              <a:rPr sz="1000" spc="-10" dirty="0">
                <a:solidFill>
                  <a:srgbClr val="00994C"/>
                </a:solidFill>
                <a:latin typeface="Tahoma"/>
                <a:cs typeface="Tahoma"/>
              </a:rPr>
              <a:t>profit</a:t>
            </a:r>
            <a:r>
              <a:rPr sz="1000" spc="15" dirty="0">
                <a:solidFill>
                  <a:srgbClr val="00994C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compared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Random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2609" y="722634"/>
            <a:ext cx="1593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User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Distribution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Heatmap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11584" y="899175"/>
          <a:ext cx="12954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1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7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5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2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A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3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3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1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8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5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34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8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1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8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2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5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6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41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58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A8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7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210367" y="2275125"/>
            <a:ext cx="3035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Tahoma"/>
                <a:cs typeface="Tahoma"/>
              </a:rPr>
              <a:t>Longitude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10435" y="1581794"/>
            <a:ext cx="89535" cy="2584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10" dirty="0">
                <a:latin typeface="Tahoma"/>
                <a:cs typeface="Tahoma"/>
              </a:rPr>
              <a:t>Latitude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50247" y="2598171"/>
            <a:ext cx="209867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325" marR="5080" indent="-68326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Validates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60" dirty="0">
                <a:latin typeface="Arial"/>
                <a:cs typeface="Arial"/>
              </a:rPr>
              <a:t>robustness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in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non-</a:t>
            </a:r>
            <a:r>
              <a:rPr sz="1000" b="1" spc="-35" dirty="0">
                <a:latin typeface="Arial"/>
                <a:cs typeface="Arial"/>
              </a:rPr>
              <a:t>uniform </a:t>
            </a:r>
            <a:r>
              <a:rPr sz="1000" b="1" spc="-10" dirty="0">
                <a:latin typeface="Arial"/>
                <a:cs typeface="Arial"/>
              </a:rPr>
              <a:t>distributions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8" name="object 18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31252" y="3163737"/>
            <a:ext cx="3302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Subhrajit</a:t>
            </a:r>
            <a:r>
              <a:rPr spc="40" dirty="0"/>
              <a:t> </a:t>
            </a:r>
            <a:r>
              <a:rPr dirty="0"/>
              <a:t>Barick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Chetna</a:t>
            </a:r>
            <a:r>
              <a:rPr spc="40" dirty="0"/>
              <a:t> </a:t>
            </a:r>
            <a:r>
              <a:rPr dirty="0"/>
              <a:t>Singhal</a:t>
            </a:r>
            <a:r>
              <a:rPr spc="105" dirty="0"/>
              <a:t> </a:t>
            </a:r>
            <a:r>
              <a:rPr dirty="0"/>
              <a:t>(</a:t>
            </a:r>
            <a:r>
              <a:rPr spc="45" dirty="0"/>
              <a:t> </a:t>
            </a:r>
            <a:r>
              <a:rPr dirty="0"/>
              <a:t>IEEE</a:t>
            </a:r>
            <a:r>
              <a:rPr spc="40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spc="-10" dirty="0"/>
              <a:t>Networ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487142" y="3151037"/>
            <a:ext cx="7861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UAV-Assisted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MEC</a:t>
            </a:r>
            <a:r>
              <a:rPr sz="500" spc="7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for</a:t>
            </a:r>
            <a:r>
              <a:rPr sz="500" spc="8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IoT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October</a:t>
            </a:r>
            <a:r>
              <a:rPr spc="30" dirty="0"/>
              <a:t> </a:t>
            </a:r>
            <a:r>
              <a:rPr dirty="0"/>
              <a:t>30,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27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10353</Words>
  <Application>Microsoft Office PowerPoint</Application>
  <PresentationFormat>Custom</PresentationFormat>
  <Paragraphs>2293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6" baseType="lpstr">
      <vt:lpstr>SimSun-ExtB</vt:lpstr>
      <vt:lpstr>Arial</vt:lpstr>
      <vt:lpstr>Arial MT</vt:lpstr>
      <vt:lpstr>Calibri</vt:lpstr>
      <vt:lpstr>Cambria</vt:lpstr>
      <vt:lpstr>Georgia</vt:lpstr>
      <vt:lpstr>Lucida Sans Unicode</vt:lpstr>
      <vt:lpstr>Segoe UI Symbol</vt:lpstr>
      <vt:lpstr>Sitka Banner</vt:lpstr>
      <vt:lpstr>Tahoma</vt:lpstr>
      <vt:lpstr>Times New Roman</vt:lpstr>
      <vt:lpstr>Trebuchet MS</vt:lpstr>
      <vt:lpstr>Office Theme</vt:lpstr>
      <vt:lpstr>UAV-Assisted MEC Architecture for Collaborative Task Offloading in Urban IoT Environment Maximizing User Satisfaction and Service Provider Profit</vt:lpstr>
      <vt:lpstr>PowerPoint Presentation</vt:lpstr>
      <vt:lpstr>Research Objectives</vt:lpstr>
      <vt:lpstr>Research Objectives</vt:lpstr>
      <vt:lpstr>Research Objectives</vt:lpstr>
      <vt:lpstr>Research Objectives</vt:lpstr>
      <vt:lpstr>Research Objectives</vt:lpstr>
      <vt:lpstr>Research Objectives</vt:lpstr>
      <vt:lpstr>Motivation: Why UAV-Assisted MEC?</vt:lpstr>
      <vt:lpstr>Motivation: Why UAV-Assisted MEC?</vt:lpstr>
      <vt:lpstr>Motivation: Why UAV-Assisted MEC?</vt:lpstr>
      <vt:lpstr>Motivation: Why UAV-Assisted MEC?</vt:lpstr>
      <vt:lpstr>Motivation: Why UAV-Assisted MEC?</vt:lpstr>
      <vt:lpstr>Motivation: Why UAV-Assisted MEC?</vt:lpstr>
      <vt:lpstr>Motivation: Why UAV-Assisted MEC?</vt:lpstr>
      <vt:lpstr>Motivation: Why UAV-Assisted MEC?</vt:lpstr>
      <vt:lpstr>Motivation: Why UAV-Assisted MEC?</vt:lpstr>
      <vt:lpstr>Motivation: Why UAV-Assisted MEC?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Model: Architecture Overview</vt:lpstr>
      <vt:lpstr>System Model: Architecture Overview</vt:lpstr>
      <vt:lpstr>System Model: Architecture Overview</vt:lpstr>
      <vt:lpstr>System Model: Architecture Overview</vt:lpstr>
      <vt:lpstr>System Model: Architecture Overview</vt:lpstr>
      <vt:lpstr>System Model: Architecture Overview</vt:lpstr>
      <vt:lpstr>System Model: Architecture Overview</vt:lpstr>
      <vt:lpstr>System Model: Architecture Overview</vt:lpstr>
      <vt:lpstr>System Model: Architecture Overview</vt:lpstr>
      <vt:lpstr>Problem Formulation: Objective Function</vt:lpstr>
      <vt:lpstr>Problem Formulation: Objective Function</vt:lpstr>
      <vt:lpstr>Problem Formulation: Optimization Problem</vt:lpstr>
      <vt:lpstr>Problem Formulation: Optimization Problem</vt:lpstr>
      <vt:lpstr>Problem Decomposition Strategy</vt:lpstr>
      <vt:lpstr>Proposed Solution: R-TMSC Algorithm</vt:lpstr>
      <vt:lpstr>Proposed Solution: R-TMSC Algorithm</vt:lpstr>
      <vt:lpstr>Proposed Solution: R-TMSC Algorithm</vt:lpstr>
      <vt:lpstr>Proposed Solution: R-TMSC Algorithm</vt:lpstr>
      <vt:lpstr>Proposed Solution: R-TMSC Algorithm</vt:lpstr>
      <vt:lpstr>R-TMSC Matching Algorithm</vt:lpstr>
      <vt:lpstr>R-TMSC Matching Algorithm</vt:lpstr>
      <vt:lpstr>R-TMSC Matching Algorithm</vt:lpstr>
      <vt:lpstr>R-TMSC Matching Algorithm</vt:lpstr>
      <vt:lpstr>R-TMSC Matching Algorithm</vt:lpstr>
      <vt:lpstr>R-TMSC Matching Algorithm</vt:lpstr>
      <vt:lpstr>PowerPoint Presentation</vt:lpstr>
      <vt:lpstr>UAV Topology Optimization: K-means Approach</vt:lpstr>
      <vt:lpstr>UAV Topology Optimization: K-means Approach</vt:lpstr>
      <vt:lpstr>UAV Topology Optimization: K-means Approach</vt:lpstr>
      <vt:lpstr>UAV Topology Optimization: K-means Approach</vt:lpstr>
      <vt:lpstr>UAV Topology Optimization: K-means Approach</vt:lpstr>
      <vt:lpstr>UAV Topology Optimization: K-means Approach</vt:lpstr>
      <vt:lpstr>UAV Topology Optimization: K-means Approach</vt:lpstr>
      <vt:lpstr>UAV Topology Optimization: K-means Approach</vt:lpstr>
      <vt:lpstr>UAV Topology Optimization: K-means Approach</vt:lpstr>
      <vt:lpstr>UAV Topology Optimization: K-means Approach</vt:lpstr>
      <vt:lpstr>Joint Optimization: Putting It All Together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System Architecture</vt:lpstr>
      <vt:lpstr>Implementation Plan: Deployment Steps</vt:lpstr>
      <vt:lpstr>Implementation Plan: Deployment Steps</vt:lpstr>
      <vt:lpstr>Implementation Plan: Deployment Steps</vt:lpstr>
      <vt:lpstr>Implementation Plan: Operational Workflow</vt:lpstr>
      <vt:lpstr>Implementation Plan: Operational Workflow</vt:lpstr>
      <vt:lpstr>Implementation Plan: Performance Monitoring</vt:lpstr>
      <vt:lpstr>Implementation Plan: Performance Monitoring</vt:lpstr>
      <vt:lpstr>Implementation Plan: Performance Monitoring</vt:lpstr>
      <vt:lpstr>Simulation Setup and Parameters</vt:lpstr>
      <vt:lpstr>Results: Performance Comparison</vt:lpstr>
      <vt:lpstr>Results: SP Profit and UAV Efficiency</vt:lpstr>
      <vt:lpstr>Conclusion and Future Work</vt:lpstr>
      <vt:lpstr>Conclusion and Future Work</vt:lpstr>
      <vt:lpstr>Conclusion and Future Work</vt:lpstr>
      <vt:lpstr>PowerPoint Presentation</vt:lpstr>
      <vt:lpstr>PowerPoint Presentation</vt:lpstr>
      <vt:lpstr>Mathematical Formulation: Detailed Communication Model</vt:lpstr>
      <vt:lpstr>Algorithm Complexity Analysis</vt:lpstr>
      <vt:lpstr>Real-World Dataset 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UAV-Assisted MEC Architecture for Collaborative Task Offloading in Urban IoT Environment - Maximizing User Satisfaction and Service Provider Profit</dc:title>
  <dc:creator>Subhrajit Barick and Chetna Singhal</dc:creator>
  <cp:lastModifiedBy>Bammidi Ketan Rao</cp:lastModifiedBy>
  <cp:revision>10</cp:revision>
  <dcterms:created xsi:type="dcterms:W3CDTF">2025-10-30T06:40:36Z</dcterms:created>
  <dcterms:modified xsi:type="dcterms:W3CDTF">2025-11-03T11:35:58Z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2025-10-30T00:00:00Z</vt:filetime>
  </property>
  <property fmtid="{D5CDD505-2E9C-101B-9397-08002B2CF9AE}" pid="5" name="PTEX.Fullbanner">
    <vt:lpwstr>This is pdfTeX, Version 3.141592653-2.6-1.40.25 (TeX Live 2023/Debian) kpathsea version 6.3.5</vt:lpwstr>
  </property>
  <property fmtid="{D5CDD505-2E9C-101B-9397-08002B2CF9AE}" pid="6" name="Producer">
    <vt:lpwstr>pdfTeX-1.40.25</vt:lpwstr>
  </property>
</Properties>
</file>